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97" r:id="rId2"/>
    <p:sldId id="298" r:id="rId3"/>
    <p:sldId id="259" r:id="rId4"/>
    <p:sldId id="299" r:id="rId5"/>
    <p:sldId id="304" r:id="rId6"/>
    <p:sldId id="301" r:id="rId7"/>
    <p:sldId id="302" r:id="rId8"/>
    <p:sldId id="3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F48F81-9A54-5A9B-EEE6-C981D0CA03FF}" name="Rao, Shalmali (kru3dg)" initials="RS" userId="S::kru3dg@virginia.edu::4ef33d58-69b1-4b72-b825-fc1e4ef3aef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DFDD"/>
    <a:srgbClr val="A9C861"/>
    <a:srgbClr val="7085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86"/>
    <p:restoredTop sz="96060"/>
  </p:normalViewPr>
  <p:slideViewPr>
    <p:cSldViewPr snapToGrid="0">
      <p:cViewPr>
        <p:scale>
          <a:sx n="105" d="100"/>
          <a:sy n="105" d="100"/>
        </p:scale>
        <p:origin x="856"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E8AFBC-BA5B-F444-ACAE-FE11352C6385}"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US"/>
        </a:p>
      </dgm:t>
    </dgm:pt>
    <dgm:pt modelId="{8EEE2B7E-FEA8-2841-9330-D657670BA65A}">
      <dgm:prSet phldrT="[Text]"/>
      <dgm:spPr>
        <a:solidFill>
          <a:srgbClr val="A9C861"/>
        </a:solidFill>
      </dgm:spPr>
      <dgm:t>
        <a:bodyPr/>
        <a:lstStyle/>
        <a:p>
          <a:pPr algn="ctr"/>
          <a:r>
            <a:rPr lang="en-US" b="1">
              <a:latin typeface="Avenir Next LT Pro" panose="020B0504020202020204" pitchFamily="34" charset="77"/>
            </a:rPr>
            <a:t>Industry Background</a:t>
          </a:r>
        </a:p>
      </dgm:t>
    </dgm:pt>
    <dgm:pt modelId="{20DC5649-B805-BE49-A5B3-B2C19A5DCD2E}" type="parTrans" cxnId="{D9CEC529-92C5-6D4A-BF6E-36936BC6451C}">
      <dgm:prSet/>
      <dgm:spPr/>
      <dgm:t>
        <a:bodyPr/>
        <a:lstStyle/>
        <a:p>
          <a:endParaRPr lang="en-US"/>
        </a:p>
      </dgm:t>
    </dgm:pt>
    <dgm:pt modelId="{B11F1DC3-04B1-9A4A-AC4D-FE9A92ED77C2}" type="sibTrans" cxnId="{D9CEC529-92C5-6D4A-BF6E-36936BC6451C}">
      <dgm:prSet/>
      <dgm:spPr/>
      <dgm:t>
        <a:bodyPr/>
        <a:lstStyle/>
        <a:p>
          <a:endParaRPr lang="en-US"/>
        </a:p>
      </dgm:t>
    </dgm:pt>
    <dgm:pt modelId="{7603B473-DBD5-E145-8681-67EDBA9B6B4B}">
      <dgm:prSet phldrT="[Text]"/>
      <dgm:spPr>
        <a:solidFill>
          <a:schemeClr val="tx1"/>
        </a:solidFill>
      </dgm:spPr>
      <dgm:t>
        <a:bodyPr/>
        <a:lstStyle/>
        <a:p>
          <a:pPr algn="ctr"/>
          <a:r>
            <a:rPr lang="en-US" b="0">
              <a:latin typeface="Avenir Next LT Pro" panose="020B0504020202020204" pitchFamily="34" charset="77"/>
            </a:rPr>
            <a:t>Demand Model</a:t>
          </a:r>
        </a:p>
      </dgm:t>
    </dgm:pt>
    <dgm:pt modelId="{EA094F26-ABD1-A746-808E-FF865DE2F039}" type="parTrans" cxnId="{48FFD7B5-374A-2B43-A78C-C2FF1C3E20D1}">
      <dgm:prSet/>
      <dgm:spPr/>
      <dgm:t>
        <a:bodyPr/>
        <a:lstStyle/>
        <a:p>
          <a:endParaRPr lang="en-US"/>
        </a:p>
      </dgm:t>
    </dgm:pt>
    <dgm:pt modelId="{6108CCC8-64CD-2642-9492-C5914C8FBAFD}" type="sibTrans" cxnId="{48FFD7B5-374A-2B43-A78C-C2FF1C3E20D1}">
      <dgm:prSet/>
      <dgm:spPr/>
      <dgm:t>
        <a:bodyPr/>
        <a:lstStyle/>
        <a:p>
          <a:endParaRPr lang="en-US"/>
        </a:p>
      </dgm:t>
    </dgm:pt>
    <dgm:pt modelId="{3BFDE67B-7FE9-0E4A-9F76-970A8D89C425}">
      <dgm:prSet phldrT="[Text]"/>
      <dgm:spPr>
        <a:solidFill>
          <a:schemeClr val="tx1"/>
        </a:solidFill>
      </dgm:spPr>
      <dgm:t>
        <a:bodyPr lIns="0" rIns="365760"/>
        <a:lstStyle/>
        <a:p>
          <a:pPr algn="ctr"/>
          <a:r>
            <a:rPr lang="en-US" b="0" i="0">
              <a:latin typeface="Avenir Next LT Pro" panose="020B0504020202020204" pitchFamily="34" charset="77"/>
            </a:rPr>
            <a:t>Product Features</a:t>
          </a:r>
        </a:p>
      </dgm:t>
    </dgm:pt>
    <dgm:pt modelId="{16068524-A248-BD45-9834-8DE9B8CA2E61}" type="parTrans" cxnId="{21122F98-9D00-0740-9514-19138D07000E}">
      <dgm:prSet/>
      <dgm:spPr/>
      <dgm:t>
        <a:bodyPr/>
        <a:lstStyle/>
        <a:p>
          <a:endParaRPr lang="en-US"/>
        </a:p>
      </dgm:t>
    </dgm:pt>
    <dgm:pt modelId="{55D0ECF1-3CA7-B540-9A2E-C4C752DC41E2}" type="sibTrans" cxnId="{21122F98-9D00-0740-9514-19138D07000E}">
      <dgm:prSet/>
      <dgm:spPr/>
      <dgm:t>
        <a:bodyPr/>
        <a:lstStyle/>
        <a:p>
          <a:endParaRPr lang="en-US"/>
        </a:p>
      </dgm:t>
    </dgm:pt>
    <dgm:pt modelId="{4082BFF7-60B1-8340-B9CA-E5DE81EF2D7F}">
      <dgm:prSet phldrT="[Text]"/>
      <dgm:spPr>
        <a:solidFill>
          <a:schemeClr val="tx1"/>
        </a:solidFill>
      </dgm:spPr>
      <dgm:t>
        <a:bodyPr/>
        <a:lstStyle/>
        <a:p>
          <a:pPr algn="ctr"/>
          <a:r>
            <a:rPr lang="en-US" b="0">
              <a:latin typeface="Avenir Next LT Pro" panose="020B0504020202020204" pitchFamily="34" charset="77"/>
            </a:rPr>
            <a:t>Pricing Analysis</a:t>
          </a:r>
        </a:p>
      </dgm:t>
    </dgm:pt>
    <dgm:pt modelId="{B19E2420-F6A5-2D40-B4CA-5BF003B22A24}" type="parTrans" cxnId="{7902F54F-6874-3D4B-8356-E78F7E4FBDEA}">
      <dgm:prSet/>
      <dgm:spPr/>
      <dgm:t>
        <a:bodyPr/>
        <a:lstStyle/>
        <a:p>
          <a:endParaRPr lang="en-US"/>
        </a:p>
      </dgm:t>
    </dgm:pt>
    <dgm:pt modelId="{4C6FEC2A-FFAD-D140-8695-0F34C0997235}" type="sibTrans" cxnId="{7902F54F-6874-3D4B-8356-E78F7E4FBDEA}">
      <dgm:prSet/>
      <dgm:spPr/>
      <dgm:t>
        <a:bodyPr/>
        <a:lstStyle/>
        <a:p>
          <a:endParaRPr lang="en-US"/>
        </a:p>
      </dgm:t>
    </dgm:pt>
    <dgm:pt modelId="{15AD007E-50C9-3A41-B63C-9F1269A07150}">
      <dgm:prSet phldrT="[Text]"/>
      <dgm:spPr>
        <a:solidFill>
          <a:schemeClr val="tx1"/>
        </a:solidFill>
      </dgm:spPr>
      <dgm:t>
        <a:bodyPr/>
        <a:lstStyle/>
        <a:p>
          <a:pPr algn="ctr"/>
          <a:r>
            <a:rPr lang="en-US" b="0">
              <a:latin typeface="Avenir Next LT Pro" panose="020B0504020202020204" pitchFamily="34" charset="77"/>
            </a:rPr>
            <a:t>Competitive Positioning</a:t>
          </a:r>
        </a:p>
      </dgm:t>
    </dgm:pt>
    <dgm:pt modelId="{FB720988-3BC0-BC40-AC19-A407023D3A3F}" type="parTrans" cxnId="{076651F1-3CBE-8B44-9EAF-3072FB514B00}">
      <dgm:prSet/>
      <dgm:spPr/>
      <dgm:t>
        <a:bodyPr/>
        <a:lstStyle/>
        <a:p>
          <a:endParaRPr lang="en-US"/>
        </a:p>
      </dgm:t>
    </dgm:pt>
    <dgm:pt modelId="{4312D9F1-C78C-6C40-BAE4-DCEB223E208D}" type="sibTrans" cxnId="{076651F1-3CBE-8B44-9EAF-3072FB514B00}">
      <dgm:prSet/>
      <dgm:spPr/>
      <dgm:t>
        <a:bodyPr/>
        <a:lstStyle/>
        <a:p>
          <a:endParaRPr lang="en-US"/>
        </a:p>
      </dgm:t>
    </dgm:pt>
    <dgm:pt modelId="{AFFECF99-DE3A-3E48-AD82-DE0C632542DC}" type="pres">
      <dgm:prSet presAssocID="{0BE8AFBC-BA5B-F444-ACAE-FE11352C6385}" presName="Name0" presStyleCnt="0">
        <dgm:presLayoutVars>
          <dgm:dir/>
          <dgm:resizeHandles val="exact"/>
        </dgm:presLayoutVars>
      </dgm:prSet>
      <dgm:spPr/>
    </dgm:pt>
    <dgm:pt modelId="{75FC1705-EFC2-DC49-974C-4082D5F688A4}" type="pres">
      <dgm:prSet presAssocID="{8EEE2B7E-FEA8-2841-9330-D657670BA65A}" presName="parTxOnly" presStyleLbl="node1" presStyleIdx="0" presStyleCnt="5" custScaleX="143173" custScaleY="86006">
        <dgm:presLayoutVars>
          <dgm:bulletEnabled val="1"/>
        </dgm:presLayoutVars>
      </dgm:prSet>
      <dgm:spPr/>
    </dgm:pt>
    <dgm:pt modelId="{2398453E-8F02-0146-8831-DA24307367AE}" type="pres">
      <dgm:prSet presAssocID="{B11F1DC3-04B1-9A4A-AC4D-FE9A92ED77C2}" presName="parSpace" presStyleCnt="0"/>
      <dgm:spPr/>
    </dgm:pt>
    <dgm:pt modelId="{A579A29D-F228-A346-A356-4129FDEB43D1}" type="pres">
      <dgm:prSet presAssocID="{7603B473-DBD5-E145-8681-67EDBA9B6B4B}" presName="parTxOnly" presStyleLbl="node1" presStyleIdx="1" presStyleCnt="5" custScaleX="141611" custLinFactNeighborX="42167" custLinFactNeighborY="-3443">
        <dgm:presLayoutVars>
          <dgm:bulletEnabled val="1"/>
        </dgm:presLayoutVars>
      </dgm:prSet>
      <dgm:spPr/>
    </dgm:pt>
    <dgm:pt modelId="{DB65CB43-07E1-4543-8C77-94A5F96A140B}" type="pres">
      <dgm:prSet presAssocID="{6108CCC8-64CD-2642-9492-C5914C8FBAFD}" presName="parSpace" presStyleCnt="0"/>
      <dgm:spPr/>
    </dgm:pt>
    <dgm:pt modelId="{038E0549-03A2-F141-8066-7E8027D67BD7}" type="pres">
      <dgm:prSet presAssocID="{3BFDE67B-7FE9-0E4A-9F76-970A8D89C425}" presName="parTxOnly" presStyleLbl="node1" presStyleIdx="2" presStyleCnt="5" custScaleX="147710" custLinFactNeighborX="86349" custLinFactNeighborY="10239">
        <dgm:presLayoutVars>
          <dgm:bulletEnabled val="1"/>
        </dgm:presLayoutVars>
      </dgm:prSet>
      <dgm:spPr/>
    </dgm:pt>
    <dgm:pt modelId="{0DB84E49-AAA6-D64E-BCD6-7A84EF50CA10}" type="pres">
      <dgm:prSet presAssocID="{55D0ECF1-3CA7-B540-9A2E-C4C752DC41E2}" presName="parSpace" presStyleCnt="0"/>
      <dgm:spPr/>
    </dgm:pt>
    <dgm:pt modelId="{24AB1D94-B983-3E4D-8325-3ECF8523D4B7}" type="pres">
      <dgm:prSet presAssocID="{4082BFF7-60B1-8340-B9CA-E5DE81EF2D7F}" presName="parTxOnly" presStyleLbl="node1" presStyleIdx="3" presStyleCnt="5" custScaleX="145793" custScaleY="81791">
        <dgm:presLayoutVars>
          <dgm:bulletEnabled val="1"/>
        </dgm:presLayoutVars>
      </dgm:prSet>
      <dgm:spPr/>
    </dgm:pt>
    <dgm:pt modelId="{69D94FB2-8235-364E-888B-BE0BA7925B18}" type="pres">
      <dgm:prSet presAssocID="{4C6FEC2A-FFAD-D140-8695-0F34C0997235}" presName="parSpace" presStyleCnt="0"/>
      <dgm:spPr/>
    </dgm:pt>
    <dgm:pt modelId="{56ACEC28-C922-6D47-8B9F-4D4130B130BD}" type="pres">
      <dgm:prSet presAssocID="{15AD007E-50C9-3A41-B63C-9F1269A07150}" presName="parTxOnly" presStyleLbl="node1" presStyleIdx="4" presStyleCnt="5" custScaleX="146721" custScaleY="95099">
        <dgm:presLayoutVars>
          <dgm:bulletEnabled val="1"/>
        </dgm:presLayoutVars>
      </dgm:prSet>
      <dgm:spPr/>
    </dgm:pt>
  </dgm:ptLst>
  <dgm:cxnLst>
    <dgm:cxn modelId="{489F4308-C2EA-AF49-A439-DB41AF134AA4}" type="presOf" srcId="{15AD007E-50C9-3A41-B63C-9F1269A07150}" destId="{56ACEC28-C922-6D47-8B9F-4D4130B130BD}" srcOrd="0" destOrd="0" presId="urn:microsoft.com/office/officeart/2005/8/layout/hChevron3"/>
    <dgm:cxn modelId="{AF587C1E-276E-F642-B989-2AEE7B81FA4C}" type="presOf" srcId="{0BE8AFBC-BA5B-F444-ACAE-FE11352C6385}" destId="{AFFECF99-DE3A-3E48-AD82-DE0C632542DC}" srcOrd="0" destOrd="0" presId="urn:microsoft.com/office/officeart/2005/8/layout/hChevron3"/>
    <dgm:cxn modelId="{D9CEC529-92C5-6D4A-BF6E-36936BC6451C}" srcId="{0BE8AFBC-BA5B-F444-ACAE-FE11352C6385}" destId="{8EEE2B7E-FEA8-2841-9330-D657670BA65A}" srcOrd="0" destOrd="0" parTransId="{20DC5649-B805-BE49-A5B3-B2C19A5DCD2E}" sibTransId="{B11F1DC3-04B1-9A4A-AC4D-FE9A92ED77C2}"/>
    <dgm:cxn modelId="{4F516336-8F35-CB41-B289-DA52B405732A}" type="presOf" srcId="{4082BFF7-60B1-8340-B9CA-E5DE81EF2D7F}" destId="{24AB1D94-B983-3E4D-8325-3ECF8523D4B7}" srcOrd="0" destOrd="0" presId="urn:microsoft.com/office/officeart/2005/8/layout/hChevron3"/>
    <dgm:cxn modelId="{6CE8F943-1439-F147-9F9B-03081E4E41DF}" type="presOf" srcId="{7603B473-DBD5-E145-8681-67EDBA9B6B4B}" destId="{A579A29D-F228-A346-A356-4129FDEB43D1}" srcOrd="0" destOrd="0" presId="urn:microsoft.com/office/officeart/2005/8/layout/hChevron3"/>
    <dgm:cxn modelId="{7902F54F-6874-3D4B-8356-E78F7E4FBDEA}" srcId="{0BE8AFBC-BA5B-F444-ACAE-FE11352C6385}" destId="{4082BFF7-60B1-8340-B9CA-E5DE81EF2D7F}" srcOrd="3" destOrd="0" parTransId="{B19E2420-F6A5-2D40-B4CA-5BF003B22A24}" sibTransId="{4C6FEC2A-FFAD-D140-8695-0F34C0997235}"/>
    <dgm:cxn modelId="{8D0F4674-0157-0A40-8A2B-15C64C2BBF2F}" type="presOf" srcId="{3BFDE67B-7FE9-0E4A-9F76-970A8D89C425}" destId="{038E0549-03A2-F141-8066-7E8027D67BD7}" srcOrd="0" destOrd="0" presId="urn:microsoft.com/office/officeart/2005/8/layout/hChevron3"/>
    <dgm:cxn modelId="{53D33E86-03E0-BA44-8C65-2735ADBF9B43}" type="presOf" srcId="{8EEE2B7E-FEA8-2841-9330-D657670BA65A}" destId="{75FC1705-EFC2-DC49-974C-4082D5F688A4}" srcOrd="0" destOrd="0" presId="urn:microsoft.com/office/officeart/2005/8/layout/hChevron3"/>
    <dgm:cxn modelId="{21122F98-9D00-0740-9514-19138D07000E}" srcId="{0BE8AFBC-BA5B-F444-ACAE-FE11352C6385}" destId="{3BFDE67B-7FE9-0E4A-9F76-970A8D89C425}" srcOrd="2" destOrd="0" parTransId="{16068524-A248-BD45-9834-8DE9B8CA2E61}" sibTransId="{55D0ECF1-3CA7-B540-9A2E-C4C752DC41E2}"/>
    <dgm:cxn modelId="{48FFD7B5-374A-2B43-A78C-C2FF1C3E20D1}" srcId="{0BE8AFBC-BA5B-F444-ACAE-FE11352C6385}" destId="{7603B473-DBD5-E145-8681-67EDBA9B6B4B}" srcOrd="1" destOrd="0" parTransId="{EA094F26-ABD1-A746-808E-FF865DE2F039}" sibTransId="{6108CCC8-64CD-2642-9492-C5914C8FBAFD}"/>
    <dgm:cxn modelId="{076651F1-3CBE-8B44-9EAF-3072FB514B00}" srcId="{0BE8AFBC-BA5B-F444-ACAE-FE11352C6385}" destId="{15AD007E-50C9-3A41-B63C-9F1269A07150}" srcOrd="4" destOrd="0" parTransId="{FB720988-3BC0-BC40-AC19-A407023D3A3F}" sibTransId="{4312D9F1-C78C-6C40-BAE4-DCEB223E208D}"/>
    <dgm:cxn modelId="{69264297-14AB-5845-A915-DFDDF79C8F67}" type="presParOf" srcId="{AFFECF99-DE3A-3E48-AD82-DE0C632542DC}" destId="{75FC1705-EFC2-DC49-974C-4082D5F688A4}" srcOrd="0" destOrd="0" presId="urn:microsoft.com/office/officeart/2005/8/layout/hChevron3"/>
    <dgm:cxn modelId="{BE304EB2-3A94-8148-9E3F-A59D7EBAE284}" type="presParOf" srcId="{AFFECF99-DE3A-3E48-AD82-DE0C632542DC}" destId="{2398453E-8F02-0146-8831-DA24307367AE}" srcOrd="1" destOrd="0" presId="urn:microsoft.com/office/officeart/2005/8/layout/hChevron3"/>
    <dgm:cxn modelId="{E40FC876-8DC9-0A4D-B904-9F098EDFEEAF}" type="presParOf" srcId="{AFFECF99-DE3A-3E48-AD82-DE0C632542DC}" destId="{A579A29D-F228-A346-A356-4129FDEB43D1}" srcOrd="2" destOrd="0" presId="urn:microsoft.com/office/officeart/2005/8/layout/hChevron3"/>
    <dgm:cxn modelId="{606C3D10-20C5-654B-B663-158B40BE97B7}" type="presParOf" srcId="{AFFECF99-DE3A-3E48-AD82-DE0C632542DC}" destId="{DB65CB43-07E1-4543-8C77-94A5F96A140B}" srcOrd="3" destOrd="0" presId="urn:microsoft.com/office/officeart/2005/8/layout/hChevron3"/>
    <dgm:cxn modelId="{39A7B751-01D7-8A43-A0C3-A6632CA84664}" type="presParOf" srcId="{AFFECF99-DE3A-3E48-AD82-DE0C632542DC}" destId="{038E0549-03A2-F141-8066-7E8027D67BD7}" srcOrd="4" destOrd="0" presId="urn:microsoft.com/office/officeart/2005/8/layout/hChevron3"/>
    <dgm:cxn modelId="{61EE2288-EFE7-1243-B521-9B5BDE197A82}" type="presParOf" srcId="{AFFECF99-DE3A-3E48-AD82-DE0C632542DC}" destId="{0DB84E49-AAA6-D64E-BCD6-7A84EF50CA10}" srcOrd="5" destOrd="0" presId="urn:microsoft.com/office/officeart/2005/8/layout/hChevron3"/>
    <dgm:cxn modelId="{2E4F581F-ADC7-6A46-B145-07E20692C400}" type="presParOf" srcId="{AFFECF99-DE3A-3E48-AD82-DE0C632542DC}" destId="{24AB1D94-B983-3E4D-8325-3ECF8523D4B7}" srcOrd="6" destOrd="0" presId="urn:microsoft.com/office/officeart/2005/8/layout/hChevron3"/>
    <dgm:cxn modelId="{7EAB5BFC-0641-E944-8444-6DF3103D886D}" type="presParOf" srcId="{AFFECF99-DE3A-3E48-AD82-DE0C632542DC}" destId="{69D94FB2-8235-364E-888B-BE0BA7925B18}" srcOrd="7" destOrd="0" presId="urn:microsoft.com/office/officeart/2005/8/layout/hChevron3"/>
    <dgm:cxn modelId="{188A5C24-3983-FD40-BDC0-5B86C28F08BB}" type="presParOf" srcId="{AFFECF99-DE3A-3E48-AD82-DE0C632542DC}" destId="{56ACEC28-C922-6D47-8B9F-4D4130B130BD}" srcOrd="8"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BE8AFBC-BA5B-F444-ACAE-FE11352C6385}"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US"/>
        </a:p>
      </dgm:t>
    </dgm:pt>
    <dgm:pt modelId="{8EEE2B7E-FEA8-2841-9330-D657670BA65A}">
      <dgm:prSet phldrT="[Text]"/>
      <dgm:spPr>
        <a:solidFill>
          <a:srgbClr val="A9C861"/>
        </a:solidFill>
      </dgm:spPr>
      <dgm:t>
        <a:bodyPr/>
        <a:lstStyle/>
        <a:p>
          <a:pPr algn="ctr"/>
          <a:r>
            <a:rPr lang="en-US" b="1">
              <a:latin typeface="Avenir Next LT Pro" panose="020B0504020202020204" pitchFamily="34" charset="77"/>
            </a:rPr>
            <a:t>Industry Background</a:t>
          </a:r>
        </a:p>
      </dgm:t>
    </dgm:pt>
    <dgm:pt modelId="{20DC5649-B805-BE49-A5B3-B2C19A5DCD2E}" type="parTrans" cxnId="{D9CEC529-92C5-6D4A-BF6E-36936BC6451C}">
      <dgm:prSet/>
      <dgm:spPr/>
      <dgm:t>
        <a:bodyPr/>
        <a:lstStyle/>
        <a:p>
          <a:endParaRPr lang="en-US"/>
        </a:p>
      </dgm:t>
    </dgm:pt>
    <dgm:pt modelId="{B11F1DC3-04B1-9A4A-AC4D-FE9A92ED77C2}" type="sibTrans" cxnId="{D9CEC529-92C5-6D4A-BF6E-36936BC6451C}">
      <dgm:prSet/>
      <dgm:spPr/>
      <dgm:t>
        <a:bodyPr/>
        <a:lstStyle/>
        <a:p>
          <a:endParaRPr lang="en-US"/>
        </a:p>
      </dgm:t>
    </dgm:pt>
    <dgm:pt modelId="{7603B473-DBD5-E145-8681-67EDBA9B6B4B}">
      <dgm:prSet phldrT="[Text]"/>
      <dgm:spPr>
        <a:solidFill>
          <a:schemeClr val="tx1"/>
        </a:solidFill>
      </dgm:spPr>
      <dgm:t>
        <a:bodyPr/>
        <a:lstStyle/>
        <a:p>
          <a:pPr algn="ctr"/>
          <a:r>
            <a:rPr lang="en-US" b="0">
              <a:latin typeface="Avenir Next LT Pro" panose="020B0504020202020204" pitchFamily="34" charset="77"/>
            </a:rPr>
            <a:t>Demand Model</a:t>
          </a:r>
        </a:p>
      </dgm:t>
    </dgm:pt>
    <dgm:pt modelId="{EA094F26-ABD1-A746-808E-FF865DE2F039}" type="parTrans" cxnId="{48FFD7B5-374A-2B43-A78C-C2FF1C3E20D1}">
      <dgm:prSet/>
      <dgm:spPr/>
      <dgm:t>
        <a:bodyPr/>
        <a:lstStyle/>
        <a:p>
          <a:endParaRPr lang="en-US"/>
        </a:p>
      </dgm:t>
    </dgm:pt>
    <dgm:pt modelId="{6108CCC8-64CD-2642-9492-C5914C8FBAFD}" type="sibTrans" cxnId="{48FFD7B5-374A-2B43-A78C-C2FF1C3E20D1}">
      <dgm:prSet/>
      <dgm:spPr/>
      <dgm:t>
        <a:bodyPr/>
        <a:lstStyle/>
        <a:p>
          <a:endParaRPr lang="en-US"/>
        </a:p>
      </dgm:t>
    </dgm:pt>
    <dgm:pt modelId="{3BFDE67B-7FE9-0E4A-9F76-970A8D89C425}">
      <dgm:prSet phldrT="[Text]"/>
      <dgm:spPr>
        <a:solidFill>
          <a:schemeClr val="tx1"/>
        </a:solidFill>
      </dgm:spPr>
      <dgm:t>
        <a:bodyPr lIns="0" rIns="365760"/>
        <a:lstStyle/>
        <a:p>
          <a:pPr algn="ctr"/>
          <a:r>
            <a:rPr lang="en-US" b="0" i="0">
              <a:latin typeface="Avenir Next LT Pro" panose="020B0504020202020204" pitchFamily="34" charset="77"/>
            </a:rPr>
            <a:t>Product Features</a:t>
          </a:r>
        </a:p>
      </dgm:t>
    </dgm:pt>
    <dgm:pt modelId="{16068524-A248-BD45-9834-8DE9B8CA2E61}" type="parTrans" cxnId="{21122F98-9D00-0740-9514-19138D07000E}">
      <dgm:prSet/>
      <dgm:spPr/>
      <dgm:t>
        <a:bodyPr/>
        <a:lstStyle/>
        <a:p>
          <a:endParaRPr lang="en-US"/>
        </a:p>
      </dgm:t>
    </dgm:pt>
    <dgm:pt modelId="{55D0ECF1-3CA7-B540-9A2E-C4C752DC41E2}" type="sibTrans" cxnId="{21122F98-9D00-0740-9514-19138D07000E}">
      <dgm:prSet/>
      <dgm:spPr/>
      <dgm:t>
        <a:bodyPr/>
        <a:lstStyle/>
        <a:p>
          <a:endParaRPr lang="en-US"/>
        </a:p>
      </dgm:t>
    </dgm:pt>
    <dgm:pt modelId="{4082BFF7-60B1-8340-B9CA-E5DE81EF2D7F}">
      <dgm:prSet phldrT="[Text]"/>
      <dgm:spPr>
        <a:solidFill>
          <a:schemeClr val="tx1"/>
        </a:solidFill>
      </dgm:spPr>
      <dgm:t>
        <a:bodyPr/>
        <a:lstStyle/>
        <a:p>
          <a:pPr algn="ctr"/>
          <a:r>
            <a:rPr lang="en-US" b="0">
              <a:latin typeface="Avenir Next LT Pro" panose="020B0504020202020204" pitchFamily="34" charset="77"/>
            </a:rPr>
            <a:t>Pricing Analysis</a:t>
          </a:r>
        </a:p>
      </dgm:t>
    </dgm:pt>
    <dgm:pt modelId="{B19E2420-F6A5-2D40-B4CA-5BF003B22A24}" type="parTrans" cxnId="{7902F54F-6874-3D4B-8356-E78F7E4FBDEA}">
      <dgm:prSet/>
      <dgm:spPr/>
      <dgm:t>
        <a:bodyPr/>
        <a:lstStyle/>
        <a:p>
          <a:endParaRPr lang="en-US"/>
        </a:p>
      </dgm:t>
    </dgm:pt>
    <dgm:pt modelId="{4C6FEC2A-FFAD-D140-8695-0F34C0997235}" type="sibTrans" cxnId="{7902F54F-6874-3D4B-8356-E78F7E4FBDEA}">
      <dgm:prSet/>
      <dgm:spPr/>
      <dgm:t>
        <a:bodyPr/>
        <a:lstStyle/>
        <a:p>
          <a:endParaRPr lang="en-US"/>
        </a:p>
      </dgm:t>
    </dgm:pt>
    <dgm:pt modelId="{15AD007E-50C9-3A41-B63C-9F1269A07150}">
      <dgm:prSet phldrT="[Text]"/>
      <dgm:spPr>
        <a:solidFill>
          <a:schemeClr val="tx1"/>
        </a:solidFill>
      </dgm:spPr>
      <dgm:t>
        <a:bodyPr/>
        <a:lstStyle/>
        <a:p>
          <a:pPr algn="ctr"/>
          <a:r>
            <a:rPr lang="en-US" b="0">
              <a:latin typeface="Avenir Next LT Pro" panose="020B0504020202020204" pitchFamily="34" charset="77"/>
            </a:rPr>
            <a:t>Competitive Positioning</a:t>
          </a:r>
        </a:p>
      </dgm:t>
    </dgm:pt>
    <dgm:pt modelId="{FB720988-3BC0-BC40-AC19-A407023D3A3F}" type="parTrans" cxnId="{076651F1-3CBE-8B44-9EAF-3072FB514B00}">
      <dgm:prSet/>
      <dgm:spPr/>
      <dgm:t>
        <a:bodyPr/>
        <a:lstStyle/>
        <a:p>
          <a:endParaRPr lang="en-US"/>
        </a:p>
      </dgm:t>
    </dgm:pt>
    <dgm:pt modelId="{4312D9F1-C78C-6C40-BAE4-DCEB223E208D}" type="sibTrans" cxnId="{076651F1-3CBE-8B44-9EAF-3072FB514B00}">
      <dgm:prSet/>
      <dgm:spPr/>
      <dgm:t>
        <a:bodyPr/>
        <a:lstStyle/>
        <a:p>
          <a:endParaRPr lang="en-US"/>
        </a:p>
      </dgm:t>
    </dgm:pt>
    <dgm:pt modelId="{AFFECF99-DE3A-3E48-AD82-DE0C632542DC}" type="pres">
      <dgm:prSet presAssocID="{0BE8AFBC-BA5B-F444-ACAE-FE11352C6385}" presName="Name0" presStyleCnt="0">
        <dgm:presLayoutVars>
          <dgm:dir/>
          <dgm:resizeHandles val="exact"/>
        </dgm:presLayoutVars>
      </dgm:prSet>
      <dgm:spPr/>
    </dgm:pt>
    <dgm:pt modelId="{75FC1705-EFC2-DC49-974C-4082D5F688A4}" type="pres">
      <dgm:prSet presAssocID="{8EEE2B7E-FEA8-2841-9330-D657670BA65A}" presName="parTxOnly" presStyleLbl="node1" presStyleIdx="0" presStyleCnt="5" custScaleX="143173" custScaleY="86006">
        <dgm:presLayoutVars>
          <dgm:bulletEnabled val="1"/>
        </dgm:presLayoutVars>
      </dgm:prSet>
      <dgm:spPr/>
    </dgm:pt>
    <dgm:pt modelId="{2398453E-8F02-0146-8831-DA24307367AE}" type="pres">
      <dgm:prSet presAssocID="{B11F1DC3-04B1-9A4A-AC4D-FE9A92ED77C2}" presName="parSpace" presStyleCnt="0"/>
      <dgm:spPr/>
    </dgm:pt>
    <dgm:pt modelId="{A579A29D-F228-A346-A356-4129FDEB43D1}" type="pres">
      <dgm:prSet presAssocID="{7603B473-DBD5-E145-8681-67EDBA9B6B4B}" presName="parTxOnly" presStyleLbl="node1" presStyleIdx="1" presStyleCnt="5" custScaleX="141611" custLinFactNeighborX="42167" custLinFactNeighborY="-3443">
        <dgm:presLayoutVars>
          <dgm:bulletEnabled val="1"/>
        </dgm:presLayoutVars>
      </dgm:prSet>
      <dgm:spPr/>
    </dgm:pt>
    <dgm:pt modelId="{DB65CB43-07E1-4543-8C77-94A5F96A140B}" type="pres">
      <dgm:prSet presAssocID="{6108CCC8-64CD-2642-9492-C5914C8FBAFD}" presName="parSpace" presStyleCnt="0"/>
      <dgm:spPr/>
    </dgm:pt>
    <dgm:pt modelId="{038E0549-03A2-F141-8066-7E8027D67BD7}" type="pres">
      <dgm:prSet presAssocID="{3BFDE67B-7FE9-0E4A-9F76-970A8D89C425}" presName="parTxOnly" presStyleLbl="node1" presStyleIdx="2" presStyleCnt="5" custScaleX="147710" custLinFactNeighborX="86349" custLinFactNeighborY="10239">
        <dgm:presLayoutVars>
          <dgm:bulletEnabled val="1"/>
        </dgm:presLayoutVars>
      </dgm:prSet>
      <dgm:spPr/>
    </dgm:pt>
    <dgm:pt modelId="{0DB84E49-AAA6-D64E-BCD6-7A84EF50CA10}" type="pres">
      <dgm:prSet presAssocID="{55D0ECF1-3CA7-B540-9A2E-C4C752DC41E2}" presName="parSpace" presStyleCnt="0"/>
      <dgm:spPr/>
    </dgm:pt>
    <dgm:pt modelId="{24AB1D94-B983-3E4D-8325-3ECF8523D4B7}" type="pres">
      <dgm:prSet presAssocID="{4082BFF7-60B1-8340-B9CA-E5DE81EF2D7F}" presName="parTxOnly" presStyleLbl="node1" presStyleIdx="3" presStyleCnt="5" custScaleX="145793" custScaleY="81791">
        <dgm:presLayoutVars>
          <dgm:bulletEnabled val="1"/>
        </dgm:presLayoutVars>
      </dgm:prSet>
      <dgm:spPr/>
    </dgm:pt>
    <dgm:pt modelId="{69D94FB2-8235-364E-888B-BE0BA7925B18}" type="pres">
      <dgm:prSet presAssocID="{4C6FEC2A-FFAD-D140-8695-0F34C0997235}" presName="parSpace" presStyleCnt="0"/>
      <dgm:spPr/>
    </dgm:pt>
    <dgm:pt modelId="{56ACEC28-C922-6D47-8B9F-4D4130B130BD}" type="pres">
      <dgm:prSet presAssocID="{15AD007E-50C9-3A41-B63C-9F1269A07150}" presName="parTxOnly" presStyleLbl="node1" presStyleIdx="4" presStyleCnt="5" custScaleX="146721" custScaleY="95099">
        <dgm:presLayoutVars>
          <dgm:bulletEnabled val="1"/>
        </dgm:presLayoutVars>
      </dgm:prSet>
      <dgm:spPr/>
    </dgm:pt>
  </dgm:ptLst>
  <dgm:cxnLst>
    <dgm:cxn modelId="{489F4308-C2EA-AF49-A439-DB41AF134AA4}" type="presOf" srcId="{15AD007E-50C9-3A41-B63C-9F1269A07150}" destId="{56ACEC28-C922-6D47-8B9F-4D4130B130BD}" srcOrd="0" destOrd="0" presId="urn:microsoft.com/office/officeart/2005/8/layout/hChevron3"/>
    <dgm:cxn modelId="{AF587C1E-276E-F642-B989-2AEE7B81FA4C}" type="presOf" srcId="{0BE8AFBC-BA5B-F444-ACAE-FE11352C6385}" destId="{AFFECF99-DE3A-3E48-AD82-DE0C632542DC}" srcOrd="0" destOrd="0" presId="urn:microsoft.com/office/officeart/2005/8/layout/hChevron3"/>
    <dgm:cxn modelId="{D9CEC529-92C5-6D4A-BF6E-36936BC6451C}" srcId="{0BE8AFBC-BA5B-F444-ACAE-FE11352C6385}" destId="{8EEE2B7E-FEA8-2841-9330-D657670BA65A}" srcOrd="0" destOrd="0" parTransId="{20DC5649-B805-BE49-A5B3-B2C19A5DCD2E}" sibTransId="{B11F1DC3-04B1-9A4A-AC4D-FE9A92ED77C2}"/>
    <dgm:cxn modelId="{4F516336-8F35-CB41-B289-DA52B405732A}" type="presOf" srcId="{4082BFF7-60B1-8340-B9CA-E5DE81EF2D7F}" destId="{24AB1D94-B983-3E4D-8325-3ECF8523D4B7}" srcOrd="0" destOrd="0" presId="urn:microsoft.com/office/officeart/2005/8/layout/hChevron3"/>
    <dgm:cxn modelId="{6CE8F943-1439-F147-9F9B-03081E4E41DF}" type="presOf" srcId="{7603B473-DBD5-E145-8681-67EDBA9B6B4B}" destId="{A579A29D-F228-A346-A356-4129FDEB43D1}" srcOrd="0" destOrd="0" presId="urn:microsoft.com/office/officeart/2005/8/layout/hChevron3"/>
    <dgm:cxn modelId="{7902F54F-6874-3D4B-8356-E78F7E4FBDEA}" srcId="{0BE8AFBC-BA5B-F444-ACAE-FE11352C6385}" destId="{4082BFF7-60B1-8340-B9CA-E5DE81EF2D7F}" srcOrd="3" destOrd="0" parTransId="{B19E2420-F6A5-2D40-B4CA-5BF003B22A24}" sibTransId="{4C6FEC2A-FFAD-D140-8695-0F34C0997235}"/>
    <dgm:cxn modelId="{8D0F4674-0157-0A40-8A2B-15C64C2BBF2F}" type="presOf" srcId="{3BFDE67B-7FE9-0E4A-9F76-970A8D89C425}" destId="{038E0549-03A2-F141-8066-7E8027D67BD7}" srcOrd="0" destOrd="0" presId="urn:microsoft.com/office/officeart/2005/8/layout/hChevron3"/>
    <dgm:cxn modelId="{53D33E86-03E0-BA44-8C65-2735ADBF9B43}" type="presOf" srcId="{8EEE2B7E-FEA8-2841-9330-D657670BA65A}" destId="{75FC1705-EFC2-DC49-974C-4082D5F688A4}" srcOrd="0" destOrd="0" presId="urn:microsoft.com/office/officeart/2005/8/layout/hChevron3"/>
    <dgm:cxn modelId="{21122F98-9D00-0740-9514-19138D07000E}" srcId="{0BE8AFBC-BA5B-F444-ACAE-FE11352C6385}" destId="{3BFDE67B-7FE9-0E4A-9F76-970A8D89C425}" srcOrd="2" destOrd="0" parTransId="{16068524-A248-BD45-9834-8DE9B8CA2E61}" sibTransId="{55D0ECF1-3CA7-B540-9A2E-C4C752DC41E2}"/>
    <dgm:cxn modelId="{48FFD7B5-374A-2B43-A78C-C2FF1C3E20D1}" srcId="{0BE8AFBC-BA5B-F444-ACAE-FE11352C6385}" destId="{7603B473-DBD5-E145-8681-67EDBA9B6B4B}" srcOrd="1" destOrd="0" parTransId="{EA094F26-ABD1-A746-808E-FF865DE2F039}" sibTransId="{6108CCC8-64CD-2642-9492-C5914C8FBAFD}"/>
    <dgm:cxn modelId="{076651F1-3CBE-8B44-9EAF-3072FB514B00}" srcId="{0BE8AFBC-BA5B-F444-ACAE-FE11352C6385}" destId="{15AD007E-50C9-3A41-B63C-9F1269A07150}" srcOrd="4" destOrd="0" parTransId="{FB720988-3BC0-BC40-AC19-A407023D3A3F}" sibTransId="{4312D9F1-C78C-6C40-BAE4-DCEB223E208D}"/>
    <dgm:cxn modelId="{69264297-14AB-5845-A915-DFDDF79C8F67}" type="presParOf" srcId="{AFFECF99-DE3A-3E48-AD82-DE0C632542DC}" destId="{75FC1705-EFC2-DC49-974C-4082D5F688A4}" srcOrd="0" destOrd="0" presId="urn:microsoft.com/office/officeart/2005/8/layout/hChevron3"/>
    <dgm:cxn modelId="{BE304EB2-3A94-8148-9E3F-A59D7EBAE284}" type="presParOf" srcId="{AFFECF99-DE3A-3E48-AD82-DE0C632542DC}" destId="{2398453E-8F02-0146-8831-DA24307367AE}" srcOrd="1" destOrd="0" presId="urn:microsoft.com/office/officeart/2005/8/layout/hChevron3"/>
    <dgm:cxn modelId="{E40FC876-8DC9-0A4D-B904-9F098EDFEEAF}" type="presParOf" srcId="{AFFECF99-DE3A-3E48-AD82-DE0C632542DC}" destId="{A579A29D-F228-A346-A356-4129FDEB43D1}" srcOrd="2" destOrd="0" presId="urn:microsoft.com/office/officeart/2005/8/layout/hChevron3"/>
    <dgm:cxn modelId="{606C3D10-20C5-654B-B663-158B40BE97B7}" type="presParOf" srcId="{AFFECF99-DE3A-3E48-AD82-DE0C632542DC}" destId="{DB65CB43-07E1-4543-8C77-94A5F96A140B}" srcOrd="3" destOrd="0" presId="urn:microsoft.com/office/officeart/2005/8/layout/hChevron3"/>
    <dgm:cxn modelId="{39A7B751-01D7-8A43-A0C3-A6632CA84664}" type="presParOf" srcId="{AFFECF99-DE3A-3E48-AD82-DE0C632542DC}" destId="{038E0549-03A2-F141-8066-7E8027D67BD7}" srcOrd="4" destOrd="0" presId="urn:microsoft.com/office/officeart/2005/8/layout/hChevron3"/>
    <dgm:cxn modelId="{61EE2288-EFE7-1243-B521-9B5BDE197A82}" type="presParOf" srcId="{AFFECF99-DE3A-3E48-AD82-DE0C632542DC}" destId="{0DB84E49-AAA6-D64E-BCD6-7A84EF50CA10}" srcOrd="5" destOrd="0" presId="urn:microsoft.com/office/officeart/2005/8/layout/hChevron3"/>
    <dgm:cxn modelId="{2E4F581F-ADC7-6A46-B145-07E20692C400}" type="presParOf" srcId="{AFFECF99-DE3A-3E48-AD82-DE0C632542DC}" destId="{24AB1D94-B983-3E4D-8325-3ECF8523D4B7}" srcOrd="6" destOrd="0" presId="urn:microsoft.com/office/officeart/2005/8/layout/hChevron3"/>
    <dgm:cxn modelId="{7EAB5BFC-0641-E944-8444-6DF3103D886D}" type="presParOf" srcId="{AFFECF99-DE3A-3E48-AD82-DE0C632542DC}" destId="{69D94FB2-8235-364E-888B-BE0BA7925B18}" srcOrd="7" destOrd="0" presId="urn:microsoft.com/office/officeart/2005/8/layout/hChevron3"/>
    <dgm:cxn modelId="{188A5C24-3983-FD40-BDC0-5B86C28F08BB}" type="presParOf" srcId="{AFFECF99-DE3A-3E48-AD82-DE0C632542DC}" destId="{56ACEC28-C922-6D47-8B9F-4D4130B130BD}" srcOrd="8"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BE8AFBC-BA5B-F444-ACAE-FE11352C6385}"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US"/>
        </a:p>
      </dgm:t>
    </dgm:pt>
    <dgm:pt modelId="{8EEE2B7E-FEA8-2841-9330-D657670BA65A}">
      <dgm:prSet phldrT="[Text]"/>
      <dgm:spPr>
        <a:solidFill>
          <a:schemeClr val="tx1"/>
        </a:solidFill>
      </dgm:spPr>
      <dgm:t>
        <a:bodyPr/>
        <a:lstStyle/>
        <a:p>
          <a:pPr algn="ctr"/>
          <a:r>
            <a:rPr lang="en-US" b="0">
              <a:latin typeface="Avenir Next LT Pro" panose="020B0504020202020204" pitchFamily="34" charset="77"/>
            </a:rPr>
            <a:t>Industry Background</a:t>
          </a:r>
        </a:p>
      </dgm:t>
    </dgm:pt>
    <dgm:pt modelId="{20DC5649-B805-BE49-A5B3-B2C19A5DCD2E}" type="parTrans" cxnId="{D9CEC529-92C5-6D4A-BF6E-36936BC6451C}">
      <dgm:prSet/>
      <dgm:spPr/>
      <dgm:t>
        <a:bodyPr/>
        <a:lstStyle/>
        <a:p>
          <a:endParaRPr lang="en-US"/>
        </a:p>
      </dgm:t>
    </dgm:pt>
    <dgm:pt modelId="{B11F1DC3-04B1-9A4A-AC4D-FE9A92ED77C2}" type="sibTrans" cxnId="{D9CEC529-92C5-6D4A-BF6E-36936BC6451C}">
      <dgm:prSet/>
      <dgm:spPr/>
      <dgm:t>
        <a:bodyPr/>
        <a:lstStyle/>
        <a:p>
          <a:endParaRPr lang="en-US"/>
        </a:p>
      </dgm:t>
    </dgm:pt>
    <dgm:pt modelId="{7603B473-DBD5-E145-8681-67EDBA9B6B4B}">
      <dgm:prSet phldrT="[Text]"/>
      <dgm:spPr>
        <a:solidFill>
          <a:srgbClr val="A9C861"/>
        </a:solidFill>
      </dgm:spPr>
      <dgm:t>
        <a:bodyPr/>
        <a:lstStyle/>
        <a:p>
          <a:pPr algn="ctr"/>
          <a:r>
            <a:rPr lang="en-US" b="1">
              <a:latin typeface="Avenir Next LT Pro" panose="020B0504020202020204" pitchFamily="34" charset="77"/>
            </a:rPr>
            <a:t>Demand Model</a:t>
          </a:r>
        </a:p>
      </dgm:t>
    </dgm:pt>
    <dgm:pt modelId="{EA094F26-ABD1-A746-808E-FF865DE2F039}" type="parTrans" cxnId="{48FFD7B5-374A-2B43-A78C-C2FF1C3E20D1}">
      <dgm:prSet/>
      <dgm:spPr/>
      <dgm:t>
        <a:bodyPr/>
        <a:lstStyle/>
        <a:p>
          <a:endParaRPr lang="en-US"/>
        </a:p>
      </dgm:t>
    </dgm:pt>
    <dgm:pt modelId="{6108CCC8-64CD-2642-9492-C5914C8FBAFD}" type="sibTrans" cxnId="{48FFD7B5-374A-2B43-A78C-C2FF1C3E20D1}">
      <dgm:prSet/>
      <dgm:spPr/>
      <dgm:t>
        <a:bodyPr/>
        <a:lstStyle/>
        <a:p>
          <a:endParaRPr lang="en-US"/>
        </a:p>
      </dgm:t>
    </dgm:pt>
    <dgm:pt modelId="{3BFDE67B-7FE9-0E4A-9F76-970A8D89C425}">
      <dgm:prSet phldrT="[Text]"/>
      <dgm:spPr>
        <a:solidFill>
          <a:schemeClr val="tx1"/>
        </a:solidFill>
      </dgm:spPr>
      <dgm:t>
        <a:bodyPr lIns="0" rIns="365760"/>
        <a:lstStyle/>
        <a:p>
          <a:pPr algn="ctr"/>
          <a:r>
            <a:rPr lang="en-US" b="0" i="0">
              <a:latin typeface="Avenir Next LT Pro" panose="020B0504020202020204" pitchFamily="34" charset="77"/>
            </a:rPr>
            <a:t>Product Features</a:t>
          </a:r>
        </a:p>
      </dgm:t>
    </dgm:pt>
    <dgm:pt modelId="{16068524-A248-BD45-9834-8DE9B8CA2E61}" type="parTrans" cxnId="{21122F98-9D00-0740-9514-19138D07000E}">
      <dgm:prSet/>
      <dgm:spPr/>
      <dgm:t>
        <a:bodyPr/>
        <a:lstStyle/>
        <a:p>
          <a:endParaRPr lang="en-US"/>
        </a:p>
      </dgm:t>
    </dgm:pt>
    <dgm:pt modelId="{55D0ECF1-3CA7-B540-9A2E-C4C752DC41E2}" type="sibTrans" cxnId="{21122F98-9D00-0740-9514-19138D07000E}">
      <dgm:prSet/>
      <dgm:spPr/>
      <dgm:t>
        <a:bodyPr/>
        <a:lstStyle/>
        <a:p>
          <a:endParaRPr lang="en-US"/>
        </a:p>
      </dgm:t>
    </dgm:pt>
    <dgm:pt modelId="{4082BFF7-60B1-8340-B9CA-E5DE81EF2D7F}">
      <dgm:prSet phldrT="[Text]"/>
      <dgm:spPr>
        <a:solidFill>
          <a:schemeClr val="tx1"/>
        </a:solidFill>
      </dgm:spPr>
      <dgm:t>
        <a:bodyPr/>
        <a:lstStyle/>
        <a:p>
          <a:pPr algn="ctr"/>
          <a:r>
            <a:rPr lang="en-US" b="0">
              <a:latin typeface="Avenir Next LT Pro" panose="020B0504020202020204" pitchFamily="34" charset="77"/>
            </a:rPr>
            <a:t>Pricing Analysis</a:t>
          </a:r>
        </a:p>
      </dgm:t>
    </dgm:pt>
    <dgm:pt modelId="{B19E2420-F6A5-2D40-B4CA-5BF003B22A24}" type="parTrans" cxnId="{7902F54F-6874-3D4B-8356-E78F7E4FBDEA}">
      <dgm:prSet/>
      <dgm:spPr/>
      <dgm:t>
        <a:bodyPr/>
        <a:lstStyle/>
        <a:p>
          <a:endParaRPr lang="en-US"/>
        </a:p>
      </dgm:t>
    </dgm:pt>
    <dgm:pt modelId="{4C6FEC2A-FFAD-D140-8695-0F34C0997235}" type="sibTrans" cxnId="{7902F54F-6874-3D4B-8356-E78F7E4FBDEA}">
      <dgm:prSet/>
      <dgm:spPr/>
      <dgm:t>
        <a:bodyPr/>
        <a:lstStyle/>
        <a:p>
          <a:endParaRPr lang="en-US"/>
        </a:p>
      </dgm:t>
    </dgm:pt>
    <dgm:pt modelId="{15AD007E-50C9-3A41-B63C-9F1269A07150}">
      <dgm:prSet phldrT="[Text]"/>
      <dgm:spPr>
        <a:solidFill>
          <a:schemeClr val="tx1"/>
        </a:solidFill>
      </dgm:spPr>
      <dgm:t>
        <a:bodyPr/>
        <a:lstStyle/>
        <a:p>
          <a:pPr algn="ctr"/>
          <a:r>
            <a:rPr lang="en-US" b="0">
              <a:latin typeface="Avenir Next LT Pro" panose="020B0504020202020204" pitchFamily="34" charset="77"/>
            </a:rPr>
            <a:t>Competitive Positioning</a:t>
          </a:r>
        </a:p>
      </dgm:t>
    </dgm:pt>
    <dgm:pt modelId="{FB720988-3BC0-BC40-AC19-A407023D3A3F}" type="parTrans" cxnId="{076651F1-3CBE-8B44-9EAF-3072FB514B00}">
      <dgm:prSet/>
      <dgm:spPr/>
      <dgm:t>
        <a:bodyPr/>
        <a:lstStyle/>
        <a:p>
          <a:endParaRPr lang="en-US"/>
        </a:p>
      </dgm:t>
    </dgm:pt>
    <dgm:pt modelId="{4312D9F1-C78C-6C40-BAE4-DCEB223E208D}" type="sibTrans" cxnId="{076651F1-3CBE-8B44-9EAF-3072FB514B00}">
      <dgm:prSet/>
      <dgm:spPr/>
      <dgm:t>
        <a:bodyPr/>
        <a:lstStyle/>
        <a:p>
          <a:endParaRPr lang="en-US"/>
        </a:p>
      </dgm:t>
    </dgm:pt>
    <dgm:pt modelId="{AFFECF99-DE3A-3E48-AD82-DE0C632542DC}" type="pres">
      <dgm:prSet presAssocID="{0BE8AFBC-BA5B-F444-ACAE-FE11352C6385}" presName="Name0" presStyleCnt="0">
        <dgm:presLayoutVars>
          <dgm:dir/>
          <dgm:resizeHandles val="exact"/>
        </dgm:presLayoutVars>
      </dgm:prSet>
      <dgm:spPr/>
    </dgm:pt>
    <dgm:pt modelId="{75FC1705-EFC2-DC49-974C-4082D5F688A4}" type="pres">
      <dgm:prSet presAssocID="{8EEE2B7E-FEA8-2841-9330-D657670BA65A}" presName="parTxOnly" presStyleLbl="node1" presStyleIdx="0" presStyleCnt="5" custScaleX="143173" custScaleY="86006">
        <dgm:presLayoutVars>
          <dgm:bulletEnabled val="1"/>
        </dgm:presLayoutVars>
      </dgm:prSet>
      <dgm:spPr/>
    </dgm:pt>
    <dgm:pt modelId="{2398453E-8F02-0146-8831-DA24307367AE}" type="pres">
      <dgm:prSet presAssocID="{B11F1DC3-04B1-9A4A-AC4D-FE9A92ED77C2}" presName="parSpace" presStyleCnt="0"/>
      <dgm:spPr/>
    </dgm:pt>
    <dgm:pt modelId="{A579A29D-F228-A346-A356-4129FDEB43D1}" type="pres">
      <dgm:prSet presAssocID="{7603B473-DBD5-E145-8681-67EDBA9B6B4B}" presName="parTxOnly" presStyleLbl="node1" presStyleIdx="1" presStyleCnt="5" custScaleX="141611" custLinFactNeighborX="42167" custLinFactNeighborY="-3443">
        <dgm:presLayoutVars>
          <dgm:bulletEnabled val="1"/>
        </dgm:presLayoutVars>
      </dgm:prSet>
      <dgm:spPr/>
    </dgm:pt>
    <dgm:pt modelId="{DB65CB43-07E1-4543-8C77-94A5F96A140B}" type="pres">
      <dgm:prSet presAssocID="{6108CCC8-64CD-2642-9492-C5914C8FBAFD}" presName="parSpace" presStyleCnt="0"/>
      <dgm:spPr/>
    </dgm:pt>
    <dgm:pt modelId="{038E0549-03A2-F141-8066-7E8027D67BD7}" type="pres">
      <dgm:prSet presAssocID="{3BFDE67B-7FE9-0E4A-9F76-970A8D89C425}" presName="parTxOnly" presStyleLbl="node1" presStyleIdx="2" presStyleCnt="5" custScaleX="147710" custLinFactNeighborX="86349" custLinFactNeighborY="10239">
        <dgm:presLayoutVars>
          <dgm:bulletEnabled val="1"/>
        </dgm:presLayoutVars>
      </dgm:prSet>
      <dgm:spPr/>
    </dgm:pt>
    <dgm:pt modelId="{0DB84E49-AAA6-D64E-BCD6-7A84EF50CA10}" type="pres">
      <dgm:prSet presAssocID="{55D0ECF1-3CA7-B540-9A2E-C4C752DC41E2}" presName="parSpace" presStyleCnt="0"/>
      <dgm:spPr/>
    </dgm:pt>
    <dgm:pt modelId="{24AB1D94-B983-3E4D-8325-3ECF8523D4B7}" type="pres">
      <dgm:prSet presAssocID="{4082BFF7-60B1-8340-B9CA-E5DE81EF2D7F}" presName="parTxOnly" presStyleLbl="node1" presStyleIdx="3" presStyleCnt="5" custScaleX="145793" custScaleY="81791">
        <dgm:presLayoutVars>
          <dgm:bulletEnabled val="1"/>
        </dgm:presLayoutVars>
      </dgm:prSet>
      <dgm:spPr/>
    </dgm:pt>
    <dgm:pt modelId="{69D94FB2-8235-364E-888B-BE0BA7925B18}" type="pres">
      <dgm:prSet presAssocID="{4C6FEC2A-FFAD-D140-8695-0F34C0997235}" presName="parSpace" presStyleCnt="0"/>
      <dgm:spPr/>
    </dgm:pt>
    <dgm:pt modelId="{56ACEC28-C922-6D47-8B9F-4D4130B130BD}" type="pres">
      <dgm:prSet presAssocID="{15AD007E-50C9-3A41-B63C-9F1269A07150}" presName="parTxOnly" presStyleLbl="node1" presStyleIdx="4" presStyleCnt="5" custScaleX="146721" custScaleY="95099">
        <dgm:presLayoutVars>
          <dgm:bulletEnabled val="1"/>
        </dgm:presLayoutVars>
      </dgm:prSet>
      <dgm:spPr/>
    </dgm:pt>
  </dgm:ptLst>
  <dgm:cxnLst>
    <dgm:cxn modelId="{489F4308-C2EA-AF49-A439-DB41AF134AA4}" type="presOf" srcId="{15AD007E-50C9-3A41-B63C-9F1269A07150}" destId="{56ACEC28-C922-6D47-8B9F-4D4130B130BD}" srcOrd="0" destOrd="0" presId="urn:microsoft.com/office/officeart/2005/8/layout/hChevron3"/>
    <dgm:cxn modelId="{AF587C1E-276E-F642-B989-2AEE7B81FA4C}" type="presOf" srcId="{0BE8AFBC-BA5B-F444-ACAE-FE11352C6385}" destId="{AFFECF99-DE3A-3E48-AD82-DE0C632542DC}" srcOrd="0" destOrd="0" presId="urn:microsoft.com/office/officeart/2005/8/layout/hChevron3"/>
    <dgm:cxn modelId="{D9CEC529-92C5-6D4A-BF6E-36936BC6451C}" srcId="{0BE8AFBC-BA5B-F444-ACAE-FE11352C6385}" destId="{8EEE2B7E-FEA8-2841-9330-D657670BA65A}" srcOrd="0" destOrd="0" parTransId="{20DC5649-B805-BE49-A5B3-B2C19A5DCD2E}" sibTransId="{B11F1DC3-04B1-9A4A-AC4D-FE9A92ED77C2}"/>
    <dgm:cxn modelId="{4F516336-8F35-CB41-B289-DA52B405732A}" type="presOf" srcId="{4082BFF7-60B1-8340-B9CA-E5DE81EF2D7F}" destId="{24AB1D94-B983-3E4D-8325-3ECF8523D4B7}" srcOrd="0" destOrd="0" presId="urn:microsoft.com/office/officeart/2005/8/layout/hChevron3"/>
    <dgm:cxn modelId="{6CE8F943-1439-F147-9F9B-03081E4E41DF}" type="presOf" srcId="{7603B473-DBD5-E145-8681-67EDBA9B6B4B}" destId="{A579A29D-F228-A346-A356-4129FDEB43D1}" srcOrd="0" destOrd="0" presId="urn:microsoft.com/office/officeart/2005/8/layout/hChevron3"/>
    <dgm:cxn modelId="{7902F54F-6874-3D4B-8356-E78F7E4FBDEA}" srcId="{0BE8AFBC-BA5B-F444-ACAE-FE11352C6385}" destId="{4082BFF7-60B1-8340-B9CA-E5DE81EF2D7F}" srcOrd="3" destOrd="0" parTransId="{B19E2420-F6A5-2D40-B4CA-5BF003B22A24}" sibTransId="{4C6FEC2A-FFAD-D140-8695-0F34C0997235}"/>
    <dgm:cxn modelId="{8D0F4674-0157-0A40-8A2B-15C64C2BBF2F}" type="presOf" srcId="{3BFDE67B-7FE9-0E4A-9F76-970A8D89C425}" destId="{038E0549-03A2-F141-8066-7E8027D67BD7}" srcOrd="0" destOrd="0" presId="urn:microsoft.com/office/officeart/2005/8/layout/hChevron3"/>
    <dgm:cxn modelId="{53D33E86-03E0-BA44-8C65-2735ADBF9B43}" type="presOf" srcId="{8EEE2B7E-FEA8-2841-9330-D657670BA65A}" destId="{75FC1705-EFC2-DC49-974C-4082D5F688A4}" srcOrd="0" destOrd="0" presId="urn:microsoft.com/office/officeart/2005/8/layout/hChevron3"/>
    <dgm:cxn modelId="{21122F98-9D00-0740-9514-19138D07000E}" srcId="{0BE8AFBC-BA5B-F444-ACAE-FE11352C6385}" destId="{3BFDE67B-7FE9-0E4A-9F76-970A8D89C425}" srcOrd="2" destOrd="0" parTransId="{16068524-A248-BD45-9834-8DE9B8CA2E61}" sibTransId="{55D0ECF1-3CA7-B540-9A2E-C4C752DC41E2}"/>
    <dgm:cxn modelId="{48FFD7B5-374A-2B43-A78C-C2FF1C3E20D1}" srcId="{0BE8AFBC-BA5B-F444-ACAE-FE11352C6385}" destId="{7603B473-DBD5-E145-8681-67EDBA9B6B4B}" srcOrd="1" destOrd="0" parTransId="{EA094F26-ABD1-A746-808E-FF865DE2F039}" sibTransId="{6108CCC8-64CD-2642-9492-C5914C8FBAFD}"/>
    <dgm:cxn modelId="{076651F1-3CBE-8B44-9EAF-3072FB514B00}" srcId="{0BE8AFBC-BA5B-F444-ACAE-FE11352C6385}" destId="{15AD007E-50C9-3A41-B63C-9F1269A07150}" srcOrd="4" destOrd="0" parTransId="{FB720988-3BC0-BC40-AC19-A407023D3A3F}" sibTransId="{4312D9F1-C78C-6C40-BAE4-DCEB223E208D}"/>
    <dgm:cxn modelId="{69264297-14AB-5845-A915-DFDDF79C8F67}" type="presParOf" srcId="{AFFECF99-DE3A-3E48-AD82-DE0C632542DC}" destId="{75FC1705-EFC2-DC49-974C-4082D5F688A4}" srcOrd="0" destOrd="0" presId="urn:microsoft.com/office/officeart/2005/8/layout/hChevron3"/>
    <dgm:cxn modelId="{BE304EB2-3A94-8148-9E3F-A59D7EBAE284}" type="presParOf" srcId="{AFFECF99-DE3A-3E48-AD82-DE0C632542DC}" destId="{2398453E-8F02-0146-8831-DA24307367AE}" srcOrd="1" destOrd="0" presId="urn:microsoft.com/office/officeart/2005/8/layout/hChevron3"/>
    <dgm:cxn modelId="{E40FC876-8DC9-0A4D-B904-9F098EDFEEAF}" type="presParOf" srcId="{AFFECF99-DE3A-3E48-AD82-DE0C632542DC}" destId="{A579A29D-F228-A346-A356-4129FDEB43D1}" srcOrd="2" destOrd="0" presId="urn:microsoft.com/office/officeart/2005/8/layout/hChevron3"/>
    <dgm:cxn modelId="{606C3D10-20C5-654B-B663-158B40BE97B7}" type="presParOf" srcId="{AFFECF99-DE3A-3E48-AD82-DE0C632542DC}" destId="{DB65CB43-07E1-4543-8C77-94A5F96A140B}" srcOrd="3" destOrd="0" presId="urn:microsoft.com/office/officeart/2005/8/layout/hChevron3"/>
    <dgm:cxn modelId="{39A7B751-01D7-8A43-A0C3-A6632CA84664}" type="presParOf" srcId="{AFFECF99-DE3A-3E48-AD82-DE0C632542DC}" destId="{038E0549-03A2-F141-8066-7E8027D67BD7}" srcOrd="4" destOrd="0" presId="urn:microsoft.com/office/officeart/2005/8/layout/hChevron3"/>
    <dgm:cxn modelId="{61EE2288-EFE7-1243-B521-9B5BDE197A82}" type="presParOf" srcId="{AFFECF99-DE3A-3E48-AD82-DE0C632542DC}" destId="{0DB84E49-AAA6-D64E-BCD6-7A84EF50CA10}" srcOrd="5" destOrd="0" presId="urn:microsoft.com/office/officeart/2005/8/layout/hChevron3"/>
    <dgm:cxn modelId="{2E4F581F-ADC7-6A46-B145-07E20692C400}" type="presParOf" srcId="{AFFECF99-DE3A-3E48-AD82-DE0C632542DC}" destId="{24AB1D94-B983-3E4D-8325-3ECF8523D4B7}" srcOrd="6" destOrd="0" presId="urn:microsoft.com/office/officeart/2005/8/layout/hChevron3"/>
    <dgm:cxn modelId="{7EAB5BFC-0641-E944-8444-6DF3103D886D}" type="presParOf" srcId="{AFFECF99-DE3A-3E48-AD82-DE0C632542DC}" destId="{69D94FB2-8235-364E-888B-BE0BA7925B18}" srcOrd="7" destOrd="0" presId="urn:microsoft.com/office/officeart/2005/8/layout/hChevron3"/>
    <dgm:cxn modelId="{188A5C24-3983-FD40-BDC0-5B86C28F08BB}" type="presParOf" srcId="{AFFECF99-DE3A-3E48-AD82-DE0C632542DC}" destId="{56ACEC28-C922-6D47-8B9F-4D4130B130BD}" srcOrd="8"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BE8AFBC-BA5B-F444-ACAE-FE11352C6385}"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US"/>
        </a:p>
      </dgm:t>
    </dgm:pt>
    <dgm:pt modelId="{8EEE2B7E-FEA8-2841-9330-D657670BA65A}">
      <dgm:prSet phldrT="[Text]"/>
      <dgm:spPr>
        <a:solidFill>
          <a:schemeClr val="tx1"/>
        </a:solidFill>
      </dgm:spPr>
      <dgm:t>
        <a:bodyPr/>
        <a:lstStyle/>
        <a:p>
          <a:pPr algn="ctr"/>
          <a:r>
            <a:rPr lang="en-US" b="0" dirty="0">
              <a:latin typeface="Avenir Next LT Pro" panose="020B0504020202020204" pitchFamily="34" charset="77"/>
            </a:rPr>
            <a:t>Industry Background</a:t>
          </a:r>
        </a:p>
      </dgm:t>
    </dgm:pt>
    <dgm:pt modelId="{20DC5649-B805-BE49-A5B3-B2C19A5DCD2E}" type="parTrans" cxnId="{D9CEC529-92C5-6D4A-BF6E-36936BC6451C}">
      <dgm:prSet/>
      <dgm:spPr/>
      <dgm:t>
        <a:bodyPr/>
        <a:lstStyle/>
        <a:p>
          <a:endParaRPr lang="en-US"/>
        </a:p>
      </dgm:t>
    </dgm:pt>
    <dgm:pt modelId="{B11F1DC3-04B1-9A4A-AC4D-FE9A92ED77C2}" type="sibTrans" cxnId="{D9CEC529-92C5-6D4A-BF6E-36936BC6451C}">
      <dgm:prSet/>
      <dgm:spPr/>
      <dgm:t>
        <a:bodyPr/>
        <a:lstStyle/>
        <a:p>
          <a:endParaRPr lang="en-US"/>
        </a:p>
      </dgm:t>
    </dgm:pt>
    <dgm:pt modelId="{7603B473-DBD5-E145-8681-67EDBA9B6B4B}">
      <dgm:prSet phldrT="[Text]"/>
      <dgm:spPr>
        <a:solidFill>
          <a:schemeClr val="tx1"/>
        </a:solidFill>
      </dgm:spPr>
      <dgm:t>
        <a:bodyPr/>
        <a:lstStyle/>
        <a:p>
          <a:pPr algn="ctr"/>
          <a:r>
            <a:rPr lang="en-US" b="0" dirty="0">
              <a:latin typeface="Avenir Next LT Pro" panose="020B0504020202020204" pitchFamily="34" charset="77"/>
            </a:rPr>
            <a:t>Demand Model</a:t>
          </a:r>
        </a:p>
      </dgm:t>
    </dgm:pt>
    <dgm:pt modelId="{EA094F26-ABD1-A746-808E-FF865DE2F039}" type="parTrans" cxnId="{48FFD7B5-374A-2B43-A78C-C2FF1C3E20D1}">
      <dgm:prSet/>
      <dgm:spPr/>
      <dgm:t>
        <a:bodyPr/>
        <a:lstStyle/>
        <a:p>
          <a:endParaRPr lang="en-US"/>
        </a:p>
      </dgm:t>
    </dgm:pt>
    <dgm:pt modelId="{6108CCC8-64CD-2642-9492-C5914C8FBAFD}" type="sibTrans" cxnId="{48FFD7B5-374A-2B43-A78C-C2FF1C3E20D1}">
      <dgm:prSet/>
      <dgm:spPr/>
      <dgm:t>
        <a:bodyPr/>
        <a:lstStyle/>
        <a:p>
          <a:endParaRPr lang="en-US"/>
        </a:p>
      </dgm:t>
    </dgm:pt>
    <dgm:pt modelId="{3BFDE67B-7FE9-0E4A-9F76-970A8D89C425}">
      <dgm:prSet phldrT="[Text]"/>
      <dgm:spPr>
        <a:solidFill>
          <a:srgbClr val="A9C861"/>
        </a:solidFill>
      </dgm:spPr>
      <dgm:t>
        <a:bodyPr lIns="0" rIns="365760"/>
        <a:lstStyle/>
        <a:p>
          <a:pPr algn="ctr"/>
          <a:r>
            <a:rPr lang="en-US" b="1" i="0" dirty="0">
              <a:latin typeface="Avenir Next LT Pro" panose="020B0504020202020204" pitchFamily="34" charset="77"/>
            </a:rPr>
            <a:t>Product Features</a:t>
          </a:r>
        </a:p>
      </dgm:t>
    </dgm:pt>
    <dgm:pt modelId="{16068524-A248-BD45-9834-8DE9B8CA2E61}" type="parTrans" cxnId="{21122F98-9D00-0740-9514-19138D07000E}">
      <dgm:prSet/>
      <dgm:spPr/>
      <dgm:t>
        <a:bodyPr/>
        <a:lstStyle/>
        <a:p>
          <a:endParaRPr lang="en-US"/>
        </a:p>
      </dgm:t>
    </dgm:pt>
    <dgm:pt modelId="{55D0ECF1-3CA7-B540-9A2E-C4C752DC41E2}" type="sibTrans" cxnId="{21122F98-9D00-0740-9514-19138D07000E}">
      <dgm:prSet/>
      <dgm:spPr/>
      <dgm:t>
        <a:bodyPr/>
        <a:lstStyle/>
        <a:p>
          <a:endParaRPr lang="en-US"/>
        </a:p>
      </dgm:t>
    </dgm:pt>
    <dgm:pt modelId="{4082BFF7-60B1-8340-B9CA-E5DE81EF2D7F}">
      <dgm:prSet phldrT="[Text]"/>
      <dgm:spPr>
        <a:solidFill>
          <a:schemeClr val="tx1"/>
        </a:solidFill>
      </dgm:spPr>
      <dgm:t>
        <a:bodyPr/>
        <a:lstStyle/>
        <a:p>
          <a:pPr algn="ctr"/>
          <a:r>
            <a:rPr lang="en-US" b="0" dirty="0">
              <a:latin typeface="Avenir Next LT Pro" panose="020B0504020202020204" pitchFamily="34" charset="77"/>
            </a:rPr>
            <a:t>Pricing Analysis</a:t>
          </a:r>
        </a:p>
      </dgm:t>
    </dgm:pt>
    <dgm:pt modelId="{B19E2420-F6A5-2D40-B4CA-5BF003B22A24}" type="parTrans" cxnId="{7902F54F-6874-3D4B-8356-E78F7E4FBDEA}">
      <dgm:prSet/>
      <dgm:spPr/>
      <dgm:t>
        <a:bodyPr/>
        <a:lstStyle/>
        <a:p>
          <a:endParaRPr lang="en-US"/>
        </a:p>
      </dgm:t>
    </dgm:pt>
    <dgm:pt modelId="{4C6FEC2A-FFAD-D140-8695-0F34C0997235}" type="sibTrans" cxnId="{7902F54F-6874-3D4B-8356-E78F7E4FBDEA}">
      <dgm:prSet/>
      <dgm:spPr/>
      <dgm:t>
        <a:bodyPr/>
        <a:lstStyle/>
        <a:p>
          <a:endParaRPr lang="en-US"/>
        </a:p>
      </dgm:t>
    </dgm:pt>
    <dgm:pt modelId="{15AD007E-50C9-3A41-B63C-9F1269A07150}">
      <dgm:prSet phldrT="[Text]"/>
      <dgm:spPr>
        <a:solidFill>
          <a:schemeClr val="tx1"/>
        </a:solidFill>
      </dgm:spPr>
      <dgm:t>
        <a:bodyPr/>
        <a:lstStyle/>
        <a:p>
          <a:pPr algn="ctr"/>
          <a:r>
            <a:rPr lang="en-US" b="0" dirty="0">
              <a:latin typeface="Avenir Next LT Pro" panose="020B0504020202020204" pitchFamily="34" charset="77"/>
            </a:rPr>
            <a:t>Competitive Positioning</a:t>
          </a:r>
        </a:p>
      </dgm:t>
    </dgm:pt>
    <dgm:pt modelId="{FB720988-3BC0-BC40-AC19-A407023D3A3F}" type="parTrans" cxnId="{076651F1-3CBE-8B44-9EAF-3072FB514B00}">
      <dgm:prSet/>
      <dgm:spPr/>
      <dgm:t>
        <a:bodyPr/>
        <a:lstStyle/>
        <a:p>
          <a:endParaRPr lang="en-US"/>
        </a:p>
      </dgm:t>
    </dgm:pt>
    <dgm:pt modelId="{4312D9F1-C78C-6C40-BAE4-DCEB223E208D}" type="sibTrans" cxnId="{076651F1-3CBE-8B44-9EAF-3072FB514B00}">
      <dgm:prSet/>
      <dgm:spPr/>
      <dgm:t>
        <a:bodyPr/>
        <a:lstStyle/>
        <a:p>
          <a:endParaRPr lang="en-US"/>
        </a:p>
      </dgm:t>
    </dgm:pt>
    <dgm:pt modelId="{AFFECF99-DE3A-3E48-AD82-DE0C632542DC}" type="pres">
      <dgm:prSet presAssocID="{0BE8AFBC-BA5B-F444-ACAE-FE11352C6385}" presName="Name0" presStyleCnt="0">
        <dgm:presLayoutVars>
          <dgm:dir/>
          <dgm:resizeHandles val="exact"/>
        </dgm:presLayoutVars>
      </dgm:prSet>
      <dgm:spPr/>
    </dgm:pt>
    <dgm:pt modelId="{75FC1705-EFC2-DC49-974C-4082D5F688A4}" type="pres">
      <dgm:prSet presAssocID="{8EEE2B7E-FEA8-2841-9330-D657670BA65A}" presName="parTxOnly" presStyleLbl="node1" presStyleIdx="0" presStyleCnt="5" custScaleX="143173" custScaleY="86006">
        <dgm:presLayoutVars>
          <dgm:bulletEnabled val="1"/>
        </dgm:presLayoutVars>
      </dgm:prSet>
      <dgm:spPr/>
    </dgm:pt>
    <dgm:pt modelId="{2398453E-8F02-0146-8831-DA24307367AE}" type="pres">
      <dgm:prSet presAssocID="{B11F1DC3-04B1-9A4A-AC4D-FE9A92ED77C2}" presName="parSpace" presStyleCnt="0"/>
      <dgm:spPr/>
    </dgm:pt>
    <dgm:pt modelId="{A579A29D-F228-A346-A356-4129FDEB43D1}" type="pres">
      <dgm:prSet presAssocID="{7603B473-DBD5-E145-8681-67EDBA9B6B4B}" presName="parTxOnly" presStyleLbl="node1" presStyleIdx="1" presStyleCnt="5" custScaleX="141611" custLinFactNeighborX="42167" custLinFactNeighborY="-3443">
        <dgm:presLayoutVars>
          <dgm:bulletEnabled val="1"/>
        </dgm:presLayoutVars>
      </dgm:prSet>
      <dgm:spPr/>
    </dgm:pt>
    <dgm:pt modelId="{DB65CB43-07E1-4543-8C77-94A5F96A140B}" type="pres">
      <dgm:prSet presAssocID="{6108CCC8-64CD-2642-9492-C5914C8FBAFD}" presName="parSpace" presStyleCnt="0"/>
      <dgm:spPr/>
    </dgm:pt>
    <dgm:pt modelId="{038E0549-03A2-F141-8066-7E8027D67BD7}" type="pres">
      <dgm:prSet presAssocID="{3BFDE67B-7FE9-0E4A-9F76-970A8D89C425}" presName="parTxOnly" presStyleLbl="node1" presStyleIdx="2" presStyleCnt="5" custScaleX="147710" custLinFactNeighborX="86349" custLinFactNeighborY="10239">
        <dgm:presLayoutVars>
          <dgm:bulletEnabled val="1"/>
        </dgm:presLayoutVars>
      </dgm:prSet>
      <dgm:spPr/>
    </dgm:pt>
    <dgm:pt modelId="{0DB84E49-AAA6-D64E-BCD6-7A84EF50CA10}" type="pres">
      <dgm:prSet presAssocID="{55D0ECF1-3CA7-B540-9A2E-C4C752DC41E2}" presName="parSpace" presStyleCnt="0"/>
      <dgm:spPr/>
    </dgm:pt>
    <dgm:pt modelId="{24AB1D94-B983-3E4D-8325-3ECF8523D4B7}" type="pres">
      <dgm:prSet presAssocID="{4082BFF7-60B1-8340-B9CA-E5DE81EF2D7F}" presName="parTxOnly" presStyleLbl="node1" presStyleIdx="3" presStyleCnt="5" custScaleX="145793" custScaleY="81791">
        <dgm:presLayoutVars>
          <dgm:bulletEnabled val="1"/>
        </dgm:presLayoutVars>
      </dgm:prSet>
      <dgm:spPr/>
    </dgm:pt>
    <dgm:pt modelId="{69D94FB2-8235-364E-888B-BE0BA7925B18}" type="pres">
      <dgm:prSet presAssocID="{4C6FEC2A-FFAD-D140-8695-0F34C0997235}" presName="parSpace" presStyleCnt="0"/>
      <dgm:spPr/>
    </dgm:pt>
    <dgm:pt modelId="{56ACEC28-C922-6D47-8B9F-4D4130B130BD}" type="pres">
      <dgm:prSet presAssocID="{15AD007E-50C9-3A41-B63C-9F1269A07150}" presName="parTxOnly" presStyleLbl="node1" presStyleIdx="4" presStyleCnt="5" custScaleX="146721" custScaleY="95099">
        <dgm:presLayoutVars>
          <dgm:bulletEnabled val="1"/>
        </dgm:presLayoutVars>
      </dgm:prSet>
      <dgm:spPr/>
    </dgm:pt>
  </dgm:ptLst>
  <dgm:cxnLst>
    <dgm:cxn modelId="{489F4308-C2EA-AF49-A439-DB41AF134AA4}" type="presOf" srcId="{15AD007E-50C9-3A41-B63C-9F1269A07150}" destId="{56ACEC28-C922-6D47-8B9F-4D4130B130BD}" srcOrd="0" destOrd="0" presId="urn:microsoft.com/office/officeart/2005/8/layout/hChevron3"/>
    <dgm:cxn modelId="{AF587C1E-276E-F642-B989-2AEE7B81FA4C}" type="presOf" srcId="{0BE8AFBC-BA5B-F444-ACAE-FE11352C6385}" destId="{AFFECF99-DE3A-3E48-AD82-DE0C632542DC}" srcOrd="0" destOrd="0" presId="urn:microsoft.com/office/officeart/2005/8/layout/hChevron3"/>
    <dgm:cxn modelId="{D9CEC529-92C5-6D4A-BF6E-36936BC6451C}" srcId="{0BE8AFBC-BA5B-F444-ACAE-FE11352C6385}" destId="{8EEE2B7E-FEA8-2841-9330-D657670BA65A}" srcOrd="0" destOrd="0" parTransId="{20DC5649-B805-BE49-A5B3-B2C19A5DCD2E}" sibTransId="{B11F1DC3-04B1-9A4A-AC4D-FE9A92ED77C2}"/>
    <dgm:cxn modelId="{4F516336-8F35-CB41-B289-DA52B405732A}" type="presOf" srcId="{4082BFF7-60B1-8340-B9CA-E5DE81EF2D7F}" destId="{24AB1D94-B983-3E4D-8325-3ECF8523D4B7}" srcOrd="0" destOrd="0" presId="urn:microsoft.com/office/officeart/2005/8/layout/hChevron3"/>
    <dgm:cxn modelId="{6CE8F943-1439-F147-9F9B-03081E4E41DF}" type="presOf" srcId="{7603B473-DBD5-E145-8681-67EDBA9B6B4B}" destId="{A579A29D-F228-A346-A356-4129FDEB43D1}" srcOrd="0" destOrd="0" presId="urn:microsoft.com/office/officeart/2005/8/layout/hChevron3"/>
    <dgm:cxn modelId="{7902F54F-6874-3D4B-8356-E78F7E4FBDEA}" srcId="{0BE8AFBC-BA5B-F444-ACAE-FE11352C6385}" destId="{4082BFF7-60B1-8340-B9CA-E5DE81EF2D7F}" srcOrd="3" destOrd="0" parTransId="{B19E2420-F6A5-2D40-B4CA-5BF003B22A24}" sibTransId="{4C6FEC2A-FFAD-D140-8695-0F34C0997235}"/>
    <dgm:cxn modelId="{8D0F4674-0157-0A40-8A2B-15C64C2BBF2F}" type="presOf" srcId="{3BFDE67B-7FE9-0E4A-9F76-970A8D89C425}" destId="{038E0549-03A2-F141-8066-7E8027D67BD7}" srcOrd="0" destOrd="0" presId="urn:microsoft.com/office/officeart/2005/8/layout/hChevron3"/>
    <dgm:cxn modelId="{53D33E86-03E0-BA44-8C65-2735ADBF9B43}" type="presOf" srcId="{8EEE2B7E-FEA8-2841-9330-D657670BA65A}" destId="{75FC1705-EFC2-DC49-974C-4082D5F688A4}" srcOrd="0" destOrd="0" presId="urn:microsoft.com/office/officeart/2005/8/layout/hChevron3"/>
    <dgm:cxn modelId="{21122F98-9D00-0740-9514-19138D07000E}" srcId="{0BE8AFBC-BA5B-F444-ACAE-FE11352C6385}" destId="{3BFDE67B-7FE9-0E4A-9F76-970A8D89C425}" srcOrd="2" destOrd="0" parTransId="{16068524-A248-BD45-9834-8DE9B8CA2E61}" sibTransId="{55D0ECF1-3CA7-B540-9A2E-C4C752DC41E2}"/>
    <dgm:cxn modelId="{48FFD7B5-374A-2B43-A78C-C2FF1C3E20D1}" srcId="{0BE8AFBC-BA5B-F444-ACAE-FE11352C6385}" destId="{7603B473-DBD5-E145-8681-67EDBA9B6B4B}" srcOrd="1" destOrd="0" parTransId="{EA094F26-ABD1-A746-808E-FF865DE2F039}" sibTransId="{6108CCC8-64CD-2642-9492-C5914C8FBAFD}"/>
    <dgm:cxn modelId="{076651F1-3CBE-8B44-9EAF-3072FB514B00}" srcId="{0BE8AFBC-BA5B-F444-ACAE-FE11352C6385}" destId="{15AD007E-50C9-3A41-B63C-9F1269A07150}" srcOrd="4" destOrd="0" parTransId="{FB720988-3BC0-BC40-AC19-A407023D3A3F}" sibTransId="{4312D9F1-C78C-6C40-BAE4-DCEB223E208D}"/>
    <dgm:cxn modelId="{69264297-14AB-5845-A915-DFDDF79C8F67}" type="presParOf" srcId="{AFFECF99-DE3A-3E48-AD82-DE0C632542DC}" destId="{75FC1705-EFC2-DC49-974C-4082D5F688A4}" srcOrd="0" destOrd="0" presId="urn:microsoft.com/office/officeart/2005/8/layout/hChevron3"/>
    <dgm:cxn modelId="{BE304EB2-3A94-8148-9E3F-A59D7EBAE284}" type="presParOf" srcId="{AFFECF99-DE3A-3E48-AD82-DE0C632542DC}" destId="{2398453E-8F02-0146-8831-DA24307367AE}" srcOrd="1" destOrd="0" presId="urn:microsoft.com/office/officeart/2005/8/layout/hChevron3"/>
    <dgm:cxn modelId="{E40FC876-8DC9-0A4D-B904-9F098EDFEEAF}" type="presParOf" srcId="{AFFECF99-DE3A-3E48-AD82-DE0C632542DC}" destId="{A579A29D-F228-A346-A356-4129FDEB43D1}" srcOrd="2" destOrd="0" presId="urn:microsoft.com/office/officeart/2005/8/layout/hChevron3"/>
    <dgm:cxn modelId="{606C3D10-20C5-654B-B663-158B40BE97B7}" type="presParOf" srcId="{AFFECF99-DE3A-3E48-AD82-DE0C632542DC}" destId="{DB65CB43-07E1-4543-8C77-94A5F96A140B}" srcOrd="3" destOrd="0" presId="urn:microsoft.com/office/officeart/2005/8/layout/hChevron3"/>
    <dgm:cxn modelId="{39A7B751-01D7-8A43-A0C3-A6632CA84664}" type="presParOf" srcId="{AFFECF99-DE3A-3E48-AD82-DE0C632542DC}" destId="{038E0549-03A2-F141-8066-7E8027D67BD7}" srcOrd="4" destOrd="0" presId="urn:microsoft.com/office/officeart/2005/8/layout/hChevron3"/>
    <dgm:cxn modelId="{61EE2288-EFE7-1243-B521-9B5BDE197A82}" type="presParOf" srcId="{AFFECF99-DE3A-3E48-AD82-DE0C632542DC}" destId="{0DB84E49-AAA6-D64E-BCD6-7A84EF50CA10}" srcOrd="5" destOrd="0" presId="urn:microsoft.com/office/officeart/2005/8/layout/hChevron3"/>
    <dgm:cxn modelId="{2E4F581F-ADC7-6A46-B145-07E20692C400}" type="presParOf" srcId="{AFFECF99-DE3A-3E48-AD82-DE0C632542DC}" destId="{24AB1D94-B983-3E4D-8325-3ECF8523D4B7}" srcOrd="6" destOrd="0" presId="urn:microsoft.com/office/officeart/2005/8/layout/hChevron3"/>
    <dgm:cxn modelId="{7EAB5BFC-0641-E944-8444-6DF3103D886D}" type="presParOf" srcId="{AFFECF99-DE3A-3E48-AD82-DE0C632542DC}" destId="{69D94FB2-8235-364E-888B-BE0BA7925B18}" srcOrd="7" destOrd="0" presId="urn:microsoft.com/office/officeart/2005/8/layout/hChevron3"/>
    <dgm:cxn modelId="{188A5C24-3983-FD40-BDC0-5B86C28F08BB}" type="presParOf" srcId="{AFFECF99-DE3A-3E48-AD82-DE0C632542DC}" destId="{56ACEC28-C922-6D47-8B9F-4D4130B130BD}" srcOrd="8"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BE8AFBC-BA5B-F444-ACAE-FE11352C6385}"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US"/>
        </a:p>
      </dgm:t>
    </dgm:pt>
    <dgm:pt modelId="{8EEE2B7E-FEA8-2841-9330-D657670BA65A}">
      <dgm:prSet phldrT="[Text]"/>
      <dgm:spPr>
        <a:solidFill>
          <a:schemeClr val="tx1"/>
        </a:solidFill>
      </dgm:spPr>
      <dgm:t>
        <a:bodyPr/>
        <a:lstStyle/>
        <a:p>
          <a:pPr algn="ctr"/>
          <a:r>
            <a:rPr lang="en-US" b="0">
              <a:latin typeface="Avenir Next LT Pro" panose="020B0504020202020204" pitchFamily="34" charset="77"/>
            </a:rPr>
            <a:t>Industry Background</a:t>
          </a:r>
        </a:p>
      </dgm:t>
    </dgm:pt>
    <dgm:pt modelId="{20DC5649-B805-BE49-A5B3-B2C19A5DCD2E}" type="parTrans" cxnId="{D9CEC529-92C5-6D4A-BF6E-36936BC6451C}">
      <dgm:prSet/>
      <dgm:spPr/>
      <dgm:t>
        <a:bodyPr/>
        <a:lstStyle/>
        <a:p>
          <a:endParaRPr lang="en-US"/>
        </a:p>
      </dgm:t>
    </dgm:pt>
    <dgm:pt modelId="{B11F1DC3-04B1-9A4A-AC4D-FE9A92ED77C2}" type="sibTrans" cxnId="{D9CEC529-92C5-6D4A-BF6E-36936BC6451C}">
      <dgm:prSet/>
      <dgm:spPr/>
      <dgm:t>
        <a:bodyPr/>
        <a:lstStyle/>
        <a:p>
          <a:endParaRPr lang="en-US"/>
        </a:p>
      </dgm:t>
    </dgm:pt>
    <dgm:pt modelId="{7603B473-DBD5-E145-8681-67EDBA9B6B4B}">
      <dgm:prSet phldrT="[Text]"/>
      <dgm:spPr>
        <a:solidFill>
          <a:schemeClr val="tx1"/>
        </a:solidFill>
      </dgm:spPr>
      <dgm:t>
        <a:bodyPr/>
        <a:lstStyle/>
        <a:p>
          <a:pPr algn="ctr"/>
          <a:r>
            <a:rPr lang="en-US" b="0">
              <a:latin typeface="Avenir Next LT Pro" panose="020B0504020202020204" pitchFamily="34" charset="77"/>
            </a:rPr>
            <a:t>Demand Model</a:t>
          </a:r>
        </a:p>
      </dgm:t>
    </dgm:pt>
    <dgm:pt modelId="{EA094F26-ABD1-A746-808E-FF865DE2F039}" type="parTrans" cxnId="{48FFD7B5-374A-2B43-A78C-C2FF1C3E20D1}">
      <dgm:prSet/>
      <dgm:spPr/>
      <dgm:t>
        <a:bodyPr/>
        <a:lstStyle/>
        <a:p>
          <a:endParaRPr lang="en-US"/>
        </a:p>
      </dgm:t>
    </dgm:pt>
    <dgm:pt modelId="{6108CCC8-64CD-2642-9492-C5914C8FBAFD}" type="sibTrans" cxnId="{48FFD7B5-374A-2B43-A78C-C2FF1C3E20D1}">
      <dgm:prSet/>
      <dgm:spPr/>
      <dgm:t>
        <a:bodyPr/>
        <a:lstStyle/>
        <a:p>
          <a:endParaRPr lang="en-US"/>
        </a:p>
      </dgm:t>
    </dgm:pt>
    <dgm:pt modelId="{3BFDE67B-7FE9-0E4A-9F76-970A8D89C425}">
      <dgm:prSet phldrT="[Text]"/>
      <dgm:spPr>
        <a:solidFill>
          <a:schemeClr val="tx1"/>
        </a:solidFill>
      </dgm:spPr>
      <dgm:t>
        <a:bodyPr lIns="0" rIns="365760"/>
        <a:lstStyle/>
        <a:p>
          <a:pPr algn="ctr"/>
          <a:r>
            <a:rPr lang="en-US" b="0" i="0">
              <a:latin typeface="Avenir Next LT Pro" panose="020B0504020202020204" pitchFamily="34" charset="77"/>
            </a:rPr>
            <a:t>Product Features</a:t>
          </a:r>
        </a:p>
      </dgm:t>
    </dgm:pt>
    <dgm:pt modelId="{16068524-A248-BD45-9834-8DE9B8CA2E61}" type="parTrans" cxnId="{21122F98-9D00-0740-9514-19138D07000E}">
      <dgm:prSet/>
      <dgm:spPr/>
      <dgm:t>
        <a:bodyPr/>
        <a:lstStyle/>
        <a:p>
          <a:endParaRPr lang="en-US"/>
        </a:p>
      </dgm:t>
    </dgm:pt>
    <dgm:pt modelId="{55D0ECF1-3CA7-B540-9A2E-C4C752DC41E2}" type="sibTrans" cxnId="{21122F98-9D00-0740-9514-19138D07000E}">
      <dgm:prSet/>
      <dgm:spPr/>
      <dgm:t>
        <a:bodyPr/>
        <a:lstStyle/>
        <a:p>
          <a:endParaRPr lang="en-US"/>
        </a:p>
      </dgm:t>
    </dgm:pt>
    <dgm:pt modelId="{4082BFF7-60B1-8340-B9CA-E5DE81EF2D7F}">
      <dgm:prSet phldrT="[Text]"/>
      <dgm:spPr>
        <a:solidFill>
          <a:srgbClr val="A9C861"/>
        </a:solidFill>
      </dgm:spPr>
      <dgm:t>
        <a:bodyPr/>
        <a:lstStyle/>
        <a:p>
          <a:pPr algn="ctr"/>
          <a:r>
            <a:rPr lang="en-US" b="1">
              <a:latin typeface="Avenir Next LT Pro" panose="020B0504020202020204" pitchFamily="34" charset="77"/>
            </a:rPr>
            <a:t>Pricing Analysis</a:t>
          </a:r>
        </a:p>
      </dgm:t>
    </dgm:pt>
    <dgm:pt modelId="{B19E2420-F6A5-2D40-B4CA-5BF003B22A24}" type="parTrans" cxnId="{7902F54F-6874-3D4B-8356-E78F7E4FBDEA}">
      <dgm:prSet/>
      <dgm:spPr/>
      <dgm:t>
        <a:bodyPr/>
        <a:lstStyle/>
        <a:p>
          <a:endParaRPr lang="en-US"/>
        </a:p>
      </dgm:t>
    </dgm:pt>
    <dgm:pt modelId="{4C6FEC2A-FFAD-D140-8695-0F34C0997235}" type="sibTrans" cxnId="{7902F54F-6874-3D4B-8356-E78F7E4FBDEA}">
      <dgm:prSet/>
      <dgm:spPr/>
      <dgm:t>
        <a:bodyPr/>
        <a:lstStyle/>
        <a:p>
          <a:endParaRPr lang="en-US"/>
        </a:p>
      </dgm:t>
    </dgm:pt>
    <dgm:pt modelId="{15AD007E-50C9-3A41-B63C-9F1269A07150}">
      <dgm:prSet phldrT="[Text]"/>
      <dgm:spPr>
        <a:solidFill>
          <a:schemeClr val="tx1"/>
        </a:solidFill>
      </dgm:spPr>
      <dgm:t>
        <a:bodyPr/>
        <a:lstStyle/>
        <a:p>
          <a:pPr algn="ctr"/>
          <a:r>
            <a:rPr lang="en-US" b="0">
              <a:latin typeface="Avenir Next LT Pro" panose="020B0504020202020204" pitchFamily="34" charset="77"/>
            </a:rPr>
            <a:t>Competitive Positioning</a:t>
          </a:r>
        </a:p>
      </dgm:t>
    </dgm:pt>
    <dgm:pt modelId="{FB720988-3BC0-BC40-AC19-A407023D3A3F}" type="parTrans" cxnId="{076651F1-3CBE-8B44-9EAF-3072FB514B00}">
      <dgm:prSet/>
      <dgm:spPr/>
      <dgm:t>
        <a:bodyPr/>
        <a:lstStyle/>
        <a:p>
          <a:endParaRPr lang="en-US"/>
        </a:p>
      </dgm:t>
    </dgm:pt>
    <dgm:pt modelId="{4312D9F1-C78C-6C40-BAE4-DCEB223E208D}" type="sibTrans" cxnId="{076651F1-3CBE-8B44-9EAF-3072FB514B00}">
      <dgm:prSet/>
      <dgm:spPr/>
      <dgm:t>
        <a:bodyPr/>
        <a:lstStyle/>
        <a:p>
          <a:endParaRPr lang="en-US"/>
        </a:p>
      </dgm:t>
    </dgm:pt>
    <dgm:pt modelId="{AFFECF99-DE3A-3E48-AD82-DE0C632542DC}" type="pres">
      <dgm:prSet presAssocID="{0BE8AFBC-BA5B-F444-ACAE-FE11352C6385}" presName="Name0" presStyleCnt="0">
        <dgm:presLayoutVars>
          <dgm:dir/>
          <dgm:resizeHandles val="exact"/>
        </dgm:presLayoutVars>
      </dgm:prSet>
      <dgm:spPr/>
    </dgm:pt>
    <dgm:pt modelId="{75FC1705-EFC2-DC49-974C-4082D5F688A4}" type="pres">
      <dgm:prSet presAssocID="{8EEE2B7E-FEA8-2841-9330-D657670BA65A}" presName="parTxOnly" presStyleLbl="node1" presStyleIdx="0" presStyleCnt="5" custScaleX="143173" custScaleY="86006">
        <dgm:presLayoutVars>
          <dgm:bulletEnabled val="1"/>
        </dgm:presLayoutVars>
      </dgm:prSet>
      <dgm:spPr/>
    </dgm:pt>
    <dgm:pt modelId="{2398453E-8F02-0146-8831-DA24307367AE}" type="pres">
      <dgm:prSet presAssocID="{B11F1DC3-04B1-9A4A-AC4D-FE9A92ED77C2}" presName="parSpace" presStyleCnt="0"/>
      <dgm:spPr/>
    </dgm:pt>
    <dgm:pt modelId="{A579A29D-F228-A346-A356-4129FDEB43D1}" type="pres">
      <dgm:prSet presAssocID="{7603B473-DBD5-E145-8681-67EDBA9B6B4B}" presName="parTxOnly" presStyleLbl="node1" presStyleIdx="1" presStyleCnt="5" custScaleX="141611" custLinFactNeighborX="42167" custLinFactNeighborY="-3443">
        <dgm:presLayoutVars>
          <dgm:bulletEnabled val="1"/>
        </dgm:presLayoutVars>
      </dgm:prSet>
      <dgm:spPr/>
    </dgm:pt>
    <dgm:pt modelId="{DB65CB43-07E1-4543-8C77-94A5F96A140B}" type="pres">
      <dgm:prSet presAssocID="{6108CCC8-64CD-2642-9492-C5914C8FBAFD}" presName="parSpace" presStyleCnt="0"/>
      <dgm:spPr/>
    </dgm:pt>
    <dgm:pt modelId="{038E0549-03A2-F141-8066-7E8027D67BD7}" type="pres">
      <dgm:prSet presAssocID="{3BFDE67B-7FE9-0E4A-9F76-970A8D89C425}" presName="parTxOnly" presStyleLbl="node1" presStyleIdx="2" presStyleCnt="5" custScaleX="147710" custLinFactNeighborX="86349" custLinFactNeighborY="10239">
        <dgm:presLayoutVars>
          <dgm:bulletEnabled val="1"/>
        </dgm:presLayoutVars>
      </dgm:prSet>
      <dgm:spPr/>
    </dgm:pt>
    <dgm:pt modelId="{0DB84E49-AAA6-D64E-BCD6-7A84EF50CA10}" type="pres">
      <dgm:prSet presAssocID="{55D0ECF1-3CA7-B540-9A2E-C4C752DC41E2}" presName="parSpace" presStyleCnt="0"/>
      <dgm:spPr/>
    </dgm:pt>
    <dgm:pt modelId="{24AB1D94-B983-3E4D-8325-3ECF8523D4B7}" type="pres">
      <dgm:prSet presAssocID="{4082BFF7-60B1-8340-B9CA-E5DE81EF2D7F}" presName="parTxOnly" presStyleLbl="node1" presStyleIdx="3" presStyleCnt="5" custScaleX="145793" custScaleY="81791">
        <dgm:presLayoutVars>
          <dgm:bulletEnabled val="1"/>
        </dgm:presLayoutVars>
      </dgm:prSet>
      <dgm:spPr/>
    </dgm:pt>
    <dgm:pt modelId="{69D94FB2-8235-364E-888B-BE0BA7925B18}" type="pres">
      <dgm:prSet presAssocID="{4C6FEC2A-FFAD-D140-8695-0F34C0997235}" presName="parSpace" presStyleCnt="0"/>
      <dgm:spPr/>
    </dgm:pt>
    <dgm:pt modelId="{56ACEC28-C922-6D47-8B9F-4D4130B130BD}" type="pres">
      <dgm:prSet presAssocID="{15AD007E-50C9-3A41-B63C-9F1269A07150}" presName="parTxOnly" presStyleLbl="node1" presStyleIdx="4" presStyleCnt="5" custScaleX="146721" custScaleY="95099">
        <dgm:presLayoutVars>
          <dgm:bulletEnabled val="1"/>
        </dgm:presLayoutVars>
      </dgm:prSet>
      <dgm:spPr/>
    </dgm:pt>
  </dgm:ptLst>
  <dgm:cxnLst>
    <dgm:cxn modelId="{489F4308-C2EA-AF49-A439-DB41AF134AA4}" type="presOf" srcId="{15AD007E-50C9-3A41-B63C-9F1269A07150}" destId="{56ACEC28-C922-6D47-8B9F-4D4130B130BD}" srcOrd="0" destOrd="0" presId="urn:microsoft.com/office/officeart/2005/8/layout/hChevron3"/>
    <dgm:cxn modelId="{AF587C1E-276E-F642-B989-2AEE7B81FA4C}" type="presOf" srcId="{0BE8AFBC-BA5B-F444-ACAE-FE11352C6385}" destId="{AFFECF99-DE3A-3E48-AD82-DE0C632542DC}" srcOrd="0" destOrd="0" presId="urn:microsoft.com/office/officeart/2005/8/layout/hChevron3"/>
    <dgm:cxn modelId="{D9CEC529-92C5-6D4A-BF6E-36936BC6451C}" srcId="{0BE8AFBC-BA5B-F444-ACAE-FE11352C6385}" destId="{8EEE2B7E-FEA8-2841-9330-D657670BA65A}" srcOrd="0" destOrd="0" parTransId="{20DC5649-B805-BE49-A5B3-B2C19A5DCD2E}" sibTransId="{B11F1DC3-04B1-9A4A-AC4D-FE9A92ED77C2}"/>
    <dgm:cxn modelId="{4F516336-8F35-CB41-B289-DA52B405732A}" type="presOf" srcId="{4082BFF7-60B1-8340-B9CA-E5DE81EF2D7F}" destId="{24AB1D94-B983-3E4D-8325-3ECF8523D4B7}" srcOrd="0" destOrd="0" presId="urn:microsoft.com/office/officeart/2005/8/layout/hChevron3"/>
    <dgm:cxn modelId="{6CE8F943-1439-F147-9F9B-03081E4E41DF}" type="presOf" srcId="{7603B473-DBD5-E145-8681-67EDBA9B6B4B}" destId="{A579A29D-F228-A346-A356-4129FDEB43D1}" srcOrd="0" destOrd="0" presId="urn:microsoft.com/office/officeart/2005/8/layout/hChevron3"/>
    <dgm:cxn modelId="{7902F54F-6874-3D4B-8356-E78F7E4FBDEA}" srcId="{0BE8AFBC-BA5B-F444-ACAE-FE11352C6385}" destId="{4082BFF7-60B1-8340-B9CA-E5DE81EF2D7F}" srcOrd="3" destOrd="0" parTransId="{B19E2420-F6A5-2D40-B4CA-5BF003B22A24}" sibTransId="{4C6FEC2A-FFAD-D140-8695-0F34C0997235}"/>
    <dgm:cxn modelId="{8D0F4674-0157-0A40-8A2B-15C64C2BBF2F}" type="presOf" srcId="{3BFDE67B-7FE9-0E4A-9F76-970A8D89C425}" destId="{038E0549-03A2-F141-8066-7E8027D67BD7}" srcOrd="0" destOrd="0" presId="urn:microsoft.com/office/officeart/2005/8/layout/hChevron3"/>
    <dgm:cxn modelId="{53D33E86-03E0-BA44-8C65-2735ADBF9B43}" type="presOf" srcId="{8EEE2B7E-FEA8-2841-9330-D657670BA65A}" destId="{75FC1705-EFC2-DC49-974C-4082D5F688A4}" srcOrd="0" destOrd="0" presId="urn:microsoft.com/office/officeart/2005/8/layout/hChevron3"/>
    <dgm:cxn modelId="{21122F98-9D00-0740-9514-19138D07000E}" srcId="{0BE8AFBC-BA5B-F444-ACAE-FE11352C6385}" destId="{3BFDE67B-7FE9-0E4A-9F76-970A8D89C425}" srcOrd="2" destOrd="0" parTransId="{16068524-A248-BD45-9834-8DE9B8CA2E61}" sibTransId="{55D0ECF1-3CA7-B540-9A2E-C4C752DC41E2}"/>
    <dgm:cxn modelId="{48FFD7B5-374A-2B43-A78C-C2FF1C3E20D1}" srcId="{0BE8AFBC-BA5B-F444-ACAE-FE11352C6385}" destId="{7603B473-DBD5-E145-8681-67EDBA9B6B4B}" srcOrd="1" destOrd="0" parTransId="{EA094F26-ABD1-A746-808E-FF865DE2F039}" sibTransId="{6108CCC8-64CD-2642-9492-C5914C8FBAFD}"/>
    <dgm:cxn modelId="{076651F1-3CBE-8B44-9EAF-3072FB514B00}" srcId="{0BE8AFBC-BA5B-F444-ACAE-FE11352C6385}" destId="{15AD007E-50C9-3A41-B63C-9F1269A07150}" srcOrd="4" destOrd="0" parTransId="{FB720988-3BC0-BC40-AC19-A407023D3A3F}" sibTransId="{4312D9F1-C78C-6C40-BAE4-DCEB223E208D}"/>
    <dgm:cxn modelId="{69264297-14AB-5845-A915-DFDDF79C8F67}" type="presParOf" srcId="{AFFECF99-DE3A-3E48-AD82-DE0C632542DC}" destId="{75FC1705-EFC2-DC49-974C-4082D5F688A4}" srcOrd="0" destOrd="0" presId="urn:microsoft.com/office/officeart/2005/8/layout/hChevron3"/>
    <dgm:cxn modelId="{BE304EB2-3A94-8148-9E3F-A59D7EBAE284}" type="presParOf" srcId="{AFFECF99-DE3A-3E48-AD82-DE0C632542DC}" destId="{2398453E-8F02-0146-8831-DA24307367AE}" srcOrd="1" destOrd="0" presId="urn:microsoft.com/office/officeart/2005/8/layout/hChevron3"/>
    <dgm:cxn modelId="{E40FC876-8DC9-0A4D-B904-9F098EDFEEAF}" type="presParOf" srcId="{AFFECF99-DE3A-3E48-AD82-DE0C632542DC}" destId="{A579A29D-F228-A346-A356-4129FDEB43D1}" srcOrd="2" destOrd="0" presId="urn:microsoft.com/office/officeart/2005/8/layout/hChevron3"/>
    <dgm:cxn modelId="{606C3D10-20C5-654B-B663-158B40BE97B7}" type="presParOf" srcId="{AFFECF99-DE3A-3E48-AD82-DE0C632542DC}" destId="{DB65CB43-07E1-4543-8C77-94A5F96A140B}" srcOrd="3" destOrd="0" presId="urn:microsoft.com/office/officeart/2005/8/layout/hChevron3"/>
    <dgm:cxn modelId="{39A7B751-01D7-8A43-A0C3-A6632CA84664}" type="presParOf" srcId="{AFFECF99-DE3A-3E48-AD82-DE0C632542DC}" destId="{038E0549-03A2-F141-8066-7E8027D67BD7}" srcOrd="4" destOrd="0" presId="urn:microsoft.com/office/officeart/2005/8/layout/hChevron3"/>
    <dgm:cxn modelId="{61EE2288-EFE7-1243-B521-9B5BDE197A82}" type="presParOf" srcId="{AFFECF99-DE3A-3E48-AD82-DE0C632542DC}" destId="{0DB84E49-AAA6-D64E-BCD6-7A84EF50CA10}" srcOrd="5" destOrd="0" presId="urn:microsoft.com/office/officeart/2005/8/layout/hChevron3"/>
    <dgm:cxn modelId="{2E4F581F-ADC7-6A46-B145-07E20692C400}" type="presParOf" srcId="{AFFECF99-DE3A-3E48-AD82-DE0C632542DC}" destId="{24AB1D94-B983-3E4D-8325-3ECF8523D4B7}" srcOrd="6" destOrd="0" presId="urn:microsoft.com/office/officeart/2005/8/layout/hChevron3"/>
    <dgm:cxn modelId="{7EAB5BFC-0641-E944-8444-6DF3103D886D}" type="presParOf" srcId="{AFFECF99-DE3A-3E48-AD82-DE0C632542DC}" destId="{69D94FB2-8235-364E-888B-BE0BA7925B18}" srcOrd="7" destOrd="0" presId="urn:microsoft.com/office/officeart/2005/8/layout/hChevron3"/>
    <dgm:cxn modelId="{188A5C24-3983-FD40-BDC0-5B86C28F08BB}" type="presParOf" srcId="{AFFECF99-DE3A-3E48-AD82-DE0C632542DC}" destId="{56ACEC28-C922-6D47-8B9F-4D4130B130BD}" srcOrd="8"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1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BE8AFBC-BA5B-F444-ACAE-FE11352C6385}" type="doc">
      <dgm:prSet loTypeId="urn:microsoft.com/office/officeart/2005/8/layout/hChevron3" loCatId="" qsTypeId="urn:microsoft.com/office/officeart/2005/8/quickstyle/simple1" qsCatId="simple" csTypeId="urn:microsoft.com/office/officeart/2005/8/colors/accent1_2" csCatId="accent1" phldr="1"/>
      <dgm:spPr/>
      <dgm:t>
        <a:bodyPr/>
        <a:lstStyle/>
        <a:p>
          <a:endParaRPr lang="en-US"/>
        </a:p>
      </dgm:t>
    </dgm:pt>
    <dgm:pt modelId="{8EEE2B7E-FEA8-2841-9330-D657670BA65A}">
      <dgm:prSet phldrT="[Text]"/>
      <dgm:spPr>
        <a:solidFill>
          <a:schemeClr val="tx1"/>
        </a:solidFill>
      </dgm:spPr>
      <dgm:t>
        <a:bodyPr/>
        <a:lstStyle/>
        <a:p>
          <a:pPr algn="ctr"/>
          <a:r>
            <a:rPr lang="en-US" b="0">
              <a:latin typeface="Avenir Next LT Pro" panose="020B0504020202020204" pitchFamily="34" charset="77"/>
            </a:rPr>
            <a:t>Industry Background</a:t>
          </a:r>
        </a:p>
      </dgm:t>
    </dgm:pt>
    <dgm:pt modelId="{20DC5649-B805-BE49-A5B3-B2C19A5DCD2E}" type="parTrans" cxnId="{D9CEC529-92C5-6D4A-BF6E-36936BC6451C}">
      <dgm:prSet/>
      <dgm:spPr/>
      <dgm:t>
        <a:bodyPr/>
        <a:lstStyle/>
        <a:p>
          <a:endParaRPr lang="en-US"/>
        </a:p>
      </dgm:t>
    </dgm:pt>
    <dgm:pt modelId="{B11F1DC3-04B1-9A4A-AC4D-FE9A92ED77C2}" type="sibTrans" cxnId="{D9CEC529-92C5-6D4A-BF6E-36936BC6451C}">
      <dgm:prSet/>
      <dgm:spPr/>
      <dgm:t>
        <a:bodyPr/>
        <a:lstStyle/>
        <a:p>
          <a:endParaRPr lang="en-US"/>
        </a:p>
      </dgm:t>
    </dgm:pt>
    <dgm:pt modelId="{7603B473-DBD5-E145-8681-67EDBA9B6B4B}">
      <dgm:prSet phldrT="[Text]"/>
      <dgm:spPr>
        <a:solidFill>
          <a:schemeClr val="tx1"/>
        </a:solidFill>
      </dgm:spPr>
      <dgm:t>
        <a:bodyPr/>
        <a:lstStyle/>
        <a:p>
          <a:pPr algn="ctr"/>
          <a:r>
            <a:rPr lang="en-US" b="0">
              <a:latin typeface="Avenir Next LT Pro" panose="020B0504020202020204" pitchFamily="34" charset="77"/>
            </a:rPr>
            <a:t>Demand Model</a:t>
          </a:r>
        </a:p>
      </dgm:t>
    </dgm:pt>
    <dgm:pt modelId="{EA094F26-ABD1-A746-808E-FF865DE2F039}" type="parTrans" cxnId="{48FFD7B5-374A-2B43-A78C-C2FF1C3E20D1}">
      <dgm:prSet/>
      <dgm:spPr/>
      <dgm:t>
        <a:bodyPr/>
        <a:lstStyle/>
        <a:p>
          <a:endParaRPr lang="en-US"/>
        </a:p>
      </dgm:t>
    </dgm:pt>
    <dgm:pt modelId="{6108CCC8-64CD-2642-9492-C5914C8FBAFD}" type="sibTrans" cxnId="{48FFD7B5-374A-2B43-A78C-C2FF1C3E20D1}">
      <dgm:prSet/>
      <dgm:spPr/>
      <dgm:t>
        <a:bodyPr/>
        <a:lstStyle/>
        <a:p>
          <a:endParaRPr lang="en-US"/>
        </a:p>
      </dgm:t>
    </dgm:pt>
    <dgm:pt modelId="{3BFDE67B-7FE9-0E4A-9F76-970A8D89C425}">
      <dgm:prSet phldrT="[Text]"/>
      <dgm:spPr>
        <a:solidFill>
          <a:schemeClr val="tx1"/>
        </a:solidFill>
      </dgm:spPr>
      <dgm:t>
        <a:bodyPr lIns="0" rIns="365760"/>
        <a:lstStyle/>
        <a:p>
          <a:pPr algn="ctr"/>
          <a:r>
            <a:rPr lang="en-US" b="0" i="0">
              <a:latin typeface="Avenir Next LT Pro" panose="020B0504020202020204" pitchFamily="34" charset="77"/>
            </a:rPr>
            <a:t>Product Features</a:t>
          </a:r>
        </a:p>
      </dgm:t>
    </dgm:pt>
    <dgm:pt modelId="{16068524-A248-BD45-9834-8DE9B8CA2E61}" type="parTrans" cxnId="{21122F98-9D00-0740-9514-19138D07000E}">
      <dgm:prSet/>
      <dgm:spPr/>
      <dgm:t>
        <a:bodyPr/>
        <a:lstStyle/>
        <a:p>
          <a:endParaRPr lang="en-US"/>
        </a:p>
      </dgm:t>
    </dgm:pt>
    <dgm:pt modelId="{55D0ECF1-3CA7-B540-9A2E-C4C752DC41E2}" type="sibTrans" cxnId="{21122F98-9D00-0740-9514-19138D07000E}">
      <dgm:prSet/>
      <dgm:spPr/>
      <dgm:t>
        <a:bodyPr/>
        <a:lstStyle/>
        <a:p>
          <a:endParaRPr lang="en-US"/>
        </a:p>
      </dgm:t>
    </dgm:pt>
    <dgm:pt modelId="{4082BFF7-60B1-8340-B9CA-E5DE81EF2D7F}">
      <dgm:prSet phldrT="[Text]"/>
      <dgm:spPr>
        <a:solidFill>
          <a:schemeClr val="tx1"/>
        </a:solidFill>
      </dgm:spPr>
      <dgm:t>
        <a:bodyPr/>
        <a:lstStyle/>
        <a:p>
          <a:pPr algn="ctr"/>
          <a:r>
            <a:rPr lang="en-US" b="0">
              <a:latin typeface="Avenir Next LT Pro" panose="020B0504020202020204" pitchFamily="34" charset="77"/>
            </a:rPr>
            <a:t>Pricing Analysis</a:t>
          </a:r>
        </a:p>
      </dgm:t>
    </dgm:pt>
    <dgm:pt modelId="{B19E2420-F6A5-2D40-B4CA-5BF003B22A24}" type="parTrans" cxnId="{7902F54F-6874-3D4B-8356-E78F7E4FBDEA}">
      <dgm:prSet/>
      <dgm:spPr/>
      <dgm:t>
        <a:bodyPr/>
        <a:lstStyle/>
        <a:p>
          <a:endParaRPr lang="en-US"/>
        </a:p>
      </dgm:t>
    </dgm:pt>
    <dgm:pt modelId="{4C6FEC2A-FFAD-D140-8695-0F34C0997235}" type="sibTrans" cxnId="{7902F54F-6874-3D4B-8356-E78F7E4FBDEA}">
      <dgm:prSet/>
      <dgm:spPr/>
      <dgm:t>
        <a:bodyPr/>
        <a:lstStyle/>
        <a:p>
          <a:endParaRPr lang="en-US"/>
        </a:p>
      </dgm:t>
    </dgm:pt>
    <dgm:pt modelId="{15AD007E-50C9-3A41-B63C-9F1269A07150}">
      <dgm:prSet phldrT="[Text]"/>
      <dgm:spPr>
        <a:solidFill>
          <a:srgbClr val="A9C861"/>
        </a:solidFill>
      </dgm:spPr>
      <dgm:t>
        <a:bodyPr/>
        <a:lstStyle/>
        <a:p>
          <a:pPr algn="ctr"/>
          <a:r>
            <a:rPr lang="en-US" b="1">
              <a:latin typeface="Avenir Next LT Pro" panose="020B0504020202020204" pitchFamily="34" charset="77"/>
            </a:rPr>
            <a:t>Competitive Positioning</a:t>
          </a:r>
        </a:p>
      </dgm:t>
    </dgm:pt>
    <dgm:pt modelId="{FB720988-3BC0-BC40-AC19-A407023D3A3F}" type="parTrans" cxnId="{076651F1-3CBE-8B44-9EAF-3072FB514B00}">
      <dgm:prSet/>
      <dgm:spPr/>
      <dgm:t>
        <a:bodyPr/>
        <a:lstStyle/>
        <a:p>
          <a:endParaRPr lang="en-US"/>
        </a:p>
      </dgm:t>
    </dgm:pt>
    <dgm:pt modelId="{4312D9F1-C78C-6C40-BAE4-DCEB223E208D}" type="sibTrans" cxnId="{076651F1-3CBE-8B44-9EAF-3072FB514B00}">
      <dgm:prSet/>
      <dgm:spPr/>
      <dgm:t>
        <a:bodyPr/>
        <a:lstStyle/>
        <a:p>
          <a:endParaRPr lang="en-US"/>
        </a:p>
      </dgm:t>
    </dgm:pt>
    <dgm:pt modelId="{AFFECF99-DE3A-3E48-AD82-DE0C632542DC}" type="pres">
      <dgm:prSet presAssocID="{0BE8AFBC-BA5B-F444-ACAE-FE11352C6385}" presName="Name0" presStyleCnt="0">
        <dgm:presLayoutVars>
          <dgm:dir/>
          <dgm:resizeHandles val="exact"/>
        </dgm:presLayoutVars>
      </dgm:prSet>
      <dgm:spPr/>
    </dgm:pt>
    <dgm:pt modelId="{75FC1705-EFC2-DC49-974C-4082D5F688A4}" type="pres">
      <dgm:prSet presAssocID="{8EEE2B7E-FEA8-2841-9330-D657670BA65A}" presName="parTxOnly" presStyleLbl="node1" presStyleIdx="0" presStyleCnt="5" custScaleX="143173" custScaleY="86006">
        <dgm:presLayoutVars>
          <dgm:bulletEnabled val="1"/>
        </dgm:presLayoutVars>
      </dgm:prSet>
      <dgm:spPr/>
    </dgm:pt>
    <dgm:pt modelId="{2398453E-8F02-0146-8831-DA24307367AE}" type="pres">
      <dgm:prSet presAssocID="{B11F1DC3-04B1-9A4A-AC4D-FE9A92ED77C2}" presName="parSpace" presStyleCnt="0"/>
      <dgm:spPr/>
    </dgm:pt>
    <dgm:pt modelId="{A579A29D-F228-A346-A356-4129FDEB43D1}" type="pres">
      <dgm:prSet presAssocID="{7603B473-DBD5-E145-8681-67EDBA9B6B4B}" presName="parTxOnly" presStyleLbl="node1" presStyleIdx="1" presStyleCnt="5" custScaleX="141611" custLinFactNeighborX="42167" custLinFactNeighborY="-3443">
        <dgm:presLayoutVars>
          <dgm:bulletEnabled val="1"/>
        </dgm:presLayoutVars>
      </dgm:prSet>
      <dgm:spPr/>
    </dgm:pt>
    <dgm:pt modelId="{DB65CB43-07E1-4543-8C77-94A5F96A140B}" type="pres">
      <dgm:prSet presAssocID="{6108CCC8-64CD-2642-9492-C5914C8FBAFD}" presName="parSpace" presStyleCnt="0"/>
      <dgm:spPr/>
    </dgm:pt>
    <dgm:pt modelId="{038E0549-03A2-F141-8066-7E8027D67BD7}" type="pres">
      <dgm:prSet presAssocID="{3BFDE67B-7FE9-0E4A-9F76-970A8D89C425}" presName="parTxOnly" presStyleLbl="node1" presStyleIdx="2" presStyleCnt="5" custScaleX="147710" custLinFactNeighborX="86349" custLinFactNeighborY="10239">
        <dgm:presLayoutVars>
          <dgm:bulletEnabled val="1"/>
        </dgm:presLayoutVars>
      </dgm:prSet>
      <dgm:spPr/>
    </dgm:pt>
    <dgm:pt modelId="{0DB84E49-AAA6-D64E-BCD6-7A84EF50CA10}" type="pres">
      <dgm:prSet presAssocID="{55D0ECF1-3CA7-B540-9A2E-C4C752DC41E2}" presName="parSpace" presStyleCnt="0"/>
      <dgm:spPr/>
    </dgm:pt>
    <dgm:pt modelId="{24AB1D94-B983-3E4D-8325-3ECF8523D4B7}" type="pres">
      <dgm:prSet presAssocID="{4082BFF7-60B1-8340-B9CA-E5DE81EF2D7F}" presName="parTxOnly" presStyleLbl="node1" presStyleIdx="3" presStyleCnt="5" custScaleX="145793" custScaleY="81791">
        <dgm:presLayoutVars>
          <dgm:bulletEnabled val="1"/>
        </dgm:presLayoutVars>
      </dgm:prSet>
      <dgm:spPr/>
    </dgm:pt>
    <dgm:pt modelId="{69D94FB2-8235-364E-888B-BE0BA7925B18}" type="pres">
      <dgm:prSet presAssocID="{4C6FEC2A-FFAD-D140-8695-0F34C0997235}" presName="parSpace" presStyleCnt="0"/>
      <dgm:spPr/>
    </dgm:pt>
    <dgm:pt modelId="{56ACEC28-C922-6D47-8B9F-4D4130B130BD}" type="pres">
      <dgm:prSet presAssocID="{15AD007E-50C9-3A41-B63C-9F1269A07150}" presName="parTxOnly" presStyleLbl="node1" presStyleIdx="4" presStyleCnt="5" custScaleX="171661" custScaleY="95099">
        <dgm:presLayoutVars>
          <dgm:bulletEnabled val="1"/>
        </dgm:presLayoutVars>
      </dgm:prSet>
      <dgm:spPr/>
    </dgm:pt>
  </dgm:ptLst>
  <dgm:cxnLst>
    <dgm:cxn modelId="{489F4308-C2EA-AF49-A439-DB41AF134AA4}" type="presOf" srcId="{15AD007E-50C9-3A41-B63C-9F1269A07150}" destId="{56ACEC28-C922-6D47-8B9F-4D4130B130BD}" srcOrd="0" destOrd="0" presId="urn:microsoft.com/office/officeart/2005/8/layout/hChevron3"/>
    <dgm:cxn modelId="{AF587C1E-276E-F642-B989-2AEE7B81FA4C}" type="presOf" srcId="{0BE8AFBC-BA5B-F444-ACAE-FE11352C6385}" destId="{AFFECF99-DE3A-3E48-AD82-DE0C632542DC}" srcOrd="0" destOrd="0" presId="urn:microsoft.com/office/officeart/2005/8/layout/hChevron3"/>
    <dgm:cxn modelId="{D9CEC529-92C5-6D4A-BF6E-36936BC6451C}" srcId="{0BE8AFBC-BA5B-F444-ACAE-FE11352C6385}" destId="{8EEE2B7E-FEA8-2841-9330-D657670BA65A}" srcOrd="0" destOrd="0" parTransId="{20DC5649-B805-BE49-A5B3-B2C19A5DCD2E}" sibTransId="{B11F1DC3-04B1-9A4A-AC4D-FE9A92ED77C2}"/>
    <dgm:cxn modelId="{4F516336-8F35-CB41-B289-DA52B405732A}" type="presOf" srcId="{4082BFF7-60B1-8340-B9CA-E5DE81EF2D7F}" destId="{24AB1D94-B983-3E4D-8325-3ECF8523D4B7}" srcOrd="0" destOrd="0" presId="urn:microsoft.com/office/officeart/2005/8/layout/hChevron3"/>
    <dgm:cxn modelId="{6CE8F943-1439-F147-9F9B-03081E4E41DF}" type="presOf" srcId="{7603B473-DBD5-E145-8681-67EDBA9B6B4B}" destId="{A579A29D-F228-A346-A356-4129FDEB43D1}" srcOrd="0" destOrd="0" presId="urn:microsoft.com/office/officeart/2005/8/layout/hChevron3"/>
    <dgm:cxn modelId="{7902F54F-6874-3D4B-8356-E78F7E4FBDEA}" srcId="{0BE8AFBC-BA5B-F444-ACAE-FE11352C6385}" destId="{4082BFF7-60B1-8340-B9CA-E5DE81EF2D7F}" srcOrd="3" destOrd="0" parTransId="{B19E2420-F6A5-2D40-B4CA-5BF003B22A24}" sibTransId="{4C6FEC2A-FFAD-D140-8695-0F34C0997235}"/>
    <dgm:cxn modelId="{8D0F4674-0157-0A40-8A2B-15C64C2BBF2F}" type="presOf" srcId="{3BFDE67B-7FE9-0E4A-9F76-970A8D89C425}" destId="{038E0549-03A2-F141-8066-7E8027D67BD7}" srcOrd="0" destOrd="0" presId="urn:microsoft.com/office/officeart/2005/8/layout/hChevron3"/>
    <dgm:cxn modelId="{53D33E86-03E0-BA44-8C65-2735ADBF9B43}" type="presOf" srcId="{8EEE2B7E-FEA8-2841-9330-D657670BA65A}" destId="{75FC1705-EFC2-DC49-974C-4082D5F688A4}" srcOrd="0" destOrd="0" presId="urn:microsoft.com/office/officeart/2005/8/layout/hChevron3"/>
    <dgm:cxn modelId="{21122F98-9D00-0740-9514-19138D07000E}" srcId="{0BE8AFBC-BA5B-F444-ACAE-FE11352C6385}" destId="{3BFDE67B-7FE9-0E4A-9F76-970A8D89C425}" srcOrd="2" destOrd="0" parTransId="{16068524-A248-BD45-9834-8DE9B8CA2E61}" sibTransId="{55D0ECF1-3CA7-B540-9A2E-C4C752DC41E2}"/>
    <dgm:cxn modelId="{48FFD7B5-374A-2B43-A78C-C2FF1C3E20D1}" srcId="{0BE8AFBC-BA5B-F444-ACAE-FE11352C6385}" destId="{7603B473-DBD5-E145-8681-67EDBA9B6B4B}" srcOrd="1" destOrd="0" parTransId="{EA094F26-ABD1-A746-808E-FF865DE2F039}" sibTransId="{6108CCC8-64CD-2642-9492-C5914C8FBAFD}"/>
    <dgm:cxn modelId="{076651F1-3CBE-8B44-9EAF-3072FB514B00}" srcId="{0BE8AFBC-BA5B-F444-ACAE-FE11352C6385}" destId="{15AD007E-50C9-3A41-B63C-9F1269A07150}" srcOrd="4" destOrd="0" parTransId="{FB720988-3BC0-BC40-AC19-A407023D3A3F}" sibTransId="{4312D9F1-C78C-6C40-BAE4-DCEB223E208D}"/>
    <dgm:cxn modelId="{69264297-14AB-5845-A915-DFDDF79C8F67}" type="presParOf" srcId="{AFFECF99-DE3A-3E48-AD82-DE0C632542DC}" destId="{75FC1705-EFC2-DC49-974C-4082D5F688A4}" srcOrd="0" destOrd="0" presId="urn:microsoft.com/office/officeart/2005/8/layout/hChevron3"/>
    <dgm:cxn modelId="{BE304EB2-3A94-8148-9E3F-A59D7EBAE284}" type="presParOf" srcId="{AFFECF99-DE3A-3E48-AD82-DE0C632542DC}" destId="{2398453E-8F02-0146-8831-DA24307367AE}" srcOrd="1" destOrd="0" presId="urn:microsoft.com/office/officeart/2005/8/layout/hChevron3"/>
    <dgm:cxn modelId="{E40FC876-8DC9-0A4D-B904-9F098EDFEEAF}" type="presParOf" srcId="{AFFECF99-DE3A-3E48-AD82-DE0C632542DC}" destId="{A579A29D-F228-A346-A356-4129FDEB43D1}" srcOrd="2" destOrd="0" presId="urn:microsoft.com/office/officeart/2005/8/layout/hChevron3"/>
    <dgm:cxn modelId="{606C3D10-20C5-654B-B663-158B40BE97B7}" type="presParOf" srcId="{AFFECF99-DE3A-3E48-AD82-DE0C632542DC}" destId="{DB65CB43-07E1-4543-8C77-94A5F96A140B}" srcOrd="3" destOrd="0" presId="urn:microsoft.com/office/officeart/2005/8/layout/hChevron3"/>
    <dgm:cxn modelId="{39A7B751-01D7-8A43-A0C3-A6632CA84664}" type="presParOf" srcId="{AFFECF99-DE3A-3E48-AD82-DE0C632542DC}" destId="{038E0549-03A2-F141-8066-7E8027D67BD7}" srcOrd="4" destOrd="0" presId="urn:microsoft.com/office/officeart/2005/8/layout/hChevron3"/>
    <dgm:cxn modelId="{61EE2288-EFE7-1243-B521-9B5BDE197A82}" type="presParOf" srcId="{AFFECF99-DE3A-3E48-AD82-DE0C632542DC}" destId="{0DB84E49-AAA6-D64E-BCD6-7A84EF50CA10}" srcOrd="5" destOrd="0" presId="urn:microsoft.com/office/officeart/2005/8/layout/hChevron3"/>
    <dgm:cxn modelId="{2E4F581F-ADC7-6A46-B145-07E20692C400}" type="presParOf" srcId="{AFFECF99-DE3A-3E48-AD82-DE0C632542DC}" destId="{24AB1D94-B983-3E4D-8325-3ECF8523D4B7}" srcOrd="6" destOrd="0" presId="urn:microsoft.com/office/officeart/2005/8/layout/hChevron3"/>
    <dgm:cxn modelId="{7EAB5BFC-0641-E944-8444-6DF3103D886D}" type="presParOf" srcId="{AFFECF99-DE3A-3E48-AD82-DE0C632542DC}" destId="{69D94FB2-8235-364E-888B-BE0BA7925B18}" srcOrd="7" destOrd="0" presId="urn:microsoft.com/office/officeart/2005/8/layout/hChevron3"/>
    <dgm:cxn modelId="{188A5C24-3983-FD40-BDC0-5B86C28F08BB}" type="presParOf" srcId="{AFFECF99-DE3A-3E48-AD82-DE0C632542DC}" destId="{56ACEC28-C922-6D47-8B9F-4D4130B130BD}" srcOrd="8" destOrd="0" presId="urn:microsoft.com/office/officeart/2005/8/layout/hChevron3"/>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C1705-EFC2-DC49-974C-4082D5F688A4}">
      <dsp:nvSpPr>
        <dsp:cNvPr id="0" name=""/>
        <dsp:cNvSpPr/>
      </dsp:nvSpPr>
      <dsp:spPr>
        <a:xfrm>
          <a:off x="268" y="0"/>
          <a:ext cx="2448281" cy="298215"/>
        </a:xfrm>
        <a:prstGeom prst="homePlate">
          <a:avLst/>
        </a:prstGeom>
        <a:solidFill>
          <a:srgbClr val="A9C86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1" kern="1200">
              <a:latin typeface="Avenir Next LT Pro" panose="020B0504020202020204" pitchFamily="34" charset="77"/>
            </a:rPr>
            <a:t>Industry Background</a:t>
          </a:r>
        </a:p>
      </dsp:txBody>
      <dsp:txXfrm>
        <a:off x="268" y="0"/>
        <a:ext cx="2373727" cy="298215"/>
      </dsp:txXfrm>
    </dsp:sp>
    <dsp:sp modelId="{A579A29D-F228-A346-A356-4129FDEB43D1}">
      <dsp:nvSpPr>
        <dsp:cNvPr id="0" name=""/>
        <dsp:cNvSpPr/>
      </dsp:nvSpPr>
      <dsp:spPr>
        <a:xfrm>
          <a:off x="2250759" y="0"/>
          <a:ext cx="2421571"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Demand Model</a:t>
          </a:r>
        </a:p>
      </dsp:txBody>
      <dsp:txXfrm>
        <a:off x="2399867" y="0"/>
        <a:ext cx="2123356" cy="298215"/>
      </dsp:txXfrm>
    </dsp:sp>
    <dsp:sp modelId="{038E0549-03A2-F141-8066-7E8027D67BD7}">
      <dsp:nvSpPr>
        <dsp:cNvPr id="0" name=""/>
        <dsp:cNvSpPr/>
      </dsp:nvSpPr>
      <dsp:spPr>
        <a:xfrm>
          <a:off x="4481431" y="0"/>
          <a:ext cx="2525865"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005" rIns="365760" bIns="40005" numCol="1" spcCol="1270" anchor="ctr" anchorCtr="0">
          <a:noAutofit/>
        </a:bodyPr>
        <a:lstStyle/>
        <a:p>
          <a:pPr marL="0" lvl="0" indent="0" algn="ctr" defTabSz="666750">
            <a:lnSpc>
              <a:spcPct val="90000"/>
            </a:lnSpc>
            <a:spcBef>
              <a:spcPct val="0"/>
            </a:spcBef>
            <a:spcAft>
              <a:spcPct val="35000"/>
            </a:spcAft>
            <a:buNone/>
          </a:pPr>
          <a:r>
            <a:rPr lang="en-US" sz="1500" b="0" i="0" kern="1200">
              <a:latin typeface="Avenir Next LT Pro" panose="020B0504020202020204" pitchFamily="34" charset="77"/>
            </a:rPr>
            <a:t>Product Features</a:t>
          </a:r>
        </a:p>
      </dsp:txBody>
      <dsp:txXfrm>
        <a:off x="4630539" y="0"/>
        <a:ext cx="2227650" cy="298215"/>
      </dsp:txXfrm>
    </dsp:sp>
    <dsp:sp modelId="{24AB1D94-B983-3E4D-8325-3ECF8523D4B7}">
      <dsp:nvSpPr>
        <dsp:cNvPr id="0" name=""/>
        <dsp:cNvSpPr/>
      </dsp:nvSpPr>
      <dsp:spPr>
        <a:xfrm>
          <a:off x="6369976" y="0"/>
          <a:ext cx="2493084"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Pricing Analysis</a:t>
          </a:r>
        </a:p>
      </dsp:txBody>
      <dsp:txXfrm>
        <a:off x="6519084" y="0"/>
        <a:ext cx="2194869" cy="298215"/>
      </dsp:txXfrm>
    </dsp:sp>
    <dsp:sp modelId="{56ACEC28-C922-6D47-8B9F-4D4130B130BD}">
      <dsp:nvSpPr>
        <dsp:cNvPr id="0" name=""/>
        <dsp:cNvSpPr/>
      </dsp:nvSpPr>
      <dsp:spPr>
        <a:xfrm>
          <a:off x="8521057" y="0"/>
          <a:ext cx="2508953"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Competitive Positioning</a:t>
          </a:r>
        </a:p>
      </dsp:txBody>
      <dsp:txXfrm>
        <a:off x="8670165" y="0"/>
        <a:ext cx="2210738" cy="2982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C1705-EFC2-DC49-974C-4082D5F688A4}">
      <dsp:nvSpPr>
        <dsp:cNvPr id="0" name=""/>
        <dsp:cNvSpPr/>
      </dsp:nvSpPr>
      <dsp:spPr>
        <a:xfrm>
          <a:off x="268" y="0"/>
          <a:ext cx="2448281" cy="298215"/>
        </a:xfrm>
        <a:prstGeom prst="homePlate">
          <a:avLst/>
        </a:prstGeom>
        <a:solidFill>
          <a:srgbClr val="A9C86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1" kern="1200">
              <a:latin typeface="Avenir Next LT Pro" panose="020B0504020202020204" pitchFamily="34" charset="77"/>
            </a:rPr>
            <a:t>Industry Background</a:t>
          </a:r>
        </a:p>
      </dsp:txBody>
      <dsp:txXfrm>
        <a:off x="268" y="0"/>
        <a:ext cx="2373727" cy="298215"/>
      </dsp:txXfrm>
    </dsp:sp>
    <dsp:sp modelId="{A579A29D-F228-A346-A356-4129FDEB43D1}">
      <dsp:nvSpPr>
        <dsp:cNvPr id="0" name=""/>
        <dsp:cNvSpPr/>
      </dsp:nvSpPr>
      <dsp:spPr>
        <a:xfrm>
          <a:off x="2250759" y="0"/>
          <a:ext cx="2421571"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Demand Model</a:t>
          </a:r>
        </a:p>
      </dsp:txBody>
      <dsp:txXfrm>
        <a:off x="2399867" y="0"/>
        <a:ext cx="2123356" cy="298215"/>
      </dsp:txXfrm>
    </dsp:sp>
    <dsp:sp modelId="{038E0549-03A2-F141-8066-7E8027D67BD7}">
      <dsp:nvSpPr>
        <dsp:cNvPr id="0" name=""/>
        <dsp:cNvSpPr/>
      </dsp:nvSpPr>
      <dsp:spPr>
        <a:xfrm>
          <a:off x="4481431" y="0"/>
          <a:ext cx="2525865"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005" rIns="365760" bIns="40005" numCol="1" spcCol="1270" anchor="ctr" anchorCtr="0">
          <a:noAutofit/>
        </a:bodyPr>
        <a:lstStyle/>
        <a:p>
          <a:pPr marL="0" lvl="0" indent="0" algn="ctr" defTabSz="666750">
            <a:lnSpc>
              <a:spcPct val="90000"/>
            </a:lnSpc>
            <a:spcBef>
              <a:spcPct val="0"/>
            </a:spcBef>
            <a:spcAft>
              <a:spcPct val="35000"/>
            </a:spcAft>
            <a:buNone/>
          </a:pPr>
          <a:r>
            <a:rPr lang="en-US" sz="1500" b="0" i="0" kern="1200">
              <a:latin typeface="Avenir Next LT Pro" panose="020B0504020202020204" pitchFamily="34" charset="77"/>
            </a:rPr>
            <a:t>Product Features</a:t>
          </a:r>
        </a:p>
      </dsp:txBody>
      <dsp:txXfrm>
        <a:off x="4630539" y="0"/>
        <a:ext cx="2227650" cy="298215"/>
      </dsp:txXfrm>
    </dsp:sp>
    <dsp:sp modelId="{24AB1D94-B983-3E4D-8325-3ECF8523D4B7}">
      <dsp:nvSpPr>
        <dsp:cNvPr id="0" name=""/>
        <dsp:cNvSpPr/>
      </dsp:nvSpPr>
      <dsp:spPr>
        <a:xfrm>
          <a:off x="6369976" y="0"/>
          <a:ext cx="2493084"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Pricing Analysis</a:t>
          </a:r>
        </a:p>
      </dsp:txBody>
      <dsp:txXfrm>
        <a:off x="6519084" y="0"/>
        <a:ext cx="2194869" cy="298215"/>
      </dsp:txXfrm>
    </dsp:sp>
    <dsp:sp modelId="{56ACEC28-C922-6D47-8B9F-4D4130B130BD}">
      <dsp:nvSpPr>
        <dsp:cNvPr id="0" name=""/>
        <dsp:cNvSpPr/>
      </dsp:nvSpPr>
      <dsp:spPr>
        <a:xfrm>
          <a:off x="8521057" y="0"/>
          <a:ext cx="2508953"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Competitive Positioning</a:t>
          </a:r>
        </a:p>
      </dsp:txBody>
      <dsp:txXfrm>
        <a:off x="8670165" y="0"/>
        <a:ext cx="2210738" cy="2982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C1705-EFC2-DC49-974C-4082D5F688A4}">
      <dsp:nvSpPr>
        <dsp:cNvPr id="0" name=""/>
        <dsp:cNvSpPr/>
      </dsp:nvSpPr>
      <dsp:spPr>
        <a:xfrm>
          <a:off x="268" y="0"/>
          <a:ext cx="2448281" cy="298215"/>
        </a:xfrm>
        <a:prstGeom prst="homePlate">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Industry Background</a:t>
          </a:r>
        </a:p>
      </dsp:txBody>
      <dsp:txXfrm>
        <a:off x="268" y="0"/>
        <a:ext cx="2373727" cy="298215"/>
      </dsp:txXfrm>
    </dsp:sp>
    <dsp:sp modelId="{A579A29D-F228-A346-A356-4129FDEB43D1}">
      <dsp:nvSpPr>
        <dsp:cNvPr id="0" name=""/>
        <dsp:cNvSpPr/>
      </dsp:nvSpPr>
      <dsp:spPr>
        <a:xfrm>
          <a:off x="2250759" y="0"/>
          <a:ext cx="2421571" cy="298215"/>
        </a:xfrm>
        <a:prstGeom prst="chevron">
          <a:avLst/>
        </a:prstGeom>
        <a:solidFill>
          <a:srgbClr val="A9C86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1" kern="1200">
              <a:latin typeface="Avenir Next LT Pro" panose="020B0504020202020204" pitchFamily="34" charset="77"/>
            </a:rPr>
            <a:t>Demand Model</a:t>
          </a:r>
        </a:p>
      </dsp:txBody>
      <dsp:txXfrm>
        <a:off x="2399867" y="0"/>
        <a:ext cx="2123356" cy="298215"/>
      </dsp:txXfrm>
    </dsp:sp>
    <dsp:sp modelId="{038E0549-03A2-F141-8066-7E8027D67BD7}">
      <dsp:nvSpPr>
        <dsp:cNvPr id="0" name=""/>
        <dsp:cNvSpPr/>
      </dsp:nvSpPr>
      <dsp:spPr>
        <a:xfrm>
          <a:off x="4481431" y="0"/>
          <a:ext cx="2525865"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005" rIns="365760" bIns="40005" numCol="1" spcCol="1270" anchor="ctr" anchorCtr="0">
          <a:noAutofit/>
        </a:bodyPr>
        <a:lstStyle/>
        <a:p>
          <a:pPr marL="0" lvl="0" indent="0" algn="ctr" defTabSz="666750">
            <a:lnSpc>
              <a:spcPct val="90000"/>
            </a:lnSpc>
            <a:spcBef>
              <a:spcPct val="0"/>
            </a:spcBef>
            <a:spcAft>
              <a:spcPct val="35000"/>
            </a:spcAft>
            <a:buNone/>
          </a:pPr>
          <a:r>
            <a:rPr lang="en-US" sz="1500" b="0" i="0" kern="1200">
              <a:latin typeface="Avenir Next LT Pro" panose="020B0504020202020204" pitchFamily="34" charset="77"/>
            </a:rPr>
            <a:t>Product Features</a:t>
          </a:r>
        </a:p>
      </dsp:txBody>
      <dsp:txXfrm>
        <a:off x="4630539" y="0"/>
        <a:ext cx="2227650" cy="298215"/>
      </dsp:txXfrm>
    </dsp:sp>
    <dsp:sp modelId="{24AB1D94-B983-3E4D-8325-3ECF8523D4B7}">
      <dsp:nvSpPr>
        <dsp:cNvPr id="0" name=""/>
        <dsp:cNvSpPr/>
      </dsp:nvSpPr>
      <dsp:spPr>
        <a:xfrm>
          <a:off x="6369976" y="0"/>
          <a:ext cx="2493084"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Pricing Analysis</a:t>
          </a:r>
        </a:p>
      </dsp:txBody>
      <dsp:txXfrm>
        <a:off x="6519084" y="0"/>
        <a:ext cx="2194869" cy="298215"/>
      </dsp:txXfrm>
    </dsp:sp>
    <dsp:sp modelId="{56ACEC28-C922-6D47-8B9F-4D4130B130BD}">
      <dsp:nvSpPr>
        <dsp:cNvPr id="0" name=""/>
        <dsp:cNvSpPr/>
      </dsp:nvSpPr>
      <dsp:spPr>
        <a:xfrm>
          <a:off x="8521057" y="0"/>
          <a:ext cx="2508953"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Competitive Positioning</a:t>
          </a:r>
        </a:p>
      </dsp:txBody>
      <dsp:txXfrm>
        <a:off x="8670165" y="0"/>
        <a:ext cx="2210738" cy="2982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C1705-EFC2-DC49-974C-4082D5F688A4}">
      <dsp:nvSpPr>
        <dsp:cNvPr id="0" name=""/>
        <dsp:cNvSpPr/>
      </dsp:nvSpPr>
      <dsp:spPr>
        <a:xfrm>
          <a:off x="268" y="0"/>
          <a:ext cx="2448281" cy="298215"/>
        </a:xfrm>
        <a:prstGeom prst="homePlate">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dirty="0">
              <a:latin typeface="Avenir Next LT Pro" panose="020B0504020202020204" pitchFamily="34" charset="77"/>
            </a:rPr>
            <a:t>Industry Background</a:t>
          </a:r>
        </a:p>
      </dsp:txBody>
      <dsp:txXfrm>
        <a:off x="268" y="0"/>
        <a:ext cx="2373727" cy="298215"/>
      </dsp:txXfrm>
    </dsp:sp>
    <dsp:sp modelId="{A579A29D-F228-A346-A356-4129FDEB43D1}">
      <dsp:nvSpPr>
        <dsp:cNvPr id="0" name=""/>
        <dsp:cNvSpPr/>
      </dsp:nvSpPr>
      <dsp:spPr>
        <a:xfrm>
          <a:off x="2250759" y="0"/>
          <a:ext cx="2421571"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dirty="0">
              <a:latin typeface="Avenir Next LT Pro" panose="020B0504020202020204" pitchFamily="34" charset="77"/>
            </a:rPr>
            <a:t>Demand Model</a:t>
          </a:r>
        </a:p>
      </dsp:txBody>
      <dsp:txXfrm>
        <a:off x="2399867" y="0"/>
        <a:ext cx="2123356" cy="298215"/>
      </dsp:txXfrm>
    </dsp:sp>
    <dsp:sp modelId="{038E0549-03A2-F141-8066-7E8027D67BD7}">
      <dsp:nvSpPr>
        <dsp:cNvPr id="0" name=""/>
        <dsp:cNvSpPr/>
      </dsp:nvSpPr>
      <dsp:spPr>
        <a:xfrm>
          <a:off x="4481431" y="0"/>
          <a:ext cx="2525865" cy="298215"/>
        </a:xfrm>
        <a:prstGeom prst="chevron">
          <a:avLst/>
        </a:prstGeom>
        <a:solidFill>
          <a:srgbClr val="A9C86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005" rIns="365760" bIns="40005" numCol="1" spcCol="1270" anchor="ctr" anchorCtr="0">
          <a:noAutofit/>
        </a:bodyPr>
        <a:lstStyle/>
        <a:p>
          <a:pPr marL="0" lvl="0" indent="0" algn="ctr" defTabSz="666750">
            <a:lnSpc>
              <a:spcPct val="90000"/>
            </a:lnSpc>
            <a:spcBef>
              <a:spcPct val="0"/>
            </a:spcBef>
            <a:spcAft>
              <a:spcPct val="35000"/>
            </a:spcAft>
            <a:buNone/>
          </a:pPr>
          <a:r>
            <a:rPr lang="en-US" sz="1500" b="1" i="0" kern="1200" dirty="0">
              <a:latin typeface="Avenir Next LT Pro" panose="020B0504020202020204" pitchFamily="34" charset="77"/>
            </a:rPr>
            <a:t>Product Features</a:t>
          </a:r>
        </a:p>
      </dsp:txBody>
      <dsp:txXfrm>
        <a:off x="4630539" y="0"/>
        <a:ext cx="2227650" cy="298215"/>
      </dsp:txXfrm>
    </dsp:sp>
    <dsp:sp modelId="{24AB1D94-B983-3E4D-8325-3ECF8523D4B7}">
      <dsp:nvSpPr>
        <dsp:cNvPr id="0" name=""/>
        <dsp:cNvSpPr/>
      </dsp:nvSpPr>
      <dsp:spPr>
        <a:xfrm>
          <a:off x="6369976" y="0"/>
          <a:ext cx="2493084"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dirty="0">
              <a:latin typeface="Avenir Next LT Pro" panose="020B0504020202020204" pitchFamily="34" charset="77"/>
            </a:rPr>
            <a:t>Pricing Analysis</a:t>
          </a:r>
        </a:p>
      </dsp:txBody>
      <dsp:txXfrm>
        <a:off x="6519084" y="0"/>
        <a:ext cx="2194869" cy="298215"/>
      </dsp:txXfrm>
    </dsp:sp>
    <dsp:sp modelId="{56ACEC28-C922-6D47-8B9F-4D4130B130BD}">
      <dsp:nvSpPr>
        <dsp:cNvPr id="0" name=""/>
        <dsp:cNvSpPr/>
      </dsp:nvSpPr>
      <dsp:spPr>
        <a:xfrm>
          <a:off x="8521057" y="0"/>
          <a:ext cx="2508953"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dirty="0">
              <a:latin typeface="Avenir Next LT Pro" panose="020B0504020202020204" pitchFamily="34" charset="77"/>
            </a:rPr>
            <a:t>Competitive Positioning</a:t>
          </a:r>
        </a:p>
      </dsp:txBody>
      <dsp:txXfrm>
        <a:off x="8670165" y="0"/>
        <a:ext cx="2210738" cy="2982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C1705-EFC2-DC49-974C-4082D5F688A4}">
      <dsp:nvSpPr>
        <dsp:cNvPr id="0" name=""/>
        <dsp:cNvSpPr/>
      </dsp:nvSpPr>
      <dsp:spPr>
        <a:xfrm>
          <a:off x="268" y="0"/>
          <a:ext cx="2448281" cy="298215"/>
        </a:xfrm>
        <a:prstGeom prst="homePlate">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Industry Background</a:t>
          </a:r>
        </a:p>
      </dsp:txBody>
      <dsp:txXfrm>
        <a:off x="268" y="0"/>
        <a:ext cx="2373727" cy="298215"/>
      </dsp:txXfrm>
    </dsp:sp>
    <dsp:sp modelId="{A579A29D-F228-A346-A356-4129FDEB43D1}">
      <dsp:nvSpPr>
        <dsp:cNvPr id="0" name=""/>
        <dsp:cNvSpPr/>
      </dsp:nvSpPr>
      <dsp:spPr>
        <a:xfrm>
          <a:off x="2250759" y="0"/>
          <a:ext cx="2421571"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Demand Model</a:t>
          </a:r>
        </a:p>
      </dsp:txBody>
      <dsp:txXfrm>
        <a:off x="2399867" y="0"/>
        <a:ext cx="2123356" cy="298215"/>
      </dsp:txXfrm>
    </dsp:sp>
    <dsp:sp modelId="{038E0549-03A2-F141-8066-7E8027D67BD7}">
      <dsp:nvSpPr>
        <dsp:cNvPr id="0" name=""/>
        <dsp:cNvSpPr/>
      </dsp:nvSpPr>
      <dsp:spPr>
        <a:xfrm>
          <a:off x="4481431" y="0"/>
          <a:ext cx="2525865"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005" rIns="365760" bIns="40005" numCol="1" spcCol="1270" anchor="ctr" anchorCtr="0">
          <a:noAutofit/>
        </a:bodyPr>
        <a:lstStyle/>
        <a:p>
          <a:pPr marL="0" lvl="0" indent="0" algn="ctr" defTabSz="666750">
            <a:lnSpc>
              <a:spcPct val="90000"/>
            </a:lnSpc>
            <a:spcBef>
              <a:spcPct val="0"/>
            </a:spcBef>
            <a:spcAft>
              <a:spcPct val="35000"/>
            </a:spcAft>
            <a:buNone/>
          </a:pPr>
          <a:r>
            <a:rPr lang="en-US" sz="1500" b="0" i="0" kern="1200">
              <a:latin typeface="Avenir Next LT Pro" panose="020B0504020202020204" pitchFamily="34" charset="77"/>
            </a:rPr>
            <a:t>Product Features</a:t>
          </a:r>
        </a:p>
      </dsp:txBody>
      <dsp:txXfrm>
        <a:off x="4630539" y="0"/>
        <a:ext cx="2227650" cy="298215"/>
      </dsp:txXfrm>
    </dsp:sp>
    <dsp:sp modelId="{24AB1D94-B983-3E4D-8325-3ECF8523D4B7}">
      <dsp:nvSpPr>
        <dsp:cNvPr id="0" name=""/>
        <dsp:cNvSpPr/>
      </dsp:nvSpPr>
      <dsp:spPr>
        <a:xfrm>
          <a:off x="6369976" y="0"/>
          <a:ext cx="2493084" cy="298215"/>
        </a:xfrm>
        <a:prstGeom prst="chevron">
          <a:avLst/>
        </a:prstGeom>
        <a:solidFill>
          <a:srgbClr val="A9C86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1" kern="1200">
              <a:latin typeface="Avenir Next LT Pro" panose="020B0504020202020204" pitchFamily="34" charset="77"/>
            </a:rPr>
            <a:t>Pricing Analysis</a:t>
          </a:r>
        </a:p>
      </dsp:txBody>
      <dsp:txXfrm>
        <a:off x="6519084" y="0"/>
        <a:ext cx="2194869" cy="298215"/>
      </dsp:txXfrm>
    </dsp:sp>
    <dsp:sp modelId="{56ACEC28-C922-6D47-8B9F-4D4130B130BD}">
      <dsp:nvSpPr>
        <dsp:cNvPr id="0" name=""/>
        <dsp:cNvSpPr/>
      </dsp:nvSpPr>
      <dsp:spPr>
        <a:xfrm>
          <a:off x="8521057" y="0"/>
          <a:ext cx="2508953"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Competitive Positioning</a:t>
          </a:r>
        </a:p>
      </dsp:txBody>
      <dsp:txXfrm>
        <a:off x="8670165" y="0"/>
        <a:ext cx="2210738" cy="29821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FC1705-EFC2-DC49-974C-4082D5F688A4}">
      <dsp:nvSpPr>
        <dsp:cNvPr id="0" name=""/>
        <dsp:cNvSpPr/>
      </dsp:nvSpPr>
      <dsp:spPr>
        <a:xfrm>
          <a:off x="3524" y="0"/>
          <a:ext cx="2355748" cy="298215"/>
        </a:xfrm>
        <a:prstGeom prst="homePlate">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Industry Background</a:t>
          </a:r>
        </a:p>
      </dsp:txBody>
      <dsp:txXfrm>
        <a:off x="3524" y="0"/>
        <a:ext cx="2281194" cy="298215"/>
      </dsp:txXfrm>
    </dsp:sp>
    <dsp:sp modelId="{A579A29D-F228-A346-A356-4129FDEB43D1}">
      <dsp:nvSpPr>
        <dsp:cNvPr id="0" name=""/>
        <dsp:cNvSpPr/>
      </dsp:nvSpPr>
      <dsp:spPr>
        <a:xfrm>
          <a:off x="2168957" y="0"/>
          <a:ext cx="2330047"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Demand Model</a:t>
          </a:r>
        </a:p>
      </dsp:txBody>
      <dsp:txXfrm>
        <a:off x="2318065" y="0"/>
        <a:ext cx="2031832" cy="298215"/>
      </dsp:txXfrm>
    </dsp:sp>
    <dsp:sp modelId="{038E0549-03A2-F141-8066-7E8027D67BD7}">
      <dsp:nvSpPr>
        <dsp:cNvPr id="0" name=""/>
        <dsp:cNvSpPr/>
      </dsp:nvSpPr>
      <dsp:spPr>
        <a:xfrm>
          <a:off x="4315320" y="0"/>
          <a:ext cx="2430399"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40005" rIns="365760" bIns="40005" numCol="1" spcCol="1270" anchor="ctr" anchorCtr="0">
          <a:noAutofit/>
        </a:bodyPr>
        <a:lstStyle/>
        <a:p>
          <a:pPr marL="0" lvl="0" indent="0" algn="ctr" defTabSz="666750">
            <a:lnSpc>
              <a:spcPct val="90000"/>
            </a:lnSpc>
            <a:spcBef>
              <a:spcPct val="0"/>
            </a:spcBef>
            <a:spcAft>
              <a:spcPct val="35000"/>
            </a:spcAft>
            <a:buNone/>
          </a:pPr>
          <a:r>
            <a:rPr lang="en-US" sz="1500" b="0" i="0" kern="1200">
              <a:latin typeface="Avenir Next LT Pro" panose="020B0504020202020204" pitchFamily="34" charset="77"/>
            </a:rPr>
            <a:t>Product Features</a:t>
          </a:r>
        </a:p>
      </dsp:txBody>
      <dsp:txXfrm>
        <a:off x="4464428" y="0"/>
        <a:ext cx="2132184" cy="298215"/>
      </dsp:txXfrm>
    </dsp:sp>
    <dsp:sp modelId="{24AB1D94-B983-3E4D-8325-3ECF8523D4B7}">
      <dsp:nvSpPr>
        <dsp:cNvPr id="0" name=""/>
        <dsp:cNvSpPr/>
      </dsp:nvSpPr>
      <dsp:spPr>
        <a:xfrm>
          <a:off x="6132488" y="0"/>
          <a:ext cx="2398857" cy="298215"/>
        </a:xfrm>
        <a:prstGeom prst="chevron">
          <a:avLst/>
        </a:prstGeom>
        <a:solidFill>
          <a:schemeClr val="tx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0" kern="1200">
              <a:latin typeface="Avenir Next LT Pro" panose="020B0504020202020204" pitchFamily="34" charset="77"/>
            </a:rPr>
            <a:t>Pricing Analysis</a:t>
          </a:r>
        </a:p>
      </dsp:txBody>
      <dsp:txXfrm>
        <a:off x="6281596" y="0"/>
        <a:ext cx="2100642" cy="298215"/>
      </dsp:txXfrm>
    </dsp:sp>
    <dsp:sp modelId="{56ACEC28-C922-6D47-8B9F-4D4130B130BD}">
      <dsp:nvSpPr>
        <dsp:cNvPr id="0" name=""/>
        <dsp:cNvSpPr/>
      </dsp:nvSpPr>
      <dsp:spPr>
        <a:xfrm>
          <a:off x="8202268" y="0"/>
          <a:ext cx="2824485" cy="298215"/>
        </a:xfrm>
        <a:prstGeom prst="chevron">
          <a:avLst/>
        </a:prstGeom>
        <a:solidFill>
          <a:srgbClr val="A9C861"/>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007"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b="1" kern="1200">
              <a:latin typeface="Avenir Next LT Pro" panose="020B0504020202020204" pitchFamily="34" charset="77"/>
            </a:rPr>
            <a:t>Competitive Positioning</a:t>
          </a:r>
        </a:p>
      </dsp:txBody>
      <dsp:txXfrm>
        <a:off x="8351376" y="0"/>
        <a:ext cx="2526270" cy="298215"/>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B1B355-F843-7942-9205-1B493E6AC2A0}" type="datetimeFigureOut">
              <a:rPr lang="en-US" smtClean="0"/>
              <a:t>4/26/26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29E05-DE76-C340-A769-D6D22C825F61}" type="slidenum">
              <a:rPr lang="en-US" smtClean="0"/>
              <a:t>‹#›</a:t>
            </a:fld>
            <a:endParaRPr lang="en-US"/>
          </a:p>
        </p:txBody>
      </p:sp>
    </p:spTree>
    <p:extLst>
      <p:ext uri="{BB962C8B-B14F-4D97-AF65-F5344CB8AC3E}">
        <p14:creationId xmlns:p14="http://schemas.microsoft.com/office/powerpoint/2010/main" val="14648096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A8E9F86-370A-2D43-83D7-D6B65A986616}" type="slidenum">
              <a:rPr lang="en-US" smtClean="0"/>
              <a:t>2</a:t>
            </a:fld>
            <a:endParaRPr lang="en-US"/>
          </a:p>
        </p:txBody>
      </p:sp>
    </p:spTree>
    <p:extLst>
      <p:ext uri="{BB962C8B-B14F-4D97-AF65-F5344CB8AC3E}">
        <p14:creationId xmlns:p14="http://schemas.microsoft.com/office/powerpoint/2010/main" val="6661363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83F8639-5BB9-AA47-BFCE-C6D17BAA8BE0}" type="slidenum">
              <a:rPr lang="en-US" smtClean="0"/>
              <a:t>3</a:t>
            </a:fld>
            <a:endParaRPr lang="en-US"/>
          </a:p>
        </p:txBody>
      </p:sp>
    </p:spTree>
    <p:extLst>
      <p:ext uri="{BB962C8B-B14F-4D97-AF65-F5344CB8AC3E}">
        <p14:creationId xmlns:p14="http://schemas.microsoft.com/office/powerpoint/2010/main" val="3884079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63888-AD03-6293-4ED8-B24D80DBD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DA64E-B345-7F83-1D4E-255B3314C0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273828-83D2-6673-355F-594B466CA8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CFD74C-5809-C803-8EE5-29B2C3794A9F}"/>
              </a:ext>
            </a:extLst>
          </p:cNvPr>
          <p:cNvSpPr>
            <a:spLocks noGrp="1"/>
          </p:cNvSpPr>
          <p:nvPr>
            <p:ph type="sldNum" sz="quarter" idx="5"/>
          </p:nvPr>
        </p:nvSpPr>
        <p:spPr/>
        <p:txBody>
          <a:bodyPr/>
          <a:lstStyle/>
          <a:p>
            <a:fld id="{F83F8639-5BB9-AA47-BFCE-C6D17BAA8BE0}" type="slidenum">
              <a:rPr lang="en-US" smtClean="0"/>
              <a:t>4</a:t>
            </a:fld>
            <a:endParaRPr lang="en-US"/>
          </a:p>
        </p:txBody>
      </p:sp>
    </p:spTree>
    <p:extLst>
      <p:ext uri="{BB962C8B-B14F-4D97-AF65-F5344CB8AC3E}">
        <p14:creationId xmlns:p14="http://schemas.microsoft.com/office/powerpoint/2010/main" val="4989641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B13A3-06B0-5575-4010-E213D84E0A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6AB8DF-0148-815C-AFA0-382FFB7792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DE2DDA-FC25-DD7F-4B25-0BB14650FD0E}"/>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5" name="Footer Placeholder 4">
            <a:extLst>
              <a:ext uri="{FF2B5EF4-FFF2-40B4-BE49-F238E27FC236}">
                <a16:creationId xmlns:a16="http://schemas.microsoft.com/office/drawing/2014/main" id="{34D77477-9829-2CFF-F87F-EA5E5FDDA8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2D6C27-9F8A-2800-0E07-E3BCBD8EFA11}"/>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2687163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41982-F5A2-1624-22FD-96336D45CD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918E09-DCC5-7466-251B-102ED2B562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FAFF27-4D4D-6754-A246-7FB6D3CD9B4F}"/>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5" name="Footer Placeholder 4">
            <a:extLst>
              <a:ext uri="{FF2B5EF4-FFF2-40B4-BE49-F238E27FC236}">
                <a16:creationId xmlns:a16="http://schemas.microsoft.com/office/drawing/2014/main" id="{CBFFA23C-91D8-A064-1CEE-DC48C898BE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523F0-CFC8-F984-4B88-43F9FA7F855A}"/>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3112312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C7834-7F3C-2DA1-8E7B-113FAD98E9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346CCA-2AD3-8519-B2F4-A6703E35E12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90432D-84BE-CCB0-14A1-BC3F70B78B91}"/>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5" name="Footer Placeholder 4">
            <a:extLst>
              <a:ext uri="{FF2B5EF4-FFF2-40B4-BE49-F238E27FC236}">
                <a16:creationId xmlns:a16="http://schemas.microsoft.com/office/drawing/2014/main" id="{084C7DEC-4BFF-D5FB-C60E-F452F16847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5E5DE6-7DB9-6ABE-E98D-9AA8742B0331}"/>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1949532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6CAFC-F063-7D53-7430-2B82AA8598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F45CAD0-A4DC-0ED7-739F-4F254FCAE5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5E0199-DA0A-0BAB-F03E-4B7CCDA1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C05DCA3-5A47-CE0D-D466-D2FD6838E86E}"/>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6" name="Footer Placeholder 5">
            <a:extLst>
              <a:ext uri="{FF2B5EF4-FFF2-40B4-BE49-F238E27FC236}">
                <a16:creationId xmlns:a16="http://schemas.microsoft.com/office/drawing/2014/main" id="{FD54E5D4-206B-4598-91A8-F1561843D2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43A083-89DC-9575-AF42-46FD863322A6}"/>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890886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F74DE-435D-BD09-FB4A-69815B6997B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FCA580-EE84-1EF6-A661-60BD3D4D38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D47109-5895-8D28-17A0-7D21710613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5ACA197-ABCD-A486-4244-E8F9797764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9A1089-B287-E347-4A87-9DA1D11832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0CE449-48BB-136D-FD9E-23FC3B8AA402}"/>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8" name="Footer Placeholder 7">
            <a:extLst>
              <a:ext uri="{FF2B5EF4-FFF2-40B4-BE49-F238E27FC236}">
                <a16:creationId xmlns:a16="http://schemas.microsoft.com/office/drawing/2014/main" id="{ADC1E79E-563A-2D3B-A3AA-C1C028FDCB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8A8A83-4FA7-502B-64A9-1E9CEBABE707}"/>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3603832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B84B8-6DFF-FE0E-5F11-C92A7587463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F7B067C-38C9-2696-4492-B0FB956CC734}"/>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4" name="Footer Placeholder 3">
            <a:extLst>
              <a:ext uri="{FF2B5EF4-FFF2-40B4-BE49-F238E27FC236}">
                <a16:creationId xmlns:a16="http://schemas.microsoft.com/office/drawing/2014/main" id="{C4CD70BE-AE02-BB06-0363-5FD6A8E21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BCDAC4-DE1C-13DB-1F2F-0E91889DBC22}"/>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1005483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FD2A1DF-0D33-6289-25E3-6CEF48CA5D2B}"/>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3" name="Footer Placeholder 2">
            <a:extLst>
              <a:ext uri="{FF2B5EF4-FFF2-40B4-BE49-F238E27FC236}">
                <a16:creationId xmlns:a16="http://schemas.microsoft.com/office/drawing/2014/main" id="{4F89F38C-BC02-0A7C-BD50-CC66D1E311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B14620-50F4-4D92-6C6F-8A83DDADECF7}"/>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2835362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02985-3F1C-4F9F-69CF-A2FFE652E8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0567AA-0563-A78D-952A-2390CC8944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521DDBF-6560-90FD-DCC5-58720EE3C7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0AAF35-8E85-74B9-97F2-C1A58A9966DD}"/>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6" name="Footer Placeholder 5">
            <a:extLst>
              <a:ext uri="{FF2B5EF4-FFF2-40B4-BE49-F238E27FC236}">
                <a16:creationId xmlns:a16="http://schemas.microsoft.com/office/drawing/2014/main" id="{43853454-EC83-C374-ABF4-B12C73D4C0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2074D3-3D0D-DBE5-0209-8D072B453F80}"/>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824644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7E777-4343-8F08-9B4C-18D15CF1C9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E0FCE97-1BC5-FA81-CEFE-D84144EC09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CFF4F46-FC46-406A-682F-FF02E854C6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6241D4-064E-F1ED-765C-090D0EC063C5}"/>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6" name="Footer Placeholder 5">
            <a:extLst>
              <a:ext uri="{FF2B5EF4-FFF2-40B4-BE49-F238E27FC236}">
                <a16:creationId xmlns:a16="http://schemas.microsoft.com/office/drawing/2014/main" id="{2259B4DC-1D48-BBD7-BB23-D419C83A37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F49E65-7E71-A763-AA60-396C21780795}"/>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4115258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79C78-FEC9-32F9-90A4-CA274749A41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4554E0A-0F7E-3C50-E873-0FABE93FC6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6F6364-DAB4-6074-818D-1BBBF57666B6}"/>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5" name="Footer Placeholder 4">
            <a:extLst>
              <a:ext uri="{FF2B5EF4-FFF2-40B4-BE49-F238E27FC236}">
                <a16:creationId xmlns:a16="http://schemas.microsoft.com/office/drawing/2014/main" id="{764275A8-6408-0C25-1B78-A5E09200D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55ED-F7F6-DF7E-63E7-2357D37981B2}"/>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294820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B63346-F4D2-F70D-C524-B9E1E691FF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691732-812D-BAD6-2542-CDF26D19A8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F83C41-16A8-A607-D6C7-F093D0F32DC6}"/>
              </a:ext>
            </a:extLst>
          </p:cNvPr>
          <p:cNvSpPr>
            <a:spLocks noGrp="1"/>
          </p:cNvSpPr>
          <p:nvPr>
            <p:ph type="dt" sz="half" idx="10"/>
          </p:nvPr>
        </p:nvSpPr>
        <p:spPr/>
        <p:txBody>
          <a:bodyPr/>
          <a:lstStyle/>
          <a:p>
            <a:fld id="{0593EA45-4E45-9841-B715-EB303D77A5F6}" type="datetimeFigureOut">
              <a:rPr lang="en-US" smtClean="0"/>
              <a:t>4/26/26</a:t>
            </a:fld>
            <a:endParaRPr lang="en-US"/>
          </a:p>
        </p:txBody>
      </p:sp>
      <p:sp>
        <p:nvSpPr>
          <p:cNvPr id="5" name="Footer Placeholder 4">
            <a:extLst>
              <a:ext uri="{FF2B5EF4-FFF2-40B4-BE49-F238E27FC236}">
                <a16:creationId xmlns:a16="http://schemas.microsoft.com/office/drawing/2014/main" id="{9B7AEC78-C304-5035-79B4-C3FD336E0D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DF2B58-241A-E480-B754-8570CA82504F}"/>
              </a:ext>
            </a:extLst>
          </p:cNvPr>
          <p:cNvSpPr>
            <a:spLocks noGrp="1"/>
          </p:cNvSpPr>
          <p:nvPr>
            <p:ph type="sldNum" sz="quarter" idx="12"/>
          </p:nvPr>
        </p:nvSpPr>
        <p:spPr/>
        <p:txBody>
          <a:bodyPr/>
          <a:lstStyle/>
          <a:p>
            <a:fld id="{A1094CE3-6ED3-7448-9573-3B1A5646BD0C}" type="slidenum">
              <a:rPr lang="en-US" smtClean="0"/>
              <a:t>‹#›</a:t>
            </a:fld>
            <a:endParaRPr lang="en-US"/>
          </a:p>
        </p:txBody>
      </p:sp>
    </p:spTree>
    <p:extLst>
      <p:ext uri="{BB962C8B-B14F-4D97-AF65-F5344CB8AC3E}">
        <p14:creationId xmlns:p14="http://schemas.microsoft.com/office/powerpoint/2010/main" val="1684097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F05B97-96ED-998E-2259-334EB484E0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092084B-1E3D-DB76-D9FB-688C49B18A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263EEF-7E9C-B6C8-B711-944B5C4118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93EA45-4E45-9841-B715-EB303D77A5F6}" type="datetimeFigureOut">
              <a:rPr lang="en-US" smtClean="0"/>
              <a:t>4/26/26</a:t>
            </a:fld>
            <a:endParaRPr lang="en-US"/>
          </a:p>
        </p:txBody>
      </p:sp>
      <p:sp>
        <p:nvSpPr>
          <p:cNvPr id="5" name="Footer Placeholder 4">
            <a:extLst>
              <a:ext uri="{FF2B5EF4-FFF2-40B4-BE49-F238E27FC236}">
                <a16:creationId xmlns:a16="http://schemas.microsoft.com/office/drawing/2014/main" id="{DDC966EA-FB0E-B834-B9A4-3CBBBDF1FC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486F43D-4582-1F07-40C3-DFADA3F541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094CE3-6ED3-7448-9573-3B1A5646BD0C}" type="slidenum">
              <a:rPr lang="en-US" smtClean="0"/>
              <a:t>‹#›</a:t>
            </a:fld>
            <a:endParaRPr lang="en-US"/>
          </a:p>
        </p:txBody>
      </p:sp>
    </p:spTree>
    <p:extLst>
      <p:ext uri="{BB962C8B-B14F-4D97-AF65-F5344CB8AC3E}">
        <p14:creationId xmlns:p14="http://schemas.microsoft.com/office/powerpoint/2010/main" val="21736098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jpeg"/><Relationship Id="rId5" Type="http://schemas.openxmlformats.org/officeDocument/2006/relationships/image" Target="../media/image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pn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10.png"/><Relationship Id="rId9" Type="http://schemas.microsoft.com/office/2007/relationships/diagramDrawing" Target="../diagrams/drawing1.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2.xml"/><Relationship Id="rId3" Type="http://schemas.openxmlformats.org/officeDocument/2006/relationships/image" Target="../media/image3.png"/><Relationship Id="rId7" Type="http://schemas.openxmlformats.org/officeDocument/2006/relationships/diagramLayout" Target="../diagrams/layout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Data" Target="../diagrams/data2.xml"/><Relationship Id="rId5" Type="http://schemas.openxmlformats.org/officeDocument/2006/relationships/image" Target="../media/image12.png"/><Relationship Id="rId10" Type="http://schemas.microsoft.com/office/2007/relationships/diagramDrawing" Target="../diagrams/drawing2.xml"/><Relationship Id="rId4" Type="http://schemas.openxmlformats.org/officeDocument/2006/relationships/image" Target="../media/image11.png"/><Relationship Id="rId9" Type="http://schemas.openxmlformats.org/officeDocument/2006/relationships/diagramColors" Target="../diagrams/colors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8" Type="http://schemas.openxmlformats.org/officeDocument/2006/relationships/diagramQuickStyle" Target="../diagrams/quickStyle5.xml"/><Relationship Id="rId3" Type="http://schemas.openxmlformats.org/officeDocument/2006/relationships/image" Target="../media/image13.png"/><Relationship Id="rId7" Type="http://schemas.openxmlformats.org/officeDocument/2006/relationships/diagramLayout" Target="../diagrams/layout5.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Data" Target="../diagrams/data5.xml"/><Relationship Id="rId5" Type="http://schemas.openxmlformats.org/officeDocument/2006/relationships/image" Target="../media/image15.png"/><Relationship Id="rId10" Type="http://schemas.microsoft.com/office/2007/relationships/diagramDrawing" Target="../diagrams/drawing5.xml"/><Relationship Id="rId4" Type="http://schemas.openxmlformats.org/officeDocument/2006/relationships/image" Target="../media/image14.png"/><Relationship Id="rId9" Type="http://schemas.openxmlformats.org/officeDocument/2006/relationships/diagramColors" Target="../diagrams/colors5.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11BC87C2-B929-705D-752F-242ED12168E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79BE7A7-0DBD-E557-F38B-0AA7DB837D4A}"/>
              </a:ext>
            </a:extLst>
          </p:cNvPr>
          <p:cNvSpPr txBox="1"/>
          <p:nvPr/>
        </p:nvSpPr>
        <p:spPr>
          <a:xfrm>
            <a:off x="871870" y="3429000"/>
            <a:ext cx="10448260" cy="1446550"/>
          </a:xfrm>
          <a:prstGeom prst="rect">
            <a:avLst/>
          </a:prstGeom>
          <a:noFill/>
        </p:spPr>
        <p:txBody>
          <a:bodyPr wrap="square" lIns="91440" tIns="45720" rIns="91440" bIns="45720" rtlCol="0" anchor="t">
            <a:spAutoFit/>
          </a:bodyPr>
          <a:lstStyle/>
          <a:p>
            <a:pPr algn="ctr"/>
            <a:r>
              <a:rPr lang="en-US" sz="4400" b="1" dirty="0">
                <a:solidFill>
                  <a:schemeClr val="bg1"/>
                </a:solidFill>
                <a:latin typeface="Optima" panose="02000503060000020004" pitchFamily="2" charset="0"/>
              </a:rPr>
              <a:t>Business Intelligence Presentation to Ninja Executives</a:t>
            </a:r>
          </a:p>
        </p:txBody>
      </p:sp>
      <p:pic>
        <p:nvPicPr>
          <p:cNvPr id="1028" name="Picture 4" descr="What's the Ninja logo supposed to be? Seems intentional : r/logodesign">
            <a:extLst>
              <a:ext uri="{FF2B5EF4-FFF2-40B4-BE49-F238E27FC236}">
                <a16:creationId xmlns:a16="http://schemas.microsoft.com/office/drawing/2014/main" id="{A6D86D9E-B9B6-883C-E1ED-F617A3595C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1085" y="1016090"/>
            <a:ext cx="3889829" cy="241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9805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BD9B0-9DA7-74D5-7AEC-35CDE056AF84}"/>
            </a:ext>
          </a:extLst>
        </p:cNvPr>
        <p:cNvGrpSpPr/>
        <p:nvPr/>
      </p:nvGrpSpPr>
      <p:grpSpPr>
        <a:xfrm>
          <a:off x="0" y="0"/>
          <a:ext cx="0" cy="0"/>
          <a:chOff x="0" y="0"/>
          <a:chExt cx="0" cy="0"/>
        </a:xfrm>
      </p:grpSpPr>
      <p:sp>
        <p:nvSpPr>
          <p:cNvPr id="37" name="Rectangle 36">
            <a:extLst>
              <a:ext uri="{FF2B5EF4-FFF2-40B4-BE49-F238E27FC236}">
                <a16:creationId xmlns:a16="http://schemas.microsoft.com/office/drawing/2014/main" id="{643A575E-0FCE-252F-C1CF-483A392DB16D}"/>
              </a:ext>
            </a:extLst>
          </p:cNvPr>
          <p:cNvSpPr/>
          <p:nvPr/>
        </p:nvSpPr>
        <p:spPr>
          <a:xfrm>
            <a:off x="8354881" y="1246834"/>
            <a:ext cx="1622149" cy="5316058"/>
          </a:xfrm>
          <a:prstGeom prst="rect">
            <a:avLst/>
          </a:prstGeom>
          <a:noFill/>
          <a:ln w="165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77"/>
            </a:endParaRPr>
          </a:p>
        </p:txBody>
      </p:sp>
      <p:sp>
        <p:nvSpPr>
          <p:cNvPr id="22" name="Rectangle 21">
            <a:extLst>
              <a:ext uri="{FF2B5EF4-FFF2-40B4-BE49-F238E27FC236}">
                <a16:creationId xmlns:a16="http://schemas.microsoft.com/office/drawing/2014/main" id="{C58540D0-628D-8E94-923F-0DF082E30CE3}"/>
              </a:ext>
            </a:extLst>
          </p:cNvPr>
          <p:cNvSpPr/>
          <p:nvPr/>
        </p:nvSpPr>
        <p:spPr>
          <a:xfrm>
            <a:off x="10322433" y="1246834"/>
            <a:ext cx="1622149" cy="5316058"/>
          </a:xfrm>
          <a:prstGeom prst="rect">
            <a:avLst/>
          </a:prstGeom>
          <a:noFill/>
          <a:ln w="165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77"/>
            </a:endParaRPr>
          </a:p>
        </p:txBody>
      </p:sp>
      <p:pic>
        <p:nvPicPr>
          <p:cNvPr id="13" name="Picture 12">
            <a:extLst>
              <a:ext uri="{FF2B5EF4-FFF2-40B4-BE49-F238E27FC236}">
                <a16:creationId xmlns:a16="http://schemas.microsoft.com/office/drawing/2014/main" id="{77BB3700-D1C3-D494-17DC-99435A9A9991}"/>
              </a:ext>
            </a:extLst>
          </p:cNvPr>
          <p:cNvPicPr>
            <a:picLocks noChangeAspect="1"/>
          </p:cNvPicPr>
          <p:nvPr/>
        </p:nvPicPr>
        <p:blipFill>
          <a:blip r:embed="rId3"/>
          <a:stretch>
            <a:fillRect/>
          </a:stretch>
        </p:blipFill>
        <p:spPr>
          <a:xfrm>
            <a:off x="21426384" y="-5497039"/>
            <a:ext cx="154921" cy="57533"/>
          </a:xfrm>
          <a:prstGeom prst="rect">
            <a:avLst/>
          </a:prstGeom>
        </p:spPr>
      </p:pic>
      <p:sp>
        <p:nvSpPr>
          <p:cNvPr id="14" name="TextBox 13">
            <a:extLst>
              <a:ext uri="{FF2B5EF4-FFF2-40B4-BE49-F238E27FC236}">
                <a16:creationId xmlns:a16="http://schemas.microsoft.com/office/drawing/2014/main" id="{58A1E3AD-9026-71C1-BC3D-3283EDB1B748}"/>
              </a:ext>
            </a:extLst>
          </p:cNvPr>
          <p:cNvSpPr txBox="1"/>
          <p:nvPr/>
        </p:nvSpPr>
        <p:spPr>
          <a:xfrm>
            <a:off x="126565" y="4128994"/>
            <a:ext cx="1835629" cy="1754326"/>
          </a:xfrm>
          <a:prstGeom prst="rect">
            <a:avLst/>
          </a:prstGeom>
          <a:noFill/>
        </p:spPr>
        <p:txBody>
          <a:bodyPr wrap="square" lIns="91440" tIns="45720" rIns="91440" bIns="45720" rtlCol="0" anchor="t">
            <a:spAutoFit/>
          </a:bodyPr>
          <a:lstStyle/>
          <a:p>
            <a:pPr algn="ctr"/>
            <a:r>
              <a:rPr lang="en-US" b="1">
                <a:latin typeface="Avenir Next LT Pro"/>
              </a:rPr>
              <a:t>Role</a:t>
            </a:r>
          </a:p>
          <a:p>
            <a:pPr algn="ctr"/>
            <a:r>
              <a:rPr lang="en-US">
                <a:latin typeface="Avenir Next LT Pro"/>
              </a:rPr>
              <a:t>Data</a:t>
            </a:r>
            <a:endParaRPr lang="en-US">
              <a:latin typeface="Avenir Next LT Pro" panose="020B0504020202020204" pitchFamily="34" charset="77"/>
            </a:endParaRPr>
          </a:p>
          <a:p>
            <a:pPr algn="ctr"/>
            <a:r>
              <a:rPr lang="en-US">
                <a:latin typeface="Avenir Next LT Pro"/>
              </a:rPr>
              <a:t>Analyst</a:t>
            </a:r>
            <a:endParaRPr lang="en-US">
              <a:latin typeface="Avenir Next LT Pro" panose="020B0504020202020204" pitchFamily="34" charset="77"/>
            </a:endParaRPr>
          </a:p>
          <a:p>
            <a:pPr algn="ctr"/>
            <a:endParaRPr lang="en-US">
              <a:latin typeface="Avenir Next LT Pro" panose="020B0504020202020204" pitchFamily="34" charset="77"/>
            </a:endParaRPr>
          </a:p>
          <a:p>
            <a:pPr algn="ctr"/>
            <a:r>
              <a:rPr lang="en-US" b="1">
                <a:latin typeface="Avenir Next LT Pro" panose="020B0504020202020204" pitchFamily="34" charset="77"/>
              </a:rPr>
              <a:t>Year</a:t>
            </a:r>
            <a:endParaRPr lang="en-US">
              <a:latin typeface="Avenir Next LT Pro" panose="020B0504020202020204" pitchFamily="34" charset="77"/>
            </a:endParaRPr>
          </a:p>
          <a:p>
            <a:pPr algn="ctr"/>
            <a:r>
              <a:rPr lang="en-US">
                <a:latin typeface="Avenir Next LT Pro"/>
              </a:rPr>
              <a:t>4th</a:t>
            </a:r>
            <a:endParaRPr lang="en-US">
              <a:latin typeface="Avenir Next LT Pro" panose="020B0504020202020204" pitchFamily="34" charset="77"/>
            </a:endParaRPr>
          </a:p>
        </p:txBody>
      </p:sp>
      <p:sp>
        <p:nvSpPr>
          <p:cNvPr id="26" name="Rectangle 25">
            <a:extLst>
              <a:ext uri="{FF2B5EF4-FFF2-40B4-BE49-F238E27FC236}">
                <a16:creationId xmlns:a16="http://schemas.microsoft.com/office/drawing/2014/main" id="{92B97487-76F8-AF9D-822C-06FB900F47D9}"/>
              </a:ext>
            </a:extLst>
          </p:cNvPr>
          <p:cNvSpPr/>
          <p:nvPr/>
        </p:nvSpPr>
        <p:spPr>
          <a:xfrm>
            <a:off x="256051" y="1246834"/>
            <a:ext cx="1622149" cy="5316058"/>
          </a:xfrm>
          <a:prstGeom prst="rect">
            <a:avLst/>
          </a:prstGeom>
          <a:noFill/>
          <a:ln w="165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77"/>
            </a:endParaRPr>
          </a:p>
        </p:txBody>
      </p:sp>
      <p:sp>
        <p:nvSpPr>
          <p:cNvPr id="27" name="Rectangle 26">
            <a:extLst>
              <a:ext uri="{FF2B5EF4-FFF2-40B4-BE49-F238E27FC236}">
                <a16:creationId xmlns:a16="http://schemas.microsoft.com/office/drawing/2014/main" id="{1D631BAD-A518-5AED-5D28-337BB528C0B5}"/>
              </a:ext>
            </a:extLst>
          </p:cNvPr>
          <p:cNvSpPr/>
          <p:nvPr/>
        </p:nvSpPr>
        <p:spPr>
          <a:xfrm>
            <a:off x="2270677" y="1246834"/>
            <a:ext cx="1622149" cy="5316058"/>
          </a:xfrm>
          <a:prstGeom prst="rect">
            <a:avLst/>
          </a:prstGeom>
          <a:noFill/>
          <a:ln w="165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77"/>
            </a:endParaRPr>
          </a:p>
        </p:txBody>
      </p:sp>
      <p:sp>
        <p:nvSpPr>
          <p:cNvPr id="28" name="Rectangle 27">
            <a:extLst>
              <a:ext uri="{FF2B5EF4-FFF2-40B4-BE49-F238E27FC236}">
                <a16:creationId xmlns:a16="http://schemas.microsoft.com/office/drawing/2014/main" id="{39FB958D-5C54-E0D2-E084-52EC78AA76D8}"/>
              </a:ext>
            </a:extLst>
          </p:cNvPr>
          <p:cNvSpPr/>
          <p:nvPr/>
        </p:nvSpPr>
        <p:spPr>
          <a:xfrm>
            <a:off x="4313909" y="1246834"/>
            <a:ext cx="1622149" cy="5316058"/>
          </a:xfrm>
          <a:prstGeom prst="rect">
            <a:avLst/>
          </a:prstGeom>
          <a:noFill/>
          <a:ln w="165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77"/>
            </a:endParaRPr>
          </a:p>
        </p:txBody>
      </p:sp>
      <p:sp>
        <p:nvSpPr>
          <p:cNvPr id="29" name="Rectangle 28">
            <a:extLst>
              <a:ext uri="{FF2B5EF4-FFF2-40B4-BE49-F238E27FC236}">
                <a16:creationId xmlns:a16="http://schemas.microsoft.com/office/drawing/2014/main" id="{3A4C032D-31F0-4983-1D28-05AF2431AC65}"/>
              </a:ext>
            </a:extLst>
          </p:cNvPr>
          <p:cNvSpPr/>
          <p:nvPr/>
        </p:nvSpPr>
        <p:spPr>
          <a:xfrm>
            <a:off x="6323022" y="1246834"/>
            <a:ext cx="1622149" cy="5316058"/>
          </a:xfrm>
          <a:prstGeom prst="rect">
            <a:avLst/>
          </a:prstGeom>
          <a:noFill/>
          <a:ln w="165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77"/>
            </a:endParaRPr>
          </a:p>
        </p:txBody>
      </p:sp>
      <p:sp>
        <p:nvSpPr>
          <p:cNvPr id="42" name="Arrow: Notched Right 41">
            <a:extLst>
              <a:ext uri="{FF2B5EF4-FFF2-40B4-BE49-F238E27FC236}">
                <a16:creationId xmlns:a16="http://schemas.microsoft.com/office/drawing/2014/main" id="{CD9CB298-36A8-11E6-08D6-51F3AC380B1C}"/>
              </a:ext>
            </a:extLst>
          </p:cNvPr>
          <p:cNvSpPr/>
          <p:nvPr/>
        </p:nvSpPr>
        <p:spPr>
          <a:xfrm rot="10800000">
            <a:off x="-105067" y="3217552"/>
            <a:ext cx="12424631" cy="911442"/>
          </a:xfrm>
          <a:prstGeom prst="notchedRightArrow">
            <a:avLst>
              <a:gd name="adj1" fmla="val 77869"/>
              <a:gd name="adj2" fmla="val 55738"/>
            </a:avLst>
          </a:prstGeom>
          <a:solidFill>
            <a:srgbClr val="A9C86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Avenir Next LT Pro" panose="020B0504020202020204" pitchFamily="34" charset="77"/>
            </a:endParaRPr>
          </a:p>
        </p:txBody>
      </p:sp>
      <p:sp>
        <p:nvSpPr>
          <p:cNvPr id="43" name="TextBox 42">
            <a:extLst>
              <a:ext uri="{FF2B5EF4-FFF2-40B4-BE49-F238E27FC236}">
                <a16:creationId xmlns:a16="http://schemas.microsoft.com/office/drawing/2014/main" id="{0A8714E9-1114-A692-51DA-D97BE513A18E}"/>
              </a:ext>
            </a:extLst>
          </p:cNvPr>
          <p:cNvSpPr txBox="1"/>
          <p:nvPr/>
        </p:nvSpPr>
        <p:spPr>
          <a:xfrm>
            <a:off x="2198056" y="4108353"/>
            <a:ext cx="1835629" cy="2031325"/>
          </a:xfrm>
          <a:prstGeom prst="rect">
            <a:avLst/>
          </a:prstGeom>
          <a:noFill/>
        </p:spPr>
        <p:txBody>
          <a:bodyPr wrap="square" lIns="91440" tIns="45720" rIns="91440" bIns="45720" rtlCol="0" anchor="t">
            <a:spAutoFit/>
          </a:bodyPr>
          <a:lstStyle/>
          <a:p>
            <a:pPr algn="ctr"/>
            <a:r>
              <a:rPr lang="en-US" b="1">
                <a:latin typeface="Avenir Next LT Pro" panose="020B0504020202020204" pitchFamily="34" charset="77"/>
              </a:rPr>
              <a:t>Role</a:t>
            </a:r>
          </a:p>
          <a:p>
            <a:pPr algn="ctr"/>
            <a:r>
              <a:rPr lang="en-US">
                <a:latin typeface="Avenir Next LT Pro" panose="020B0504020202020204" pitchFamily="34" charset="77"/>
              </a:rPr>
              <a:t>Pricing </a:t>
            </a:r>
          </a:p>
          <a:p>
            <a:pPr algn="ctr"/>
            <a:r>
              <a:rPr lang="en-US">
                <a:latin typeface="Avenir Next LT Pro" panose="020B0504020202020204" pitchFamily="34" charset="77"/>
              </a:rPr>
              <a:t>Analyst</a:t>
            </a:r>
          </a:p>
          <a:p>
            <a:pPr algn="ctr"/>
            <a:endParaRPr lang="en-US" b="1">
              <a:latin typeface="Avenir Next LT Pro" panose="020B0504020202020204" pitchFamily="34" charset="77"/>
            </a:endParaRPr>
          </a:p>
          <a:p>
            <a:pPr algn="ctr"/>
            <a:r>
              <a:rPr lang="en-US" b="1">
                <a:latin typeface="Avenir Next LT Pro" panose="020B0504020202020204" pitchFamily="34" charset="77"/>
              </a:rPr>
              <a:t>Year</a:t>
            </a:r>
            <a:endParaRPr lang="en-US">
              <a:latin typeface="Avenir Next LT Pro" panose="020B0504020202020204" pitchFamily="34" charset="77"/>
            </a:endParaRPr>
          </a:p>
          <a:p>
            <a:pPr algn="ctr"/>
            <a:r>
              <a:rPr lang="en-US">
                <a:latin typeface="Avenir Next LT Pro" panose="020B0504020202020204" pitchFamily="34" charset="77"/>
              </a:rPr>
              <a:t>4th</a:t>
            </a:r>
          </a:p>
          <a:p>
            <a:pPr algn="ctr"/>
            <a:endParaRPr lang="en-US">
              <a:latin typeface="Avenir Next LT Pro" panose="020B0504020202020204" pitchFamily="34" charset="77"/>
            </a:endParaRPr>
          </a:p>
        </p:txBody>
      </p:sp>
      <p:sp>
        <p:nvSpPr>
          <p:cNvPr id="45" name="TextBox 44">
            <a:extLst>
              <a:ext uri="{FF2B5EF4-FFF2-40B4-BE49-F238E27FC236}">
                <a16:creationId xmlns:a16="http://schemas.microsoft.com/office/drawing/2014/main" id="{1A89B134-808E-75AC-B6D7-D8EB953A1D2F}"/>
              </a:ext>
            </a:extLst>
          </p:cNvPr>
          <p:cNvSpPr txBox="1"/>
          <p:nvPr/>
        </p:nvSpPr>
        <p:spPr>
          <a:xfrm>
            <a:off x="4264034" y="4108351"/>
            <a:ext cx="1835629" cy="2031325"/>
          </a:xfrm>
          <a:prstGeom prst="rect">
            <a:avLst/>
          </a:prstGeom>
          <a:noFill/>
        </p:spPr>
        <p:txBody>
          <a:bodyPr wrap="square" lIns="91440" tIns="45720" rIns="91440" bIns="45720" rtlCol="0" anchor="t">
            <a:spAutoFit/>
          </a:bodyPr>
          <a:lstStyle/>
          <a:p>
            <a:pPr algn="ctr"/>
            <a:r>
              <a:rPr lang="en-US" b="1">
                <a:latin typeface="Avenir Next LT Pro"/>
              </a:rPr>
              <a:t>Role</a:t>
            </a:r>
            <a:endParaRPr lang="en-US" b="1">
              <a:latin typeface="Avenir Next LT Pro" panose="020B0504020202020204" pitchFamily="34" charset="77"/>
            </a:endParaRPr>
          </a:p>
          <a:p>
            <a:pPr algn="ctr"/>
            <a:r>
              <a:rPr lang="en-US">
                <a:latin typeface="Avenir Next LT Pro"/>
              </a:rPr>
              <a:t>Data </a:t>
            </a:r>
            <a:endParaRPr lang="en-US">
              <a:latin typeface="Avenir Next LT Pro" panose="020B0504020202020204" pitchFamily="34" charset="77"/>
            </a:endParaRPr>
          </a:p>
          <a:p>
            <a:pPr algn="ctr"/>
            <a:r>
              <a:rPr lang="en-US">
                <a:latin typeface="Avenir Next LT Pro"/>
              </a:rPr>
              <a:t>Scientist</a:t>
            </a:r>
            <a:endParaRPr lang="en-US">
              <a:latin typeface="Avenir Next LT Pro" panose="020B0504020202020204" pitchFamily="34" charset="77"/>
            </a:endParaRPr>
          </a:p>
          <a:p>
            <a:pPr algn="ctr"/>
            <a:endParaRPr lang="en-US">
              <a:latin typeface="Avenir Next LT Pro" panose="020B0504020202020204" pitchFamily="34" charset="77"/>
            </a:endParaRPr>
          </a:p>
          <a:p>
            <a:pPr algn="ctr"/>
            <a:r>
              <a:rPr lang="en-US" b="1">
                <a:latin typeface="Avenir Next LT Pro"/>
              </a:rPr>
              <a:t>Year</a:t>
            </a:r>
            <a:endParaRPr lang="en-US">
              <a:latin typeface="Avenir Next LT Pro"/>
            </a:endParaRPr>
          </a:p>
          <a:p>
            <a:pPr algn="ctr"/>
            <a:r>
              <a:rPr lang="en-US">
                <a:latin typeface="Avenir Next LT Pro"/>
              </a:rPr>
              <a:t>3rd</a:t>
            </a:r>
            <a:endParaRPr lang="en-US">
              <a:latin typeface="Avenir Next LT Pro" panose="020B0504020202020204" pitchFamily="34" charset="77"/>
            </a:endParaRPr>
          </a:p>
          <a:p>
            <a:pPr algn="ctr"/>
            <a:endParaRPr lang="en-US">
              <a:latin typeface="Avenir Next LT Pro" panose="020B0504020202020204" pitchFamily="34" charset="77"/>
            </a:endParaRPr>
          </a:p>
        </p:txBody>
      </p:sp>
      <p:sp>
        <p:nvSpPr>
          <p:cNvPr id="46" name="TextBox 45">
            <a:extLst>
              <a:ext uri="{FF2B5EF4-FFF2-40B4-BE49-F238E27FC236}">
                <a16:creationId xmlns:a16="http://schemas.microsoft.com/office/drawing/2014/main" id="{E430C755-DCE6-BCFC-E181-390D49BA8EC1}"/>
              </a:ext>
            </a:extLst>
          </p:cNvPr>
          <p:cNvSpPr txBox="1"/>
          <p:nvPr/>
        </p:nvSpPr>
        <p:spPr>
          <a:xfrm>
            <a:off x="6267461" y="4081813"/>
            <a:ext cx="1807196" cy="2000548"/>
          </a:xfrm>
          <a:prstGeom prst="rect">
            <a:avLst/>
          </a:prstGeom>
          <a:noFill/>
        </p:spPr>
        <p:txBody>
          <a:bodyPr wrap="square" lIns="91440" tIns="45720" rIns="91440" bIns="45720" rtlCol="0" anchor="t">
            <a:spAutoFit/>
          </a:bodyPr>
          <a:lstStyle/>
          <a:p>
            <a:pPr algn="ctr"/>
            <a:r>
              <a:rPr lang="en-US" b="1">
                <a:latin typeface="Avenir Next LT Pro"/>
              </a:rPr>
              <a:t>Role</a:t>
            </a:r>
            <a:endParaRPr lang="en-US" b="1">
              <a:latin typeface="Avenir Next LT Pro" panose="020B0504020202020204" pitchFamily="34" charset="77"/>
            </a:endParaRPr>
          </a:p>
          <a:p>
            <a:pPr algn="ctr"/>
            <a:r>
              <a:rPr lang="en-US">
                <a:latin typeface="Avenir Next LT Pro"/>
              </a:rPr>
              <a:t>Data </a:t>
            </a:r>
          </a:p>
          <a:p>
            <a:pPr algn="ctr"/>
            <a:r>
              <a:rPr lang="en-US">
                <a:latin typeface="Avenir Next LT Pro"/>
              </a:rPr>
              <a:t>Analyst</a:t>
            </a:r>
          </a:p>
          <a:p>
            <a:pPr algn="ctr"/>
            <a:endParaRPr lang="en-US" sz="1600">
              <a:latin typeface="Avenir Next LT Pro"/>
            </a:endParaRPr>
          </a:p>
          <a:p>
            <a:pPr algn="ctr"/>
            <a:r>
              <a:rPr lang="en-US" b="1">
                <a:latin typeface="Avenir Next LT Pro"/>
              </a:rPr>
              <a:t>Year</a:t>
            </a:r>
            <a:endParaRPr lang="en-US">
              <a:latin typeface="Avenir Next LT Pro"/>
            </a:endParaRPr>
          </a:p>
          <a:p>
            <a:pPr algn="ctr"/>
            <a:r>
              <a:rPr lang="en-US">
                <a:latin typeface="Avenir Next LT Pro" panose="020B0504020202020204" pitchFamily="34" charset="77"/>
              </a:rPr>
              <a:t>3rd</a:t>
            </a:r>
          </a:p>
          <a:p>
            <a:pPr algn="ctr"/>
            <a:endParaRPr lang="en-US">
              <a:latin typeface="Avenir Next LT Pro" panose="020B0504020202020204" pitchFamily="34" charset="77"/>
            </a:endParaRPr>
          </a:p>
        </p:txBody>
      </p:sp>
      <p:sp>
        <p:nvSpPr>
          <p:cNvPr id="47" name="TextBox 46">
            <a:extLst>
              <a:ext uri="{FF2B5EF4-FFF2-40B4-BE49-F238E27FC236}">
                <a16:creationId xmlns:a16="http://schemas.microsoft.com/office/drawing/2014/main" id="{31F0621A-A022-115C-E127-5D4499319D93}"/>
              </a:ext>
            </a:extLst>
          </p:cNvPr>
          <p:cNvSpPr txBox="1"/>
          <p:nvPr/>
        </p:nvSpPr>
        <p:spPr>
          <a:xfrm>
            <a:off x="8235561" y="4085193"/>
            <a:ext cx="1835629" cy="1754326"/>
          </a:xfrm>
          <a:prstGeom prst="rect">
            <a:avLst/>
          </a:prstGeom>
          <a:noFill/>
        </p:spPr>
        <p:txBody>
          <a:bodyPr wrap="square" lIns="91440" tIns="45720" rIns="91440" bIns="45720" rtlCol="0" anchor="t">
            <a:spAutoFit/>
          </a:bodyPr>
          <a:lstStyle/>
          <a:p>
            <a:pPr algn="ctr"/>
            <a:r>
              <a:rPr lang="en-US" b="1">
                <a:latin typeface="Avenir Next LT Pro"/>
              </a:rPr>
              <a:t>Role</a:t>
            </a:r>
            <a:endParaRPr lang="en-US" b="1">
              <a:latin typeface="Avenir Next LT Pro" panose="020B0504020202020204" pitchFamily="34" charset="77"/>
            </a:endParaRPr>
          </a:p>
          <a:p>
            <a:pPr algn="ctr"/>
            <a:r>
              <a:rPr lang="en-US">
                <a:latin typeface="Avenir Next LT Pro"/>
              </a:rPr>
              <a:t>Data</a:t>
            </a:r>
            <a:endParaRPr lang="en-US">
              <a:latin typeface="Avenir Next LT Pro" panose="020B0504020202020204" pitchFamily="34" charset="77"/>
            </a:endParaRPr>
          </a:p>
          <a:p>
            <a:pPr algn="ctr"/>
            <a:r>
              <a:rPr lang="en-US">
                <a:latin typeface="Avenir Next LT Pro"/>
              </a:rPr>
              <a:t> Scientist</a:t>
            </a:r>
            <a:endParaRPr lang="en-US">
              <a:latin typeface="Avenir Next LT Pro" panose="020B0504020202020204" pitchFamily="34" charset="77"/>
            </a:endParaRPr>
          </a:p>
          <a:p>
            <a:pPr algn="ctr"/>
            <a:endParaRPr lang="en-US">
              <a:latin typeface="Avenir Next LT Pro" panose="020B0504020202020204" pitchFamily="34" charset="77"/>
            </a:endParaRPr>
          </a:p>
          <a:p>
            <a:pPr algn="ctr"/>
            <a:r>
              <a:rPr lang="en-US" b="1">
                <a:latin typeface="Avenir Next LT Pro"/>
              </a:rPr>
              <a:t>Year</a:t>
            </a:r>
            <a:endParaRPr lang="en-US">
              <a:latin typeface="Avenir Next LT Pro"/>
            </a:endParaRPr>
          </a:p>
          <a:p>
            <a:pPr algn="ctr"/>
            <a:r>
              <a:rPr lang="en-US">
                <a:latin typeface="Avenir Next LT Pro" panose="020B0504020202020204" pitchFamily="34" charset="77"/>
              </a:rPr>
              <a:t>3rd</a:t>
            </a:r>
          </a:p>
        </p:txBody>
      </p:sp>
      <p:sp>
        <p:nvSpPr>
          <p:cNvPr id="51" name="TextBox 50">
            <a:extLst>
              <a:ext uri="{FF2B5EF4-FFF2-40B4-BE49-F238E27FC236}">
                <a16:creationId xmlns:a16="http://schemas.microsoft.com/office/drawing/2014/main" id="{89A81BCA-3D98-5C23-EE3B-1C15357A1284}"/>
              </a:ext>
            </a:extLst>
          </p:cNvPr>
          <p:cNvSpPr txBox="1"/>
          <p:nvPr/>
        </p:nvSpPr>
        <p:spPr>
          <a:xfrm>
            <a:off x="414115" y="3443706"/>
            <a:ext cx="1639064" cy="369332"/>
          </a:xfrm>
          <a:prstGeom prst="rect">
            <a:avLst/>
          </a:prstGeom>
          <a:noFill/>
        </p:spPr>
        <p:txBody>
          <a:bodyPr wrap="square" lIns="91440" tIns="45720" rIns="91440" bIns="45720" rtlCol="0" anchor="t">
            <a:spAutoFit/>
          </a:bodyPr>
          <a:lstStyle/>
          <a:p>
            <a:r>
              <a:rPr lang="en-US" b="1">
                <a:latin typeface="Avenir Next LT Pro"/>
              </a:rPr>
              <a:t>Eshal Farooq</a:t>
            </a:r>
          </a:p>
        </p:txBody>
      </p:sp>
      <p:sp>
        <p:nvSpPr>
          <p:cNvPr id="52" name="TextBox 51">
            <a:extLst>
              <a:ext uri="{FF2B5EF4-FFF2-40B4-BE49-F238E27FC236}">
                <a16:creationId xmlns:a16="http://schemas.microsoft.com/office/drawing/2014/main" id="{33DBB371-543D-DA0E-558D-F0AAABBE0320}"/>
              </a:ext>
            </a:extLst>
          </p:cNvPr>
          <p:cNvSpPr txBox="1"/>
          <p:nvPr/>
        </p:nvSpPr>
        <p:spPr>
          <a:xfrm>
            <a:off x="2376772" y="3438019"/>
            <a:ext cx="1821034" cy="369332"/>
          </a:xfrm>
          <a:prstGeom prst="rect">
            <a:avLst/>
          </a:prstGeom>
          <a:noFill/>
        </p:spPr>
        <p:txBody>
          <a:bodyPr wrap="square" rtlCol="0">
            <a:spAutoFit/>
          </a:bodyPr>
          <a:lstStyle/>
          <a:p>
            <a:r>
              <a:rPr lang="en-US" b="1">
                <a:latin typeface="Avenir Next LT Pro" panose="020B0504020202020204" pitchFamily="34" charset="77"/>
              </a:rPr>
              <a:t>Neha Jagasia</a:t>
            </a:r>
          </a:p>
        </p:txBody>
      </p:sp>
      <p:sp>
        <p:nvSpPr>
          <p:cNvPr id="53" name="TextBox 52">
            <a:extLst>
              <a:ext uri="{FF2B5EF4-FFF2-40B4-BE49-F238E27FC236}">
                <a16:creationId xmlns:a16="http://schemas.microsoft.com/office/drawing/2014/main" id="{A54528CF-43F4-E847-EFAA-5FED086A13AE}"/>
              </a:ext>
            </a:extLst>
          </p:cNvPr>
          <p:cNvSpPr txBox="1"/>
          <p:nvPr/>
        </p:nvSpPr>
        <p:spPr>
          <a:xfrm>
            <a:off x="4445415" y="3435482"/>
            <a:ext cx="1815348" cy="369332"/>
          </a:xfrm>
          <a:prstGeom prst="rect">
            <a:avLst/>
          </a:prstGeom>
          <a:noFill/>
        </p:spPr>
        <p:txBody>
          <a:bodyPr wrap="square" lIns="91440" tIns="45720" rIns="91440" bIns="45720" rtlCol="0" anchor="t">
            <a:spAutoFit/>
          </a:bodyPr>
          <a:lstStyle/>
          <a:p>
            <a:r>
              <a:rPr lang="en-US" b="1">
                <a:latin typeface="Avenir Next LT Pro"/>
              </a:rPr>
              <a:t>Heer Patel</a:t>
            </a:r>
            <a:endParaRPr lang="en-US"/>
          </a:p>
        </p:txBody>
      </p:sp>
      <p:sp>
        <p:nvSpPr>
          <p:cNvPr id="54" name="TextBox 53">
            <a:extLst>
              <a:ext uri="{FF2B5EF4-FFF2-40B4-BE49-F238E27FC236}">
                <a16:creationId xmlns:a16="http://schemas.microsoft.com/office/drawing/2014/main" id="{903C45C0-8248-FE17-9E25-56C6C2699D94}"/>
              </a:ext>
            </a:extLst>
          </p:cNvPr>
          <p:cNvSpPr txBox="1"/>
          <p:nvPr/>
        </p:nvSpPr>
        <p:spPr>
          <a:xfrm>
            <a:off x="6226194" y="3464615"/>
            <a:ext cx="1821034" cy="369332"/>
          </a:xfrm>
          <a:prstGeom prst="rect">
            <a:avLst/>
          </a:prstGeom>
          <a:noFill/>
        </p:spPr>
        <p:txBody>
          <a:bodyPr wrap="square" lIns="91440" tIns="45720" rIns="91440" bIns="45720" rtlCol="0" anchor="t">
            <a:spAutoFit/>
          </a:bodyPr>
          <a:lstStyle/>
          <a:p>
            <a:pPr algn="ctr"/>
            <a:r>
              <a:rPr lang="en-US" b="1">
                <a:latin typeface="Avenir Next LT Pro"/>
              </a:rPr>
              <a:t>Arya Rajesh</a:t>
            </a:r>
            <a:endParaRPr lang="en-US"/>
          </a:p>
        </p:txBody>
      </p:sp>
      <p:sp>
        <p:nvSpPr>
          <p:cNvPr id="55" name="TextBox 54">
            <a:extLst>
              <a:ext uri="{FF2B5EF4-FFF2-40B4-BE49-F238E27FC236}">
                <a16:creationId xmlns:a16="http://schemas.microsoft.com/office/drawing/2014/main" id="{7E330FD8-E034-373E-BFAB-56564B87D46F}"/>
              </a:ext>
            </a:extLst>
          </p:cNvPr>
          <p:cNvSpPr txBox="1"/>
          <p:nvPr/>
        </p:nvSpPr>
        <p:spPr>
          <a:xfrm>
            <a:off x="10151836" y="3435539"/>
            <a:ext cx="1724508" cy="369332"/>
          </a:xfrm>
          <a:prstGeom prst="rect">
            <a:avLst/>
          </a:prstGeom>
          <a:noFill/>
        </p:spPr>
        <p:txBody>
          <a:bodyPr wrap="square" lIns="91440" tIns="45720" rIns="91440" bIns="45720" rtlCol="0" anchor="t">
            <a:spAutoFit/>
          </a:bodyPr>
          <a:lstStyle/>
          <a:p>
            <a:pPr algn="ctr"/>
            <a:r>
              <a:rPr lang="en-US" b="1">
                <a:latin typeface="Avenir Next LT Pro"/>
              </a:rPr>
              <a:t>Arya Suram</a:t>
            </a:r>
            <a:endParaRPr lang="en-US"/>
          </a:p>
        </p:txBody>
      </p:sp>
      <p:cxnSp>
        <p:nvCxnSpPr>
          <p:cNvPr id="11" name="Straight Connector 10">
            <a:extLst>
              <a:ext uri="{FF2B5EF4-FFF2-40B4-BE49-F238E27FC236}">
                <a16:creationId xmlns:a16="http://schemas.microsoft.com/office/drawing/2014/main" id="{2B38271A-B4A6-09FE-CC13-CB5E66ACFD37}"/>
              </a:ext>
            </a:extLst>
          </p:cNvPr>
          <p:cNvCxnSpPr>
            <a:cxnSpLocks/>
          </p:cNvCxnSpPr>
          <p:nvPr/>
        </p:nvCxnSpPr>
        <p:spPr>
          <a:xfrm>
            <a:off x="520227" y="5095702"/>
            <a:ext cx="1182207"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5" name="Straight Connector 14">
            <a:extLst>
              <a:ext uri="{FF2B5EF4-FFF2-40B4-BE49-F238E27FC236}">
                <a16:creationId xmlns:a16="http://schemas.microsoft.com/office/drawing/2014/main" id="{3F15B526-9A20-BE6C-18C9-DCC97A37068B}"/>
              </a:ext>
            </a:extLst>
          </p:cNvPr>
          <p:cNvCxnSpPr>
            <a:cxnSpLocks/>
          </p:cNvCxnSpPr>
          <p:nvPr/>
        </p:nvCxnSpPr>
        <p:spPr>
          <a:xfrm>
            <a:off x="2523801" y="5095702"/>
            <a:ext cx="1182207"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6" name="Straight Connector 15">
            <a:extLst>
              <a:ext uri="{FF2B5EF4-FFF2-40B4-BE49-F238E27FC236}">
                <a16:creationId xmlns:a16="http://schemas.microsoft.com/office/drawing/2014/main" id="{4A34C282-B56E-30D9-A7E3-167AF44C2CB3}"/>
              </a:ext>
            </a:extLst>
          </p:cNvPr>
          <p:cNvCxnSpPr>
            <a:cxnSpLocks/>
          </p:cNvCxnSpPr>
          <p:nvPr/>
        </p:nvCxnSpPr>
        <p:spPr>
          <a:xfrm>
            <a:off x="4576218" y="5095702"/>
            <a:ext cx="1182207"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7" name="Straight Connector 16">
            <a:extLst>
              <a:ext uri="{FF2B5EF4-FFF2-40B4-BE49-F238E27FC236}">
                <a16:creationId xmlns:a16="http://schemas.microsoft.com/office/drawing/2014/main" id="{4229EF72-9CE0-B79B-5915-3C5F0EE56E35}"/>
              </a:ext>
            </a:extLst>
          </p:cNvPr>
          <p:cNvCxnSpPr>
            <a:cxnSpLocks/>
          </p:cNvCxnSpPr>
          <p:nvPr/>
        </p:nvCxnSpPr>
        <p:spPr>
          <a:xfrm>
            <a:off x="6565649" y="5095702"/>
            <a:ext cx="1182207" cy="0"/>
          </a:xfrm>
          <a:prstGeom prst="line">
            <a:avLst/>
          </a:prstGeom>
          <a:ln/>
        </p:spPr>
        <p:style>
          <a:lnRef idx="1">
            <a:schemeClr val="accent6"/>
          </a:lnRef>
          <a:fillRef idx="0">
            <a:schemeClr val="accent6"/>
          </a:fillRef>
          <a:effectRef idx="0">
            <a:schemeClr val="accent6"/>
          </a:effectRef>
          <a:fontRef idx="minor">
            <a:schemeClr val="tx1"/>
          </a:fontRef>
        </p:style>
      </p:cxnSp>
      <p:cxnSp>
        <p:nvCxnSpPr>
          <p:cNvPr id="19" name="Straight Connector 18">
            <a:extLst>
              <a:ext uri="{FF2B5EF4-FFF2-40B4-BE49-F238E27FC236}">
                <a16:creationId xmlns:a16="http://schemas.microsoft.com/office/drawing/2014/main" id="{372EBBD8-6D46-CD66-BF59-93C5BFF0640C}"/>
              </a:ext>
            </a:extLst>
          </p:cNvPr>
          <p:cNvCxnSpPr>
            <a:cxnSpLocks/>
          </p:cNvCxnSpPr>
          <p:nvPr/>
        </p:nvCxnSpPr>
        <p:spPr>
          <a:xfrm>
            <a:off x="8588330" y="5095702"/>
            <a:ext cx="1182207" cy="0"/>
          </a:xfrm>
          <a:prstGeom prst="line">
            <a:avLst/>
          </a:prstGeom>
          <a:ln/>
        </p:spPr>
        <p:style>
          <a:lnRef idx="1">
            <a:schemeClr val="accent6"/>
          </a:lnRef>
          <a:fillRef idx="0">
            <a:schemeClr val="accent6"/>
          </a:fillRef>
          <a:effectRef idx="0">
            <a:schemeClr val="accent6"/>
          </a:effectRef>
          <a:fontRef idx="minor">
            <a:schemeClr val="tx1"/>
          </a:fontRef>
        </p:style>
      </p:cxnSp>
      <p:sp>
        <p:nvSpPr>
          <p:cNvPr id="2" name="Rectangle 1">
            <a:extLst>
              <a:ext uri="{FF2B5EF4-FFF2-40B4-BE49-F238E27FC236}">
                <a16:creationId xmlns:a16="http://schemas.microsoft.com/office/drawing/2014/main" id="{AA32C083-A585-C24F-FB60-2CF30FD53B15}"/>
              </a:ext>
            </a:extLst>
          </p:cNvPr>
          <p:cNvSpPr/>
          <p:nvPr/>
        </p:nvSpPr>
        <p:spPr>
          <a:xfrm>
            <a:off x="0" y="-15054"/>
            <a:ext cx="12192000" cy="841764"/>
          </a:xfrm>
          <a:prstGeom prst="rect">
            <a:avLst/>
          </a:prstGeom>
          <a:solidFill>
            <a:schemeClr val="tx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3" name="Rectangle 2">
            <a:extLst>
              <a:ext uri="{FF2B5EF4-FFF2-40B4-BE49-F238E27FC236}">
                <a16:creationId xmlns:a16="http://schemas.microsoft.com/office/drawing/2014/main" id="{2804BCA8-366F-106A-CD09-D842E197B6B3}"/>
              </a:ext>
            </a:extLst>
          </p:cNvPr>
          <p:cNvSpPr/>
          <p:nvPr/>
        </p:nvSpPr>
        <p:spPr>
          <a:xfrm flipV="1">
            <a:off x="0" y="723672"/>
            <a:ext cx="12192000" cy="103037"/>
          </a:xfrm>
          <a:prstGeom prst="rect">
            <a:avLst/>
          </a:prstGeom>
          <a:solidFill>
            <a:srgbClr val="A9C86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5" name="TextBox 4">
            <a:extLst>
              <a:ext uri="{FF2B5EF4-FFF2-40B4-BE49-F238E27FC236}">
                <a16:creationId xmlns:a16="http://schemas.microsoft.com/office/drawing/2014/main" id="{EB6610CD-EB4F-B5D5-03DA-0CABB8FD3DEF}"/>
              </a:ext>
            </a:extLst>
          </p:cNvPr>
          <p:cNvSpPr txBox="1"/>
          <p:nvPr/>
        </p:nvSpPr>
        <p:spPr>
          <a:xfrm>
            <a:off x="255618" y="114629"/>
            <a:ext cx="11729109" cy="584775"/>
          </a:xfrm>
          <a:prstGeom prst="rect">
            <a:avLst/>
          </a:prstGeom>
          <a:noFill/>
        </p:spPr>
        <p:txBody>
          <a:bodyPr wrap="square" lIns="91440" tIns="45720" rIns="91440" bIns="45720" rtlCol="0" anchor="t">
            <a:spAutoFit/>
          </a:bodyPr>
          <a:lstStyle/>
          <a:p>
            <a:r>
              <a:rPr lang="en-US" sz="3200" b="1">
                <a:solidFill>
                  <a:schemeClr val="bg1"/>
                </a:solidFill>
                <a:latin typeface="Avenir Next LT Pro"/>
              </a:rPr>
              <a:t>Meet the Team</a:t>
            </a:r>
            <a:endParaRPr lang="en-US" sz="3200" b="1">
              <a:solidFill>
                <a:schemeClr val="bg1"/>
              </a:solidFill>
              <a:latin typeface="Avenir Next LT Pro" panose="020B0504020202020204" pitchFamily="34" charset="77"/>
            </a:endParaRPr>
          </a:p>
        </p:txBody>
      </p:sp>
      <p:pic>
        <p:nvPicPr>
          <p:cNvPr id="2050" name="Picture 2" descr="What's the Ninja logo supposed to be? Seems intentional : r/logodesign">
            <a:extLst>
              <a:ext uri="{FF2B5EF4-FFF2-40B4-BE49-F238E27FC236}">
                <a16:creationId xmlns:a16="http://schemas.microsoft.com/office/drawing/2014/main" id="{21D6FC50-499B-E7E0-C507-A6D0478F50B7}"/>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8885" b="27727"/>
          <a:stretch/>
        </p:blipFill>
        <p:spPr bwMode="auto">
          <a:xfrm>
            <a:off x="10871200" y="114629"/>
            <a:ext cx="1217163" cy="403085"/>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C236A0AF-B143-FF34-D496-9593FEBACAF4}"/>
              </a:ext>
            </a:extLst>
          </p:cNvPr>
          <p:cNvSpPr txBox="1"/>
          <p:nvPr/>
        </p:nvSpPr>
        <p:spPr>
          <a:xfrm>
            <a:off x="10237232" y="4090879"/>
            <a:ext cx="1835629" cy="1754326"/>
          </a:xfrm>
          <a:prstGeom prst="rect">
            <a:avLst/>
          </a:prstGeom>
          <a:noFill/>
        </p:spPr>
        <p:txBody>
          <a:bodyPr wrap="square" lIns="91440" tIns="45720" rIns="91440" bIns="45720" rtlCol="0" anchor="t">
            <a:spAutoFit/>
          </a:bodyPr>
          <a:lstStyle/>
          <a:p>
            <a:pPr algn="ctr"/>
            <a:r>
              <a:rPr lang="en-US" b="1">
                <a:latin typeface="Avenir Next LT Pro"/>
              </a:rPr>
              <a:t>Role</a:t>
            </a:r>
            <a:endParaRPr lang="en-US" b="1">
              <a:latin typeface="Avenir Next LT Pro" panose="020B0504020202020204" pitchFamily="34" charset="77"/>
            </a:endParaRPr>
          </a:p>
          <a:p>
            <a:pPr algn="ctr"/>
            <a:r>
              <a:rPr lang="en-US">
                <a:latin typeface="Avenir Next LT Pro"/>
              </a:rPr>
              <a:t>Pricing </a:t>
            </a:r>
            <a:endParaRPr lang="en-US">
              <a:latin typeface="Avenir Next LT Pro" panose="020B0504020202020204" pitchFamily="34" charset="77"/>
            </a:endParaRPr>
          </a:p>
          <a:p>
            <a:pPr algn="ctr"/>
            <a:r>
              <a:rPr lang="en-US">
                <a:latin typeface="Avenir Next LT Pro"/>
              </a:rPr>
              <a:t>Analyst</a:t>
            </a:r>
            <a:endParaRPr lang="en-US">
              <a:latin typeface="Avenir Next LT Pro" panose="020B0504020202020204" pitchFamily="34" charset="77"/>
            </a:endParaRPr>
          </a:p>
          <a:p>
            <a:pPr algn="ctr"/>
            <a:endParaRPr lang="en-US">
              <a:latin typeface="Avenir Next LT Pro"/>
            </a:endParaRPr>
          </a:p>
          <a:p>
            <a:pPr algn="ctr"/>
            <a:r>
              <a:rPr lang="en-US" b="1">
                <a:latin typeface="Avenir Next LT Pro" panose="020B0504020202020204" pitchFamily="34" charset="77"/>
              </a:rPr>
              <a:t>Year</a:t>
            </a:r>
            <a:endParaRPr lang="en-US">
              <a:latin typeface="Avenir Next LT Pro" panose="020B0504020202020204" pitchFamily="34" charset="77"/>
            </a:endParaRPr>
          </a:p>
          <a:p>
            <a:pPr algn="ctr"/>
            <a:r>
              <a:rPr lang="en-US">
                <a:latin typeface="Avenir Next LT Pro" panose="020B0504020202020204" pitchFamily="34" charset="77"/>
              </a:rPr>
              <a:t>3rd</a:t>
            </a:r>
          </a:p>
        </p:txBody>
      </p:sp>
      <p:sp>
        <p:nvSpPr>
          <p:cNvPr id="30" name="TextBox 29">
            <a:extLst>
              <a:ext uri="{FF2B5EF4-FFF2-40B4-BE49-F238E27FC236}">
                <a16:creationId xmlns:a16="http://schemas.microsoft.com/office/drawing/2014/main" id="{787460A9-EBE6-2DAB-B53F-DACC99AB4A58}"/>
              </a:ext>
            </a:extLst>
          </p:cNvPr>
          <p:cNvSpPr txBox="1"/>
          <p:nvPr/>
        </p:nvSpPr>
        <p:spPr>
          <a:xfrm>
            <a:off x="8354880" y="3429853"/>
            <a:ext cx="1724508" cy="369332"/>
          </a:xfrm>
          <a:prstGeom prst="rect">
            <a:avLst/>
          </a:prstGeom>
          <a:noFill/>
        </p:spPr>
        <p:txBody>
          <a:bodyPr wrap="square" lIns="91440" tIns="45720" rIns="91440" bIns="45720" rtlCol="0" anchor="t">
            <a:spAutoFit/>
          </a:bodyPr>
          <a:lstStyle/>
          <a:p>
            <a:pPr algn="ctr"/>
            <a:r>
              <a:rPr lang="en-US" b="1">
                <a:latin typeface="Avenir Next LT Pro"/>
              </a:rPr>
              <a:t>Shalmali Rao</a:t>
            </a:r>
            <a:endParaRPr lang="en-US"/>
          </a:p>
        </p:txBody>
      </p:sp>
      <p:cxnSp>
        <p:nvCxnSpPr>
          <p:cNvPr id="31" name="Straight Connector 30">
            <a:extLst>
              <a:ext uri="{FF2B5EF4-FFF2-40B4-BE49-F238E27FC236}">
                <a16:creationId xmlns:a16="http://schemas.microsoft.com/office/drawing/2014/main" id="{47FC44F6-2E47-55F6-09E6-0CA632183DEF}"/>
              </a:ext>
            </a:extLst>
          </p:cNvPr>
          <p:cNvCxnSpPr>
            <a:cxnSpLocks/>
          </p:cNvCxnSpPr>
          <p:nvPr/>
        </p:nvCxnSpPr>
        <p:spPr>
          <a:xfrm>
            <a:off x="10555882" y="5124135"/>
            <a:ext cx="1182207" cy="0"/>
          </a:xfrm>
          <a:prstGeom prst="line">
            <a:avLst/>
          </a:prstGeom>
          <a:ln/>
        </p:spPr>
        <p:style>
          <a:lnRef idx="1">
            <a:schemeClr val="accent6"/>
          </a:lnRef>
          <a:fillRef idx="0">
            <a:schemeClr val="accent6"/>
          </a:fillRef>
          <a:effectRef idx="0">
            <a:schemeClr val="accent6"/>
          </a:effectRef>
          <a:fontRef idx="minor">
            <a:schemeClr val="tx1"/>
          </a:fontRef>
        </p:style>
      </p:cxnSp>
      <p:pic>
        <p:nvPicPr>
          <p:cNvPr id="33" name="Picture 32" descr="A person smiling at the camera&#10;&#10;AI-generated content may be incorrect.">
            <a:extLst>
              <a:ext uri="{FF2B5EF4-FFF2-40B4-BE49-F238E27FC236}">
                <a16:creationId xmlns:a16="http://schemas.microsoft.com/office/drawing/2014/main" id="{C826A82D-558A-3DF7-144E-DA91CEE2B4F0}"/>
              </a:ext>
            </a:extLst>
          </p:cNvPr>
          <p:cNvPicPr>
            <a:picLocks noChangeAspect="1"/>
          </p:cNvPicPr>
          <p:nvPr/>
        </p:nvPicPr>
        <p:blipFill>
          <a:blip r:embed="rId5"/>
          <a:stretch>
            <a:fillRect/>
          </a:stretch>
        </p:blipFill>
        <p:spPr>
          <a:xfrm>
            <a:off x="2364070" y="1626898"/>
            <a:ext cx="1435362" cy="1409731"/>
          </a:xfrm>
          <a:prstGeom prst="rect">
            <a:avLst/>
          </a:prstGeom>
        </p:spPr>
      </p:pic>
      <p:pic>
        <p:nvPicPr>
          <p:cNvPr id="8" name="Picture 7">
            <a:extLst>
              <a:ext uri="{FF2B5EF4-FFF2-40B4-BE49-F238E27FC236}">
                <a16:creationId xmlns:a16="http://schemas.microsoft.com/office/drawing/2014/main" id="{14CBA04B-B40C-1078-8A43-FEB01EA956C1}"/>
              </a:ext>
            </a:extLst>
          </p:cNvPr>
          <p:cNvPicPr>
            <a:picLocks noChangeAspect="1"/>
          </p:cNvPicPr>
          <p:nvPr/>
        </p:nvPicPr>
        <p:blipFill>
          <a:blip r:embed="rId6"/>
          <a:srcRect l="4379" t="28486" r="7475" b="14571"/>
          <a:stretch>
            <a:fillRect/>
          </a:stretch>
        </p:blipFill>
        <p:spPr>
          <a:xfrm>
            <a:off x="333608" y="1639206"/>
            <a:ext cx="1459039" cy="1412341"/>
          </a:xfrm>
          <a:prstGeom prst="ellipse">
            <a:avLst/>
          </a:prstGeom>
        </p:spPr>
      </p:pic>
      <p:pic>
        <p:nvPicPr>
          <p:cNvPr id="18" name="Picture 17" descr="A person smiling at camera&#10;&#10;AI-generated content may be incorrect.">
            <a:extLst>
              <a:ext uri="{FF2B5EF4-FFF2-40B4-BE49-F238E27FC236}">
                <a16:creationId xmlns:a16="http://schemas.microsoft.com/office/drawing/2014/main" id="{44CBDECD-F7CE-FFA6-1677-D5BC63C67FE9}"/>
              </a:ext>
            </a:extLst>
          </p:cNvPr>
          <p:cNvPicPr>
            <a:picLocks noChangeAspect="1"/>
          </p:cNvPicPr>
          <p:nvPr/>
        </p:nvPicPr>
        <p:blipFill>
          <a:blip r:embed="rId7"/>
          <a:srcRect l="83" r="83"/>
          <a:stretch/>
        </p:blipFill>
        <p:spPr>
          <a:xfrm>
            <a:off x="8438798" y="1651393"/>
            <a:ext cx="1469726" cy="1406926"/>
          </a:xfrm>
          <a:prstGeom prst="ellipse">
            <a:avLst/>
          </a:prstGeom>
          <a:ln>
            <a:solidFill>
              <a:schemeClr val="bg1">
                <a:lumMod val="50000"/>
              </a:schemeClr>
            </a:solidFill>
          </a:ln>
        </p:spPr>
      </p:pic>
      <p:pic>
        <p:nvPicPr>
          <p:cNvPr id="4" name="Picture 3" descr="A person wearing glasses and a necklace&#10;&#10;AI-generated content may be incorrect.">
            <a:extLst>
              <a:ext uri="{FF2B5EF4-FFF2-40B4-BE49-F238E27FC236}">
                <a16:creationId xmlns:a16="http://schemas.microsoft.com/office/drawing/2014/main" id="{250D3603-BF69-5930-6ACB-6F8669C28DAE}"/>
              </a:ext>
            </a:extLst>
          </p:cNvPr>
          <p:cNvPicPr>
            <a:picLocks noChangeAspect="1"/>
          </p:cNvPicPr>
          <p:nvPr/>
        </p:nvPicPr>
        <p:blipFill>
          <a:blip r:embed="rId8"/>
          <a:srcRect l="7240" t="3504" r="2124" b="22727"/>
          <a:stretch>
            <a:fillRect/>
          </a:stretch>
        </p:blipFill>
        <p:spPr>
          <a:xfrm>
            <a:off x="10420026" y="1645214"/>
            <a:ext cx="1442975" cy="1437823"/>
          </a:xfrm>
          <a:prstGeom prst="ellipse">
            <a:avLst/>
          </a:prstGeom>
        </p:spPr>
      </p:pic>
      <p:pic>
        <p:nvPicPr>
          <p:cNvPr id="7" name="Picture 6">
            <a:extLst>
              <a:ext uri="{FF2B5EF4-FFF2-40B4-BE49-F238E27FC236}">
                <a16:creationId xmlns:a16="http://schemas.microsoft.com/office/drawing/2014/main" id="{18F71FEF-D521-F8ED-D83F-99E27ACF5F67}"/>
              </a:ext>
            </a:extLst>
          </p:cNvPr>
          <p:cNvPicPr>
            <a:picLocks noChangeAspect="1"/>
          </p:cNvPicPr>
          <p:nvPr/>
        </p:nvPicPr>
        <p:blipFill>
          <a:blip r:embed="rId9"/>
          <a:srcRect r="493" b="-498"/>
          <a:stretch>
            <a:fillRect/>
          </a:stretch>
        </p:blipFill>
        <p:spPr>
          <a:xfrm>
            <a:off x="6410894" y="1599133"/>
            <a:ext cx="1489950" cy="1471778"/>
          </a:xfrm>
          <a:prstGeom prst="ellipse">
            <a:avLst/>
          </a:prstGeom>
        </p:spPr>
      </p:pic>
      <p:pic>
        <p:nvPicPr>
          <p:cNvPr id="10" name="Picture 9" descr="A person smiling at camera&#10;&#10;AI-generated content may be incorrect.">
            <a:extLst>
              <a:ext uri="{FF2B5EF4-FFF2-40B4-BE49-F238E27FC236}">
                <a16:creationId xmlns:a16="http://schemas.microsoft.com/office/drawing/2014/main" id="{FA6369D8-45B9-2EAE-0274-2EACC32BADA0}"/>
              </a:ext>
            </a:extLst>
          </p:cNvPr>
          <p:cNvPicPr>
            <a:picLocks noChangeAspect="1"/>
          </p:cNvPicPr>
          <p:nvPr/>
        </p:nvPicPr>
        <p:blipFill>
          <a:blip r:embed="rId10"/>
          <a:srcRect t="17076" b="17076"/>
          <a:stretch>
            <a:fillRect/>
          </a:stretch>
        </p:blipFill>
        <p:spPr>
          <a:xfrm>
            <a:off x="4378894" y="1612270"/>
            <a:ext cx="1489950" cy="1471778"/>
          </a:xfrm>
          <a:prstGeom prst="ellipse">
            <a:avLst/>
          </a:prstGeom>
        </p:spPr>
      </p:pic>
    </p:spTree>
    <p:extLst>
      <p:ext uri="{BB962C8B-B14F-4D97-AF65-F5344CB8AC3E}">
        <p14:creationId xmlns:p14="http://schemas.microsoft.com/office/powerpoint/2010/main" val="1920104064"/>
      </p:ext>
    </p:extLst>
  </p:cSld>
  <p:clrMapOvr>
    <a:masterClrMapping/>
  </p:clrMapOvr>
  <mc:AlternateContent xmlns:mc="http://schemas.openxmlformats.org/markup-compatibility/2006">
    <mc:Choice xmlns:p14="http://schemas.microsoft.com/office/powerpoint/2010/main" Requires="p14">
      <p:transition spd="slow" p14:dur="2000" advTm="8177"/>
    </mc:Choice>
    <mc:Fallback>
      <p:transition spd="slow" advTm="817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7F18510-8D60-8FA9-4483-5F494C8300F8}"/>
              </a:ext>
            </a:extLst>
          </p:cNvPr>
          <p:cNvSpPr/>
          <p:nvPr/>
        </p:nvSpPr>
        <p:spPr>
          <a:xfrm>
            <a:off x="155208" y="928254"/>
            <a:ext cx="6033648" cy="380453"/>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Common Features</a:t>
            </a:r>
            <a:endParaRPr lang="en-US">
              <a:solidFill>
                <a:schemeClr val="tx1"/>
              </a:solidFill>
            </a:endParaRPr>
          </a:p>
        </p:txBody>
      </p:sp>
      <p:sp>
        <p:nvSpPr>
          <p:cNvPr id="8" name="Rectangle 7">
            <a:extLst>
              <a:ext uri="{FF2B5EF4-FFF2-40B4-BE49-F238E27FC236}">
                <a16:creationId xmlns:a16="http://schemas.microsoft.com/office/drawing/2014/main" id="{2687B71C-4201-4725-34AD-B66FD1E60029}"/>
              </a:ext>
            </a:extLst>
          </p:cNvPr>
          <p:cNvSpPr/>
          <p:nvPr/>
        </p:nvSpPr>
        <p:spPr>
          <a:xfrm>
            <a:off x="162998" y="1305805"/>
            <a:ext cx="6025305" cy="1069317"/>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r>
              <a:rPr lang="en-US" sz="1500" dirty="0">
                <a:solidFill>
                  <a:schemeClr val="tx1"/>
                </a:solidFill>
                <a:latin typeface="Avenir Next LT Pro" panose="020B0504020202020204" pitchFamily="34" charset="77"/>
                <a:ea typeface="+mn-lt"/>
                <a:cs typeface="+mn-lt"/>
              </a:rPr>
              <a:t>Compact design is the industry standard, with a </a:t>
            </a:r>
            <a:r>
              <a:rPr lang="en-US" sz="1500" dirty="0" err="1">
                <a:solidFill>
                  <a:schemeClr val="tx1"/>
                </a:solidFill>
                <a:latin typeface="Avenir Next LT Pro" panose="020B0504020202020204" pitchFamily="34" charset="77"/>
                <a:ea typeface="+mn-lt"/>
                <a:cs typeface="+mn-lt"/>
              </a:rPr>
              <a:t>compact_share</a:t>
            </a:r>
            <a:r>
              <a:rPr lang="en-US" sz="1500" dirty="0">
                <a:solidFill>
                  <a:schemeClr val="tx1"/>
                </a:solidFill>
                <a:latin typeface="Avenir Next LT Pro" panose="020B0504020202020204" pitchFamily="34" charset="77"/>
                <a:ea typeface="+mn-lt"/>
                <a:cs typeface="+mn-lt"/>
              </a:rPr>
              <a:t> near 1.0 for almost all brands. </a:t>
            </a:r>
            <a:endParaRPr lang="en-US" dirty="0">
              <a:solidFill>
                <a:schemeClr val="tx1"/>
              </a:solidFill>
              <a:latin typeface="Avenir Next LT Pro" panose="020B0504020202020204" pitchFamily="34" charset="77"/>
              <a:ea typeface="+mn-lt"/>
              <a:cs typeface="+mn-lt"/>
            </a:endParaRPr>
          </a:p>
          <a:p>
            <a:pPr marL="285750" indent="-285750">
              <a:buFont typeface="Arial"/>
              <a:buChar char="•"/>
            </a:pPr>
            <a:r>
              <a:rPr lang="en-US" sz="1500" dirty="0">
                <a:solidFill>
                  <a:schemeClr val="tx1"/>
                </a:solidFill>
                <a:latin typeface="Avenir Next LT Pro" panose="020B0504020202020204" pitchFamily="34" charset="77"/>
                <a:ea typeface="+mn-lt"/>
                <a:cs typeface="+mn-lt"/>
              </a:rPr>
              <a:t>Oven-style models are the secondary dominant format, particularly for premium brands.</a:t>
            </a:r>
            <a:endParaRPr lang="en-US" dirty="0">
              <a:solidFill>
                <a:schemeClr val="tx1"/>
              </a:solidFill>
              <a:latin typeface="Avenir Next LT Pro" panose="020B0504020202020204" pitchFamily="34" charset="77"/>
            </a:endParaRPr>
          </a:p>
        </p:txBody>
      </p:sp>
      <p:sp>
        <p:nvSpPr>
          <p:cNvPr id="9" name="Rectangle 8">
            <a:extLst>
              <a:ext uri="{FF2B5EF4-FFF2-40B4-BE49-F238E27FC236}">
                <a16:creationId xmlns:a16="http://schemas.microsoft.com/office/drawing/2014/main" id="{477E52F9-3E04-7CCC-4337-C88A3A3EA290}"/>
              </a:ext>
            </a:extLst>
          </p:cNvPr>
          <p:cNvSpPr/>
          <p:nvPr/>
        </p:nvSpPr>
        <p:spPr>
          <a:xfrm>
            <a:off x="150057" y="2490016"/>
            <a:ext cx="6038246" cy="357007"/>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Rare Features</a:t>
            </a:r>
            <a:endParaRPr lang="en-US"/>
          </a:p>
        </p:txBody>
      </p:sp>
      <p:sp>
        <p:nvSpPr>
          <p:cNvPr id="10" name="Rectangle 9">
            <a:extLst>
              <a:ext uri="{FF2B5EF4-FFF2-40B4-BE49-F238E27FC236}">
                <a16:creationId xmlns:a16="http://schemas.microsoft.com/office/drawing/2014/main" id="{12543D95-72D7-9CFB-D43B-7526C87258D9}"/>
              </a:ext>
            </a:extLst>
          </p:cNvPr>
          <p:cNvSpPr/>
          <p:nvPr/>
        </p:nvSpPr>
        <p:spPr>
          <a:xfrm>
            <a:off x="157845" y="2849983"/>
            <a:ext cx="6029895" cy="1070818"/>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r>
              <a:rPr lang="en-US" sz="1500" dirty="0">
                <a:solidFill>
                  <a:schemeClr val="tx1"/>
                </a:solidFill>
                <a:latin typeface="Avenir Next LT Pro" panose="020B0504020202020204" pitchFamily="34" charset="77"/>
                <a:ea typeface="+mn-lt"/>
                <a:cs typeface="+mn-lt"/>
              </a:rPr>
              <a:t>Dual-basket models are nearly nonexistent in this dataset. Rotisserie and Window features are highly niche, appearing primarily in a small subset of models from brands like </a:t>
            </a:r>
            <a:r>
              <a:rPr lang="en-US" sz="1500" dirty="0" err="1">
                <a:solidFill>
                  <a:schemeClr val="tx1"/>
                </a:solidFill>
                <a:latin typeface="Avenir Next LT Pro" panose="020B0504020202020204" pitchFamily="34" charset="77"/>
                <a:ea typeface="+mn-lt"/>
                <a:cs typeface="+mn-lt"/>
              </a:rPr>
              <a:t>Chefman</a:t>
            </a:r>
            <a:r>
              <a:rPr lang="en-US" sz="1500" dirty="0">
                <a:solidFill>
                  <a:schemeClr val="tx1"/>
                </a:solidFill>
                <a:latin typeface="Avenir Next LT Pro" panose="020B0504020202020204" pitchFamily="34" charset="77"/>
                <a:ea typeface="+mn-lt"/>
                <a:cs typeface="+mn-lt"/>
              </a:rPr>
              <a:t> and </a:t>
            </a:r>
            <a:r>
              <a:rPr lang="en-US" sz="1500" dirty="0" err="1">
                <a:solidFill>
                  <a:schemeClr val="tx1"/>
                </a:solidFill>
                <a:latin typeface="Avenir Next LT Pro" panose="020B0504020202020204" pitchFamily="34" charset="77"/>
                <a:ea typeface="+mn-lt"/>
                <a:cs typeface="+mn-lt"/>
              </a:rPr>
              <a:t>GoWise</a:t>
            </a:r>
            <a:r>
              <a:rPr lang="en-US" sz="1500" dirty="0">
                <a:solidFill>
                  <a:schemeClr val="tx1"/>
                </a:solidFill>
                <a:latin typeface="Avenir Next LT Pro" panose="020B0504020202020204" pitchFamily="34" charset="77"/>
                <a:ea typeface="+mn-lt"/>
                <a:cs typeface="+mn-lt"/>
              </a:rPr>
              <a:t> USA.</a:t>
            </a:r>
            <a:endParaRPr lang="en-US" dirty="0">
              <a:solidFill>
                <a:schemeClr val="tx1"/>
              </a:solidFill>
              <a:latin typeface="Avenir Next LT Pro" panose="020B0504020202020204" pitchFamily="34" charset="77"/>
            </a:endParaRPr>
          </a:p>
        </p:txBody>
      </p:sp>
      <p:sp>
        <p:nvSpPr>
          <p:cNvPr id="3" name="Rectangle 2">
            <a:extLst>
              <a:ext uri="{FF2B5EF4-FFF2-40B4-BE49-F238E27FC236}">
                <a16:creationId xmlns:a16="http://schemas.microsoft.com/office/drawing/2014/main" id="{4D4F2235-F2B9-A035-523D-F68A6DBFFA58}"/>
              </a:ext>
            </a:extLst>
          </p:cNvPr>
          <p:cNvSpPr/>
          <p:nvPr/>
        </p:nvSpPr>
        <p:spPr>
          <a:xfrm>
            <a:off x="0" y="-15054"/>
            <a:ext cx="12192000" cy="841764"/>
          </a:xfrm>
          <a:prstGeom prst="rect">
            <a:avLst/>
          </a:prstGeom>
          <a:solidFill>
            <a:schemeClr val="tx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5" name="Rectangle 4">
            <a:extLst>
              <a:ext uri="{FF2B5EF4-FFF2-40B4-BE49-F238E27FC236}">
                <a16:creationId xmlns:a16="http://schemas.microsoft.com/office/drawing/2014/main" id="{A9696F1E-B6DD-2760-D8D8-331B7AE9A374}"/>
              </a:ext>
            </a:extLst>
          </p:cNvPr>
          <p:cNvSpPr/>
          <p:nvPr/>
        </p:nvSpPr>
        <p:spPr>
          <a:xfrm flipV="1">
            <a:off x="0" y="723672"/>
            <a:ext cx="12192000" cy="103037"/>
          </a:xfrm>
          <a:prstGeom prst="rect">
            <a:avLst/>
          </a:prstGeom>
          <a:solidFill>
            <a:srgbClr val="A9C86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11" name="TextBox 10">
            <a:extLst>
              <a:ext uri="{FF2B5EF4-FFF2-40B4-BE49-F238E27FC236}">
                <a16:creationId xmlns:a16="http://schemas.microsoft.com/office/drawing/2014/main" id="{D65E6FAB-EE65-35D9-BAA0-37C14FE643B6}"/>
              </a:ext>
            </a:extLst>
          </p:cNvPr>
          <p:cNvSpPr txBox="1"/>
          <p:nvPr/>
        </p:nvSpPr>
        <p:spPr>
          <a:xfrm>
            <a:off x="255618" y="114629"/>
            <a:ext cx="11729109" cy="584775"/>
          </a:xfrm>
          <a:prstGeom prst="rect">
            <a:avLst/>
          </a:prstGeom>
          <a:noFill/>
        </p:spPr>
        <p:txBody>
          <a:bodyPr wrap="square" lIns="91440" tIns="45720" rIns="91440" bIns="45720" rtlCol="0" anchor="t">
            <a:spAutoFit/>
          </a:bodyPr>
          <a:lstStyle/>
          <a:p>
            <a:r>
              <a:rPr lang="en-US" sz="3200" b="1">
                <a:solidFill>
                  <a:schemeClr val="bg1"/>
                </a:solidFill>
                <a:latin typeface="Avenir Next LT Pro"/>
              </a:rPr>
              <a:t>Air Fryer Market Description and Plots</a:t>
            </a:r>
            <a:endParaRPr lang="en-US" sz="3200" b="1">
              <a:solidFill>
                <a:schemeClr val="bg1"/>
              </a:solidFill>
              <a:latin typeface="Avenir Next LT Pro" panose="020B0504020202020204" pitchFamily="34" charset="77"/>
            </a:endParaRPr>
          </a:p>
        </p:txBody>
      </p:sp>
      <p:pic>
        <p:nvPicPr>
          <p:cNvPr id="12" name="Picture 2" descr="What's the Ninja logo supposed to be? Seems intentional : r/logodesign">
            <a:extLst>
              <a:ext uri="{FF2B5EF4-FFF2-40B4-BE49-F238E27FC236}">
                <a16:creationId xmlns:a16="http://schemas.microsoft.com/office/drawing/2014/main" id="{0B938DD8-6E1D-4CBF-B426-5E10F36C30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885" b="27727"/>
          <a:stretch/>
        </p:blipFill>
        <p:spPr bwMode="auto">
          <a:xfrm>
            <a:off x="10871200" y="114629"/>
            <a:ext cx="1217163" cy="403085"/>
          </a:xfrm>
          <a:prstGeom prst="rect">
            <a:avLst/>
          </a:prstGeom>
          <a:noFill/>
          <a:extLst>
            <a:ext uri="{909E8E84-426E-40DD-AFC4-6F175D3DCCD1}">
              <a14:hiddenFill xmlns:a14="http://schemas.microsoft.com/office/drawing/2010/main">
                <a:solidFill>
                  <a:srgbClr val="FFFFFF"/>
                </a:solidFill>
              </a14:hiddenFill>
            </a:ext>
          </a:extLst>
        </p:spPr>
      </p:pic>
      <p:pic>
        <p:nvPicPr>
          <p:cNvPr id="1156" name="Picture 1155" descr="A graph of different colored lines&#10;&#10;AI-generated content may be incorrect.">
            <a:extLst>
              <a:ext uri="{FF2B5EF4-FFF2-40B4-BE49-F238E27FC236}">
                <a16:creationId xmlns:a16="http://schemas.microsoft.com/office/drawing/2014/main" id="{215DF82D-8202-0AAD-0BC3-BF53779843EA}"/>
              </a:ext>
            </a:extLst>
          </p:cNvPr>
          <p:cNvPicPr>
            <a:picLocks noChangeAspect="1"/>
          </p:cNvPicPr>
          <p:nvPr/>
        </p:nvPicPr>
        <p:blipFill>
          <a:blip r:embed="rId4"/>
          <a:stretch>
            <a:fillRect/>
          </a:stretch>
        </p:blipFill>
        <p:spPr>
          <a:xfrm>
            <a:off x="6508819" y="926122"/>
            <a:ext cx="5337604" cy="4338094"/>
          </a:xfrm>
          <a:prstGeom prst="rect">
            <a:avLst/>
          </a:prstGeom>
          <a:ln>
            <a:solidFill>
              <a:srgbClr val="A9C861"/>
            </a:solidFill>
          </a:ln>
        </p:spPr>
      </p:pic>
      <p:graphicFrame>
        <p:nvGraphicFramePr>
          <p:cNvPr id="2" name="Diagram 1">
            <a:extLst>
              <a:ext uri="{FF2B5EF4-FFF2-40B4-BE49-F238E27FC236}">
                <a16:creationId xmlns:a16="http://schemas.microsoft.com/office/drawing/2014/main" id="{87BE8644-AF11-E78E-1180-507C34EB73C4}"/>
              </a:ext>
            </a:extLst>
          </p:cNvPr>
          <p:cNvGraphicFramePr/>
          <p:nvPr>
            <p:extLst>
              <p:ext uri="{D42A27DB-BD31-4B8C-83A1-F6EECF244321}">
                <p14:modId xmlns:p14="http://schemas.microsoft.com/office/powerpoint/2010/main" val="4096337498"/>
              </p:ext>
            </p:extLst>
          </p:nvPr>
        </p:nvGraphicFramePr>
        <p:xfrm>
          <a:off x="630809" y="6463837"/>
          <a:ext cx="11030279" cy="298215"/>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1178" name="Rectangle 1177">
            <a:extLst>
              <a:ext uri="{FF2B5EF4-FFF2-40B4-BE49-F238E27FC236}">
                <a16:creationId xmlns:a16="http://schemas.microsoft.com/office/drawing/2014/main" id="{D02491CD-3D58-7E98-867D-3959AD163210}"/>
              </a:ext>
            </a:extLst>
          </p:cNvPr>
          <p:cNvSpPr/>
          <p:nvPr/>
        </p:nvSpPr>
        <p:spPr>
          <a:xfrm>
            <a:off x="150056" y="4019877"/>
            <a:ext cx="6020661" cy="398038"/>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Brand Specialization</a:t>
            </a:r>
            <a:endParaRPr lang="en-US"/>
          </a:p>
        </p:txBody>
      </p:sp>
      <p:sp>
        <p:nvSpPr>
          <p:cNvPr id="1179" name="Rectangle 1178">
            <a:extLst>
              <a:ext uri="{FF2B5EF4-FFF2-40B4-BE49-F238E27FC236}">
                <a16:creationId xmlns:a16="http://schemas.microsoft.com/office/drawing/2014/main" id="{DDC2D5F4-DB55-5E27-63FD-5D1C0A8C165C}"/>
              </a:ext>
            </a:extLst>
          </p:cNvPr>
          <p:cNvSpPr/>
          <p:nvPr/>
        </p:nvSpPr>
        <p:spPr>
          <a:xfrm>
            <a:off x="163705" y="4415012"/>
            <a:ext cx="6000589" cy="1832818"/>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r>
              <a:rPr lang="en-US" sz="1500" dirty="0">
                <a:solidFill>
                  <a:schemeClr val="tx1"/>
                </a:solidFill>
                <a:latin typeface="Avenir Next LT Pro" panose="020B0504020202020204" pitchFamily="34" charset="77"/>
                <a:ea typeface="+mn-lt"/>
                <a:cs typeface="+mn-lt"/>
              </a:rPr>
              <a:t>Premium/Oven Specialists: Cuisinart and Oster focus on high-priced, oven-style units.</a:t>
            </a:r>
            <a:endParaRPr lang="en-US" dirty="0">
              <a:latin typeface="Avenir Next LT Pro" panose="020B0504020202020204" pitchFamily="34" charset="77"/>
            </a:endParaRPr>
          </a:p>
          <a:p>
            <a:pPr marL="285750" indent="-285750">
              <a:buFont typeface="Arial"/>
              <a:buChar char="•"/>
            </a:pPr>
            <a:r>
              <a:rPr lang="en-US" sz="1500" dirty="0">
                <a:solidFill>
                  <a:schemeClr val="tx1"/>
                </a:solidFill>
                <a:latin typeface="Avenir Next LT Pro" panose="020B0504020202020204" pitchFamily="34" charset="77"/>
                <a:ea typeface="+mn-lt"/>
                <a:cs typeface="+mn-lt"/>
              </a:rPr>
              <a:t>Value Specialists: Dash and </a:t>
            </a:r>
            <a:r>
              <a:rPr lang="en-US" sz="1500" dirty="0" err="1">
                <a:solidFill>
                  <a:schemeClr val="tx1"/>
                </a:solidFill>
                <a:latin typeface="Avenir Next LT Pro" panose="020B0504020202020204" pitchFamily="34" charset="77"/>
                <a:ea typeface="+mn-lt"/>
                <a:cs typeface="+mn-lt"/>
              </a:rPr>
              <a:t>Ultrean</a:t>
            </a:r>
            <a:r>
              <a:rPr lang="en-US" sz="1500" dirty="0">
                <a:solidFill>
                  <a:schemeClr val="tx1"/>
                </a:solidFill>
                <a:latin typeface="Avenir Next LT Pro" panose="020B0504020202020204" pitchFamily="34" charset="77"/>
                <a:ea typeface="+mn-lt"/>
                <a:cs typeface="+mn-lt"/>
              </a:rPr>
              <a:t> focus almost exclusively on low-cost, compact models.</a:t>
            </a:r>
            <a:endParaRPr lang="en-US" dirty="0">
              <a:solidFill>
                <a:schemeClr val="tx1"/>
              </a:solidFill>
              <a:latin typeface="Avenir Next LT Pro" panose="020B0504020202020204" pitchFamily="34" charset="77"/>
            </a:endParaRPr>
          </a:p>
          <a:p>
            <a:pPr marL="285750" indent="-285750">
              <a:buFont typeface="Arial"/>
              <a:buChar char="•"/>
            </a:pPr>
            <a:r>
              <a:rPr lang="en-US" sz="1500" dirty="0">
                <a:solidFill>
                  <a:schemeClr val="tx1"/>
                </a:solidFill>
                <a:latin typeface="Avenir Next LT Pro" panose="020B0504020202020204" pitchFamily="34" charset="77"/>
                <a:ea typeface="+mn-lt"/>
                <a:cs typeface="+mn-lt"/>
              </a:rPr>
              <a:t>Feature Leaders: </a:t>
            </a:r>
            <a:r>
              <a:rPr lang="en-US" sz="1500" dirty="0" err="1">
                <a:solidFill>
                  <a:schemeClr val="tx1"/>
                </a:solidFill>
                <a:latin typeface="Avenir Next LT Pro" panose="020B0504020202020204" pitchFamily="34" charset="77"/>
                <a:ea typeface="+mn-lt"/>
                <a:cs typeface="+mn-lt"/>
              </a:rPr>
              <a:t>Chefman</a:t>
            </a:r>
            <a:r>
              <a:rPr lang="en-US" sz="1500" dirty="0">
                <a:solidFill>
                  <a:schemeClr val="tx1"/>
                </a:solidFill>
                <a:latin typeface="Avenir Next LT Pro" panose="020B0504020202020204" pitchFamily="34" charset="77"/>
                <a:ea typeface="+mn-lt"/>
                <a:cs typeface="+mn-lt"/>
              </a:rPr>
              <a:t> and </a:t>
            </a:r>
            <a:r>
              <a:rPr lang="en-US" sz="1500" dirty="0" err="1">
                <a:solidFill>
                  <a:schemeClr val="tx1"/>
                </a:solidFill>
                <a:latin typeface="Avenir Next LT Pro" panose="020B0504020202020204" pitchFamily="34" charset="77"/>
                <a:ea typeface="+mn-lt"/>
                <a:cs typeface="+mn-lt"/>
              </a:rPr>
              <a:t>GoWise</a:t>
            </a:r>
            <a:r>
              <a:rPr lang="en-US" sz="1500" dirty="0">
                <a:solidFill>
                  <a:schemeClr val="tx1"/>
                </a:solidFill>
                <a:latin typeface="Avenir Next LT Pro" panose="020B0504020202020204" pitchFamily="34" charset="77"/>
                <a:ea typeface="+mn-lt"/>
                <a:cs typeface="+mn-lt"/>
              </a:rPr>
              <a:t> USA are more likely to incorporate "rare" features like rotisserie functions compared to the rest of the market</a:t>
            </a:r>
            <a:endParaRPr lang="en-US" dirty="0">
              <a:solidFill>
                <a:schemeClr val="tx1"/>
              </a:solidFill>
              <a:latin typeface="Avenir Next LT Pro" panose="020B0504020202020204" pitchFamily="34" charset="77"/>
            </a:endParaRPr>
          </a:p>
        </p:txBody>
      </p:sp>
      <p:sp>
        <p:nvSpPr>
          <p:cNvPr id="1181" name="TextBox 1180">
            <a:extLst>
              <a:ext uri="{FF2B5EF4-FFF2-40B4-BE49-F238E27FC236}">
                <a16:creationId xmlns:a16="http://schemas.microsoft.com/office/drawing/2014/main" id="{8C0C7F95-836D-A4E1-8909-2433AED9DBF8}"/>
              </a:ext>
            </a:extLst>
          </p:cNvPr>
          <p:cNvSpPr txBox="1"/>
          <p:nvPr/>
        </p:nvSpPr>
        <p:spPr>
          <a:xfrm>
            <a:off x="6394015" y="5258707"/>
            <a:ext cx="5794335"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Sans-Serif"/>
              <a:buChar char="•"/>
            </a:pPr>
            <a:r>
              <a:rPr lang="en-US" sz="1300">
                <a:latin typeface="Avenir Next LT Pro" panose="020B0504020202020204" pitchFamily="34" charset="77"/>
                <a:ea typeface="+mn-lt"/>
                <a:cs typeface="+mn-lt"/>
              </a:rPr>
              <a:t>Most expensive brands: Cuisinart and Oster (consistently high)</a:t>
            </a:r>
            <a:endParaRPr lang="en-US">
              <a:latin typeface="Avenir Next LT Pro" panose="020B0504020202020204" pitchFamily="34" charset="77"/>
              <a:ea typeface="+mn-lt"/>
              <a:cs typeface="+mn-lt"/>
            </a:endParaRPr>
          </a:p>
          <a:p>
            <a:pPr marL="285750" indent="-285750">
              <a:buFont typeface="Arial,Sans-Serif"/>
              <a:buChar char="•"/>
            </a:pPr>
            <a:r>
              <a:rPr lang="en-US" sz="1300">
                <a:latin typeface="Avenir Next LT Pro" panose="020B0504020202020204" pitchFamily="34" charset="77"/>
                <a:ea typeface="+mn-lt"/>
                <a:cs typeface="+mn-lt"/>
              </a:rPr>
              <a:t>Mid‑priced brands: Ninja, Instant Pot, </a:t>
            </a:r>
            <a:r>
              <a:rPr lang="en-US" sz="1300" err="1">
                <a:latin typeface="Avenir Next LT Pro" panose="020B0504020202020204" pitchFamily="34" charset="77"/>
                <a:ea typeface="+mn-lt"/>
                <a:cs typeface="+mn-lt"/>
              </a:rPr>
              <a:t>NuWave</a:t>
            </a:r>
            <a:r>
              <a:rPr lang="en-US" sz="1300">
                <a:latin typeface="Avenir Next LT Pro" panose="020B0504020202020204" pitchFamily="34" charset="77"/>
                <a:ea typeface="+mn-lt"/>
                <a:cs typeface="+mn-lt"/>
              </a:rPr>
              <a:t> </a:t>
            </a:r>
            <a:endParaRPr lang="en-US">
              <a:latin typeface="Avenir Next LT Pro" panose="020B0504020202020204" pitchFamily="34" charset="77"/>
              <a:ea typeface="+mn-lt"/>
              <a:cs typeface="+mn-lt"/>
            </a:endParaRPr>
          </a:p>
          <a:p>
            <a:pPr marL="285750" indent="-285750">
              <a:buFont typeface="Arial,Sans-Serif"/>
              <a:buChar char="•"/>
            </a:pPr>
            <a:r>
              <a:rPr lang="en-US" sz="1300">
                <a:latin typeface="Avenir Next LT Pro" panose="020B0504020202020204" pitchFamily="34" charset="77"/>
                <a:ea typeface="+mn-lt"/>
                <a:cs typeface="+mn-lt"/>
              </a:rPr>
              <a:t>Budget brands: Dash, Chefman, Ultrean</a:t>
            </a:r>
            <a:endParaRPr lang="en-US">
              <a:latin typeface="Avenir Next LT Pro" panose="020B0504020202020204" pitchFamily="34" charset="77"/>
              <a:ea typeface="+mn-lt"/>
              <a:cs typeface="+mn-lt"/>
            </a:endParaRPr>
          </a:p>
          <a:p>
            <a:pPr marL="285750" indent="-285750">
              <a:buFont typeface="Arial,Sans-Serif"/>
              <a:buChar char="•"/>
            </a:pPr>
            <a:r>
              <a:rPr lang="en-US" sz="1300">
                <a:latin typeface="Avenir Next LT Pro" panose="020B0504020202020204" pitchFamily="34" charset="77"/>
                <a:ea typeface="+mn-lt"/>
                <a:cs typeface="+mn-lt"/>
              </a:rPr>
              <a:t>Prices are fairly stable over time with no major shocks</a:t>
            </a:r>
          </a:p>
          <a:p>
            <a:pPr marL="285750" indent="-285750">
              <a:buFont typeface="Arial,Sans-Serif"/>
              <a:buChar char="•"/>
            </a:pPr>
            <a:r>
              <a:rPr lang="en-US" sz="1300">
                <a:latin typeface="Avenir Next LT Pro" panose="020B0504020202020204" pitchFamily="34" charset="77"/>
                <a:ea typeface="+mn-lt"/>
                <a:cs typeface="+mn-lt"/>
              </a:rPr>
              <a:t>Indicates brands compete in distinct price tiers, not targeting same consumers</a:t>
            </a:r>
            <a:endParaRPr lang="en-US" sz="1300">
              <a:latin typeface="Avenir Next LT Pro" panose="020B0504020202020204" pitchFamily="34" charset="77"/>
            </a:endParaRPr>
          </a:p>
        </p:txBody>
      </p:sp>
    </p:spTree>
    <p:extLst>
      <p:ext uri="{BB962C8B-B14F-4D97-AF65-F5344CB8AC3E}">
        <p14:creationId xmlns:p14="http://schemas.microsoft.com/office/powerpoint/2010/main" val="18856926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22323-AA4C-3722-778A-4CF34447001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92663253-1A26-75F8-A185-E6A235FF4C0D}"/>
              </a:ext>
            </a:extLst>
          </p:cNvPr>
          <p:cNvSpPr/>
          <p:nvPr/>
        </p:nvSpPr>
        <p:spPr>
          <a:xfrm>
            <a:off x="0" y="-15054"/>
            <a:ext cx="12192000" cy="841764"/>
          </a:xfrm>
          <a:prstGeom prst="rect">
            <a:avLst/>
          </a:prstGeom>
          <a:solidFill>
            <a:schemeClr val="tx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5" name="Rectangle 4">
            <a:extLst>
              <a:ext uri="{FF2B5EF4-FFF2-40B4-BE49-F238E27FC236}">
                <a16:creationId xmlns:a16="http://schemas.microsoft.com/office/drawing/2014/main" id="{9B990904-D590-F4BD-22A5-A7230ABBD199}"/>
              </a:ext>
            </a:extLst>
          </p:cNvPr>
          <p:cNvSpPr/>
          <p:nvPr/>
        </p:nvSpPr>
        <p:spPr>
          <a:xfrm flipV="1">
            <a:off x="0" y="723672"/>
            <a:ext cx="12192000" cy="103037"/>
          </a:xfrm>
          <a:prstGeom prst="rect">
            <a:avLst/>
          </a:prstGeom>
          <a:solidFill>
            <a:srgbClr val="A9C86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11" name="TextBox 10">
            <a:extLst>
              <a:ext uri="{FF2B5EF4-FFF2-40B4-BE49-F238E27FC236}">
                <a16:creationId xmlns:a16="http://schemas.microsoft.com/office/drawing/2014/main" id="{3DED9AC0-0673-06AD-0A0C-14A285AAB71A}"/>
              </a:ext>
            </a:extLst>
          </p:cNvPr>
          <p:cNvSpPr txBox="1"/>
          <p:nvPr/>
        </p:nvSpPr>
        <p:spPr>
          <a:xfrm>
            <a:off x="255618" y="114629"/>
            <a:ext cx="11729109" cy="584775"/>
          </a:xfrm>
          <a:prstGeom prst="rect">
            <a:avLst/>
          </a:prstGeom>
          <a:noFill/>
        </p:spPr>
        <p:txBody>
          <a:bodyPr wrap="square" lIns="91440" tIns="45720" rIns="91440" bIns="45720" rtlCol="0" anchor="t">
            <a:spAutoFit/>
          </a:bodyPr>
          <a:lstStyle/>
          <a:p>
            <a:r>
              <a:rPr lang="en-US" sz="3200" b="1">
                <a:solidFill>
                  <a:schemeClr val="bg1"/>
                </a:solidFill>
                <a:latin typeface="Avenir Next LT Pro"/>
              </a:rPr>
              <a:t>Air Fryer Market Plots </a:t>
            </a:r>
            <a:r>
              <a:rPr lang="en-US" sz="3200" b="1" i="1">
                <a:solidFill>
                  <a:schemeClr val="bg1"/>
                </a:solidFill>
                <a:latin typeface="Avenir Next LT Pro"/>
              </a:rPr>
              <a:t>(cont.)</a:t>
            </a:r>
            <a:endParaRPr lang="en-US" i="1">
              <a:solidFill>
                <a:schemeClr val="bg1"/>
              </a:solidFill>
            </a:endParaRPr>
          </a:p>
        </p:txBody>
      </p:sp>
      <p:pic>
        <p:nvPicPr>
          <p:cNvPr id="12" name="Picture 2" descr="What's the Ninja logo supposed to be? Seems intentional : r/logodesign">
            <a:extLst>
              <a:ext uri="{FF2B5EF4-FFF2-40B4-BE49-F238E27FC236}">
                <a16:creationId xmlns:a16="http://schemas.microsoft.com/office/drawing/2014/main" id="{6332A96C-B081-A264-2D30-2CB802CAA86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885" b="27727"/>
          <a:stretch/>
        </p:blipFill>
        <p:spPr bwMode="auto">
          <a:xfrm>
            <a:off x="10871200" y="114629"/>
            <a:ext cx="1217163" cy="403085"/>
          </a:xfrm>
          <a:prstGeom prst="rect">
            <a:avLst/>
          </a:prstGeom>
          <a:noFill/>
          <a:extLst>
            <a:ext uri="{909E8E84-426E-40DD-AFC4-6F175D3DCCD1}">
              <a14:hiddenFill xmlns:a14="http://schemas.microsoft.com/office/drawing/2010/main">
                <a:solidFill>
                  <a:srgbClr val="FFFFFF"/>
                </a:solidFill>
              </a14:hiddenFill>
            </a:ext>
          </a:extLst>
        </p:spPr>
      </p:pic>
      <p:pic>
        <p:nvPicPr>
          <p:cNvPr id="1025" name="Picture 1024" descr="A graph of different colored lines&#10;&#10;AI-generated content may be incorrect.">
            <a:extLst>
              <a:ext uri="{FF2B5EF4-FFF2-40B4-BE49-F238E27FC236}">
                <a16:creationId xmlns:a16="http://schemas.microsoft.com/office/drawing/2014/main" id="{3B25A692-58E9-E532-5D40-2312939F7B3F}"/>
              </a:ext>
            </a:extLst>
          </p:cNvPr>
          <p:cNvPicPr>
            <a:picLocks noChangeAspect="1"/>
          </p:cNvPicPr>
          <p:nvPr/>
        </p:nvPicPr>
        <p:blipFill>
          <a:blip r:embed="rId4"/>
          <a:srcRect l="1308" t="1688" r="-451" b="1055"/>
          <a:stretch>
            <a:fillRect/>
          </a:stretch>
        </p:blipFill>
        <p:spPr>
          <a:xfrm>
            <a:off x="760855" y="978877"/>
            <a:ext cx="4945554" cy="3967514"/>
          </a:xfrm>
          <a:prstGeom prst="rect">
            <a:avLst/>
          </a:prstGeom>
          <a:ln>
            <a:solidFill>
              <a:srgbClr val="A9C861"/>
            </a:solidFill>
          </a:ln>
        </p:spPr>
      </p:pic>
      <p:pic>
        <p:nvPicPr>
          <p:cNvPr id="1027" name="Picture 1026" descr="A graph of different colored lines&#10;&#10;AI-generated content may be incorrect.">
            <a:extLst>
              <a:ext uri="{FF2B5EF4-FFF2-40B4-BE49-F238E27FC236}">
                <a16:creationId xmlns:a16="http://schemas.microsoft.com/office/drawing/2014/main" id="{B24A1ECB-9178-1740-3FEF-F5DAC8AA9D3D}"/>
              </a:ext>
            </a:extLst>
          </p:cNvPr>
          <p:cNvPicPr>
            <a:picLocks noChangeAspect="1"/>
          </p:cNvPicPr>
          <p:nvPr/>
        </p:nvPicPr>
        <p:blipFill>
          <a:blip r:embed="rId5"/>
          <a:stretch>
            <a:fillRect/>
          </a:stretch>
        </p:blipFill>
        <p:spPr>
          <a:xfrm>
            <a:off x="6384052" y="978876"/>
            <a:ext cx="5109587" cy="3968263"/>
          </a:xfrm>
          <a:prstGeom prst="rect">
            <a:avLst/>
          </a:prstGeom>
          <a:ln>
            <a:solidFill>
              <a:srgbClr val="A9C861"/>
            </a:solidFill>
          </a:ln>
        </p:spPr>
      </p:pic>
      <p:sp>
        <p:nvSpPr>
          <p:cNvPr id="1042" name="TextBox 1041">
            <a:extLst>
              <a:ext uri="{FF2B5EF4-FFF2-40B4-BE49-F238E27FC236}">
                <a16:creationId xmlns:a16="http://schemas.microsoft.com/office/drawing/2014/main" id="{3AAE9482-4B34-008F-B898-B6152B33E321}"/>
              </a:ext>
            </a:extLst>
          </p:cNvPr>
          <p:cNvSpPr txBox="1"/>
          <p:nvPr/>
        </p:nvSpPr>
        <p:spPr>
          <a:xfrm>
            <a:off x="6383925" y="5093143"/>
            <a:ext cx="590852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Market shares have experienced slight volatility</a:t>
            </a: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Market structure is competitive but not stable; share leaders have shifted significantly</a:t>
            </a:r>
            <a:endParaRPr lang="en-US" sz="1200" dirty="0">
              <a:latin typeface="Avenir Next LT Pro" panose="020B0504020202020204" pitchFamily="34" charset="77"/>
            </a:endParaRP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Market leaders: </a:t>
            </a:r>
            <a:r>
              <a:rPr lang="en-US" sz="1200" dirty="0" err="1">
                <a:latin typeface="Avenir Next LT Pro" panose="020B0504020202020204" pitchFamily="34" charset="77"/>
                <a:ea typeface="+mn-lt"/>
                <a:cs typeface="+mn-lt"/>
              </a:rPr>
              <a:t>GoWise</a:t>
            </a:r>
            <a:r>
              <a:rPr lang="en-US" sz="1200" dirty="0">
                <a:latin typeface="Avenir Next LT Pro" panose="020B0504020202020204" pitchFamily="34" charset="77"/>
                <a:ea typeface="+mn-lt"/>
                <a:cs typeface="+mn-lt"/>
              </a:rPr>
              <a:t> USA (2019-2020), Ninja and Instant Pot (2020-2023)</a:t>
            </a:r>
            <a:endParaRPr lang="en-US" sz="1200" dirty="0">
              <a:latin typeface="Avenir Next LT Pro" panose="020B0504020202020204" pitchFamily="34" charset="77"/>
            </a:endParaRP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Instant Pot shows strong growth over time</a:t>
            </a:r>
            <a:endParaRPr lang="en-US" sz="1200" dirty="0">
              <a:latin typeface="Avenir Next LT Pro" panose="020B0504020202020204" pitchFamily="34" charset="77"/>
            </a:endParaRP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Laggers: Some brands (Dash, </a:t>
            </a:r>
            <a:r>
              <a:rPr lang="en-US" sz="1200" dirty="0" err="1">
                <a:latin typeface="Avenir Next LT Pro" panose="020B0504020202020204" pitchFamily="34" charset="77"/>
                <a:ea typeface="+mn-lt"/>
                <a:cs typeface="+mn-lt"/>
              </a:rPr>
              <a:t>GoWise</a:t>
            </a:r>
            <a:r>
              <a:rPr lang="en-US" sz="1200" dirty="0">
                <a:latin typeface="Avenir Next LT Pro" panose="020B0504020202020204" pitchFamily="34" charset="77"/>
                <a:ea typeface="+mn-lt"/>
                <a:cs typeface="+mn-lt"/>
              </a:rPr>
              <a:t> USA) lose share over time</a:t>
            </a:r>
            <a:endParaRPr lang="en-US" sz="1200" dirty="0">
              <a:latin typeface="Avenir Next LT Pro" panose="020B0504020202020204" pitchFamily="34" charset="77"/>
            </a:endParaRP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Smaller brands remain niche but persistent (</a:t>
            </a:r>
            <a:r>
              <a:rPr lang="en-US" sz="1200" dirty="0" err="1">
                <a:latin typeface="Avenir Next LT Pro" panose="020B0504020202020204" pitchFamily="34" charset="77"/>
                <a:ea typeface="+mn-lt"/>
                <a:cs typeface="+mn-lt"/>
              </a:rPr>
              <a:t>Nuwave</a:t>
            </a:r>
            <a:r>
              <a:rPr lang="en-US" sz="1200" dirty="0">
                <a:latin typeface="Avenir Next LT Pro" panose="020B0504020202020204" pitchFamily="34" charset="77"/>
                <a:ea typeface="+mn-lt"/>
                <a:cs typeface="+mn-lt"/>
              </a:rPr>
              <a:t>, Oster, Cuisinart)</a:t>
            </a:r>
            <a:endParaRPr lang="en-US" sz="1200" dirty="0">
              <a:latin typeface="Avenir Next LT Pro" panose="020B0504020202020204" pitchFamily="34" charset="77"/>
            </a:endParaRPr>
          </a:p>
        </p:txBody>
      </p:sp>
      <p:graphicFrame>
        <p:nvGraphicFramePr>
          <p:cNvPr id="2" name="Diagram 1">
            <a:extLst>
              <a:ext uri="{FF2B5EF4-FFF2-40B4-BE49-F238E27FC236}">
                <a16:creationId xmlns:a16="http://schemas.microsoft.com/office/drawing/2014/main" id="{1B60F711-80F7-7866-173E-2D77157DF7D0}"/>
              </a:ext>
            </a:extLst>
          </p:cNvPr>
          <p:cNvGraphicFramePr/>
          <p:nvPr>
            <p:extLst>
              <p:ext uri="{D42A27DB-BD31-4B8C-83A1-F6EECF244321}">
                <p14:modId xmlns:p14="http://schemas.microsoft.com/office/powerpoint/2010/main" val="3356327361"/>
              </p:ext>
            </p:extLst>
          </p:nvPr>
        </p:nvGraphicFramePr>
        <p:xfrm>
          <a:off x="630809" y="6463836"/>
          <a:ext cx="11030279" cy="2982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225" name="TextBox 1224">
            <a:extLst>
              <a:ext uri="{FF2B5EF4-FFF2-40B4-BE49-F238E27FC236}">
                <a16:creationId xmlns:a16="http://schemas.microsoft.com/office/drawing/2014/main" id="{66B1639E-DD1F-29F6-BDA1-AA25F2BD236B}"/>
              </a:ext>
            </a:extLst>
          </p:cNvPr>
          <p:cNvSpPr txBox="1"/>
          <p:nvPr/>
        </p:nvSpPr>
        <p:spPr>
          <a:xfrm>
            <a:off x="506046" y="4938126"/>
            <a:ext cx="5642196" cy="20202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Ratings are high across all brands (roughly 4.3–4.8)</a:t>
            </a: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Little variation over time, suggesting stable product quality except for Instant Pot, which has seen a meaningful increase in ratings</a:t>
            </a:r>
            <a:endParaRPr lang="en-US" sz="1200" dirty="0">
              <a:latin typeface="Avenir Next LT Pro" panose="020B0504020202020204" pitchFamily="34" charset="77"/>
            </a:endParaRP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Premium and budget brands receive similarly high ratings (Ninja, </a:t>
            </a:r>
            <a:r>
              <a:rPr lang="en-US" sz="1200" dirty="0" err="1">
                <a:latin typeface="Avenir Next LT Pro" panose="020B0504020202020204" pitchFamily="34" charset="77"/>
                <a:ea typeface="+mn-lt"/>
                <a:cs typeface="+mn-lt"/>
              </a:rPr>
              <a:t>Cosori</a:t>
            </a:r>
            <a:r>
              <a:rPr lang="en-US" sz="1200" dirty="0">
                <a:latin typeface="Avenir Next LT Pro" panose="020B0504020202020204" pitchFamily="34" charset="77"/>
                <a:ea typeface="+mn-lt"/>
                <a:cs typeface="+mn-lt"/>
              </a:rPr>
              <a:t>, </a:t>
            </a:r>
            <a:r>
              <a:rPr lang="en-US" sz="1200" dirty="0" err="1">
                <a:latin typeface="Avenir Next LT Pro" panose="020B0504020202020204" pitchFamily="34" charset="77"/>
                <a:ea typeface="+mn-lt"/>
                <a:cs typeface="+mn-lt"/>
              </a:rPr>
              <a:t>Ultrean</a:t>
            </a:r>
            <a:r>
              <a:rPr lang="en-US" sz="1200" dirty="0">
                <a:latin typeface="Avenir Next LT Pro" panose="020B0504020202020204" pitchFamily="34" charset="77"/>
                <a:ea typeface="+mn-lt"/>
                <a:cs typeface="+mn-lt"/>
              </a:rPr>
              <a:t>)</a:t>
            </a: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No brand experiences a major decline in ratings</a:t>
            </a:r>
          </a:p>
          <a:p>
            <a:pPr marL="285750" indent="-285750">
              <a:buFont typeface="Arial" panose="020B0604020202020204" pitchFamily="34" charset="0"/>
              <a:buChar char="•"/>
            </a:pPr>
            <a:r>
              <a:rPr lang="en-US" sz="1200" dirty="0">
                <a:latin typeface="Avenir Next LT Pro" panose="020B0504020202020204" pitchFamily="34" charset="77"/>
                <a:ea typeface="+mn-lt"/>
                <a:cs typeface="+mn-lt"/>
              </a:rPr>
              <a:t>Suggests competition not driven by quality differences, but by price + features</a:t>
            </a:r>
          </a:p>
          <a:p>
            <a:endParaRPr lang="en-US" sz="1250" dirty="0">
              <a:latin typeface="Avenir Next LT Pro" panose="020B0504020202020204" pitchFamily="34" charset="77"/>
              <a:cs typeface="Segoe UI"/>
            </a:endParaRPr>
          </a:p>
          <a:p>
            <a:endParaRPr lang="en-US" sz="1250" dirty="0">
              <a:latin typeface="Avenir Next LT Pro" panose="020B0504020202020204" pitchFamily="34" charset="77"/>
              <a:cs typeface="Segoe UI"/>
            </a:endParaRPr>
          </a:p>
        </p:txBody>
      </p:sp>
    </p:spTree>
    <p:extLst>
      <p:ext uri="{BB962C8B-B14F-4D97-AF65-F5344CB8AC3E}">
        <p14:creationId xmlns:p14="http://schemas.microsoft.com/office/powerpoint/2010/main" val="32791355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F9F46-2811-09BC-7761-B6FF4ED3AB2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7258B2E-135E-64B0-5903-DDDB774C8A66}"/>
              </a:ext>
            </a:extLst>
          </p:cNvPr>
          <p:cNvSpPr/>
          <p:nvPr/>
        </p:nvSpPr>
        <p:spPr>
          <a:xfrm>
            <a:off x="0" y="-15054"/>
            <a:ext cx="12192000" cy="841764"/>
          </a:xfrm>
          <a:prstGeom prst="rect">
            <a:avLst/>
          </a:prstGeom>
          <a:solidFill>
            <a:schemeClr val="tx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7" name="Rectangle 6">
            <a:extLst>
              <a:ext uri="{FF2B5EF4-FFF2-40B4-BE49-F238E27FC236}">
                <a16:creationId xmlns:a16="http://schemas.microsoft.com/office/drawing/2014/main" id="{FB492866-22F9-9287-4807-7DE59242987B}"/>
              </a:ext>
            </a:extLst>
          </p:cNvPr>
          <p:cNvSpPr/>
          <p:nvPr/>
        </p:nvSpPr>
        <p:spPr>
          <a:xfrm flipV="1">
            <a:off x="0" y="723672"/>
            <a:ext cx="12192000" cy="103037"/>
          </a:xfrm>
          <a:prstGeom prst="rect">
            <a:avLst/>
          </a:prstGeom>
          <a:solidFill>
            <a:srgbClr val="A9C86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8" name="TextBox 7">
            <a:extLst>
              <a:ext uri="{FF2B5EF4-FFF2-40B4-BE49-F238E27FC236}">
                <a16:creationId xmlns:a16="http://schemas.microsoft.com/office/drawing/2014/main" id="{7F53B5B2-C410-B430-36A4-E4B07BF57831}"/>
              </a:ext>
            </a:extLst>
          </p:cNvPr>
          <p:cNvSpPr txBox="1"/>
          <p:nvPr/>
        </p:nvSpPr>
        <p:spPr>
          <a:xfrm>
            <a:off x="255618" y="114629"/>
            <a:ext cx="11729109" cy="584775"/>
          </a:xfrm>
          <a:prstGeom prst="rect">
            <a:avLst/>
          </a:prstGeom>
          <a:noFill/>
        </p:spPr>
        <p:txBody>
          <a:bodyPr wrap="square" lIns="91440" tIns="45720" rIns="91440" bIns="45720" rtlCol="0" anchor="t">
            <a:spAutoFit/>
          </a:bodyPr>
          <a:lstStyle/>
          <a:p>
            <a:r>
              <a:rPr lang="en-US" sz="3200" b="1">
                <a:solidFill>
                  <a:schemeClr val="bg1"/>
                </a:solidFill>
                <a:latin typeface="Avenir Next LT Pro"/>
              </a:rPr>
              <a:t>Demand Model &amp; Price Coefficient</a:t>
            </a:r>
            <a:endParaRPr lang="en-US" sz="3200" b="1">
              <a:solidFill>
                <a:schemeClr val="bg1"/>
              </a:solidFill>
              <a:latin typeface="Avenir Next LT Pro" panose="020B0504020202020204" pitchFamily="34" charset="77"/>
            </a:endParaRPr>
          </a:p>
        </p:txBody>
      </p:sp>
      <p:pic>
        <p:nvPicPr>
          <p:cNvPr id="9" name="Picture 2" descr="What's the Ninja logo supposed to be? Seems intentional : r/logodesign">
            <a:extLst>
              <a:ext uri="{FF2B5EF4-FFF2-40B4-BE49-F238E27FC236}">
                <a16:creationId xmlns:a16="http://schemas.microsoft.com/office/drawing/2014/main" id="{140A59DB-FF1D-DD7B-62AC-BC49F64848B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885" b="27727"/>
          <a:stretch/>
        </p:blipFill>
        <p:spPr bwMode="auto">
          <a:xfrm>
            <a:off x="10871200" y="114629"/>
            <a:ext cx="1217163" cy="40308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Diagram 5">
            <a:extLst>
              <a:ext uri="{FF2B5EF4-FFF2-40B4-BE49-F238E27FC236}">
                <a16:creationId xmlns:a16="http://schemas.microsoft.com/office/drawing/2014/main" id="{B1777D73-C0A9-A032-A625-1BB37E894FC5}"/>
              </a:ext>
            </a:extLst>
          </p:cNvPr>
          <p:cNvGraphicFramePr/>
          <p:nvPr/>
        </p:nvGraphicFramePr>
        <p:xfrm>
          <a:off x="630809" y="6370052"/>
          <a:ext cx="11030279" cy="2982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a:extLst>
              <a:ext uri="{FF2B5EF4-FFF2-40B4-BE49-F238E27FC236}">
                <a16:creationId xmlns:a16="http://schemas.microsoft.com/office/drawing/2014/main" id="{32A0FDAC-A100-1803-262B-E40DD014A16E}"/>
              </a:ext>
            </a:extLst>
          </p:cNvPr>
          <p:cNvSpPr/>
          <p:nvPr/>
        </p:nvSpPr>
        <p:spPr>
          <a:xfrm>
            <a:off x="418865" y="4037643"/>
            <a:ext cx="8282752" cy="486286"/>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Negative State of Price Coefficient</a:t>
            </a:r>
            <a:endParaRPr lang="en-US">
              <a:solidFill>
                <a:schemeClr val="tx1"/>
              </a:solidFill>
            </a:endParaRPr>
          </a:p>
        </p:txBody>
      </p:sp>
      <p:sp>
        <p:nvSpPr>
          <p:cNvPr id="4" name="Rectangle 3">
            <a:extLst>
              <a:ext uri="{FF2B5EF4-FFF2-40B4-BE49-F238E27FC236}">
                <a16:creationId xmlns:a16="http://schemas.microsoft.com/office/drawing/2014/main" id="{20E729E0-59FC-0BC9-AA10-39B8169F17BA}"/>
              </a:ext>
            </a:extLst>
          </p:cNvPr>
          <p:cNvSpPr/>
          <p:nvPr/>
        </p:nvSpPr>
        <p:spPr>
          <a:xfrm>
            <a:off x="424321" y="4521026"/>
            <a:ext cx="8276743" cy="1588133"/>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Sans-Serif"/>
              <a:buChar char="•"/>
            </a:pPr>
            <a:r>
              <a:rPr lang="en-US" sz="1500" b="1" dirty="0">
                <a:solidFill>
                  <a:schemeClr val="tx1"/>
                </a:solidFill>
                <a:latin typeface="Avenir Next LT Pro"/>
              </a:rPr>
              <a:t>Economics Dynamics</a:t>
            </a:r>
            <a:r>
              <a:rPr lang="en-US" sz="1500" dirty="0">
                <a:solidFill>
                  <a:schemeClr val="tx1"/>
                </a:solidFill>
                <a:latin typeface="Avenir Next LT Pro"/>
              </a:rPr>
              <a:t>: Demand decreases as price increases</a:t>
            </a:r>
          </a:p>
          <a:p>
            <a:pPr marL="285750" indent="-285750">
              <a:buFont typeface="Arial,Sans-Serif"/>
              <a:buChar char="•"/>
            </a:pPr>
            <a:r>
              <a:rPr lang="en-US" sz="1500" dirty="0">
                <a:solidFill>
                  <a:schemeClr val="tx1"/>
                </a:solidFill>
                <a:latin typeface="Avenir Next LT Pro"/>
              </a:rPr>
              <a:t>The higher a firm’s price is, the lower the market share that firm will have</a:t>
            </a:r>
          </a:p>
          <a:p>
            <a:pPr marL="285750" indent="-285750">
              <a:buFont typeface="Arial,Sans-Serif"/>
              <a:buChar char="•"/>
            </a:pPr>
            <a:r>
              <a:rPr lang="en-US" sz="1500" dirty="0">
                <a:solidFill>
                  <a:schemeClr val="tx1"/>
                </a:solidFill>
                <a:latin typeface="Avenir Next LT Pro"/>
              </a:rPr>
              <a:t>The price coefficient being negative indicates that the demand curve is downwards sloping and confirms the law of demand that for every dollar increase in price, log market share falls by 0.0377 units, holding everything else constant</a:t>
            </a:r>
          </a:p>
          <a:p>
            <a:pPr marL="285750" indent="-285750">
              <a:buFont typeface="Arial,Sans-Serif"/>
              <a:buChar char="•"/>
            </a:pPr>
            <a:r>
              <a:rPr lang="en-US" sz="1500" dirty="0">
                <a:solidFill>
                  <a:schemeClr val="tx1"/>
                </a:solidFill>
                <a:latin typeface="Avenir Next LT Pro"/>
              </a:rPr>
              <a:t>Thus, brands that charge more capture less of the market</a:t>
            </a:r>
          </a:p>
        </p:txBody>
      </p:sp>
      <p:sp>
        <p:nvSpPr>
          <p:cNvPr id="102" name="Rectangle 101">
            <a:extLst>
              <a:ext uri="{FF2B5EF4-FFF2-40B4-BE49-F238E27FC236}">
                <a16:creationId xmlns:a16="http://schemas.microsoft.com/office/drawing/2014/main" id="{5C1AF30F-DC6E-ECBA-5456-89755DDF189E}"/>
              </a:ext>
            </a:extLst>
          </p:cNvPr>
          <p:cNvSpPr/>
          <p:nvPr/>
        </p:nvSpPr>
        <p:spPr>
          <a:xfrm>
            <a:off x="421381" y="1452948"/>
            <a:ext cx="8274943" cy="2324296"/>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a:buChar char="•"/>
            </a:pPr>
            <a:endParaRPr lang="en-US" sz="1500">
              <a:solidFill>
                <a:schemeClr val="tx1"/>
              </a:solidFill>
              <a:latin typeface="Avenir Next LT Pro"/>
            </a:endParaRPr>
          </a:p>
          <a:p>
            <a:pPr marL="285750" indent="-285750">
              <a:buFont typeface="Arial"/>
              <a:buChar char="•"/>
            </a:pPr>
            <a:r>
              <a:rPr lang="en-US" sz="1500">
                <a:solidFill>
                  <a:schemeClr val="tx1"/>
                </a:solidFill>
                <a:latin typeface="Avenir Next LT Pro"/>
              </a:rPr>
              <a:t>Estimated consumer demand using a </a:t>
            </a:r>
            <a:r>
              <a:rPr lang="en-US" sz="1500" b="1">
                <a:solidFill>
                  <a:schemeClr val="tx1"/>
                </a:solidFill>
                <a:latin typeface="Avenir Next LT Pro"/>
              </a:rPr>
              <a:t>multinomial logit demand model </a:t>
            </a:r>
          </a:p>
          <a:p>
            <a:pPr marL="285750" indent="-285750">
              <a:buFont typeface="Arial"/>
              <a:buChar char="•"/>
            </a:pPr>
            <a:r>
              <a:rPr lang="en-US" sz="1500">
                <a:solidFill>
                  <a:schemeClr val="tx1"/>
                </a:solidFill>
                <a:latin typeface="Avenir Next LT Pro"/>
              </a:rPr>
              <a:t>Modeled the </a:t>
            </a:r>
            <a:r>
              <a:rPr lang="en-US" sz="1500" b="1">
                <a:solidFill>
                  <a:schemeClr val="tx1"/>
                </a:solidFill>
                <a:latin typeface="Avenir Next LT Pro"/>
              </a:rPr>
              <a:t>log of brand share </a:t>
            </a:r>
            <a:r>
              <a:rPr lang="en-US" sz="1500">
                <a:solidFill>
                  <a:schemeClr val="tx1"/>
                </a:solidFill>
                <a:latin typeface="Avenir Next LT Pro"/>
              </a:rPr>
              <a:t>as a function of price, rating, product features, brand effects, and year effects</a:t>
            </a:r>
          </a:p>
          <a:p>
            <a:pPr marL="285750" indent="-285750">
              <a:buFont typeface="Arial"/>
              <a:buChar char="•"/>
            </a:pPr>
            <a:r>
              <a:rPr lang="en-US" sz="1500">
                <a:solidFill>
                  <a:schemeClr val="tx1"/>
                </a:solidFill>
                <a:latin typeface="Avenir Next LT Pro"/>
              </a:rPr>
              <a:t>Model was estimated using</a:t>
            </a:r>
            <a:r>
              <a:rPr lang="en-US" sz="1500" b="1">
                <a:solidFill>
                  <a:schemeClr val="tx1"/>
                </a:solidFill>
                <a:latin typeface="Avenir Next LT Pro"/>
              </a:rPr>
              <a:t> linear regression</a:t>
            </a:r>
            <a:r>
              <a:rPr lang="en-US" sz="1500">
                <a:solidFill>
                  <a:schemeClr val="tx1"/>
                </a:solidFill>
                <a:latin typeface="Avenir Next LT Pro"/>
              </a:rPr>
              <a:t> on log market share</a:t>
            </a:r>
          </a:p>
          <a:p>
            <a:pPr marL="285750" indent="-285750">
              <a:buFont typeface="Arial"/>
              <a:buChar char="•"/>
            </a:pPr>
            <a:r>
              <a:rPr lang="en-US" sz="1500">
                <a:solidFill>
                  <a:schemeClr val="tx1"/>
                </a:solidFill>
                <a:latin typeface="Avenir Next LT Pro"/>
              </a:rPr>
              <a:t>Allows for interpretation of how changes in price and product characteristics affect demand</a:t>
            </a:r>
          </a:p>
          <a:p>
            <a:pPr marL="285750" indent="-285750">
              <a:buFont typeface="Arial"/>
              <a:buChar char="•"/>
            </a:pPr>
            <a:r>
              <a:rPr lang="en-US" sz="1500">
                <a:solidFill>
                  <a:schemeClr val="tx1"/>
                </a:solidFill>
                <a:latin typeface="Avenir Next LT Pro"/>
              </a:rPr>
              <a:t>Brand and year dummy variables included to capture differences across brands and time periods, isolating the effect of price while controlling for product quality and brand strength</a:t>
            </a:r>
          </a:p>
          <a:p>
            <a:endParaRPr lang="en-US" sz="1500">
              <a:solidFill>
                <a:schemeClr val="tx1"/>
              </a:solidFill>
              <a:latin typeface="Avenir Next LT Pro"/>
            </a:endParaRPr>
          </a:p>
        </p:txBody>
      </p:sp>
      <p:sp>
        <p:nvSpPr>
          <p:cNvPr id="104" name="Rectangle 103">
            <a:extLst>
              <a:ext uri="{FF2B5EF4-FFF2-40B4-BE49-F238E27FC236}">
                <a16:creationId xmlns:a16="http://schemas.microsoft.com/office/drawing/2014/main" id="{C2F2C1C8-1B74-6DDC-BFE6-9F0B74E0B782}"/>
              </a:ext>
            </a:extLst>
          </p:cNvPr>
          <p:cNvSpPr/>
          <p:nvPr/>
        </p:nvSpPr>
        <p:spPr>
          <a:xfrm>
            <a:off x="409675" y="1013629"/>
            <a:ext cx="8276542" cy="432770"/>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Demand Model</a:t>
            </a:r>
          </a:p>
        </p:txBody>
      </p:sp>
      <p:sp>
        <p:nvSpPr>
          <p:cNvPr id="10" name="Rectangle 9">
            <a:extLst>
              <a:ext uri="{FF2B5EF4-FFF2-40B4-BE49-F238E27FC236}">
                <a16:creationId xmlns:a16="http://schemas.microsoft.com/office/drawing/2014/main" id="{6A19487F-D0B5-6FFE-6760-7783A1AECF06}"/>
              </a:ext>
            </a:extLst>
          </p:cNvPr>
          <p:cNvSpPr/>
          <p:nvPr/>
        </p:nvSpPr>
        <p:spPr>
          <a:xfrm>
            <a:off x="8949032" y="4038379"/>
            <a:ext cx="2540905" cy="486287"/>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Price Coefficient: </a:t>
            </a:r>
          </a:p>
        </p:txBody>
      </p:sp>
      <p:sp>
        <p:nvSpPr>
          <p:cNvPr id="15" name="Rectangle 14">
            <a:extLst>
              <a:ext uri="{FF2B5EF4-FFF2-40B4-BE49-F238E27FC236}">
                <a16:creationId xmlns:a16="http://schemas.microsoft.com/office/drawing/2014/main" id="{51F6895E-994E-F472-433F-EEA64730DA07}"/>
              </a:ext>
            </a:extLst>
          </p:cNvPr>
          <p:cNvSpPr/>
          <p:nvPr/>
        </p:nvSpPr>
        <p:spPr>
          <a:xfrm>
            <a:off x="8947909" y="1013629"/>
            <a:ext cx="2542028" cy="428722"/>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Model R</a:t>
            </a:r>
            <a:r>
              <a:rPr lang="en-US" b="1" baseline="30000">
                <a:solidFill>
                  <a:schemeClr val="tx1"/>
                </a:solidFill>
                <a:latin typeface="Avenir Next LT Pro"/>
              </a:rPr>
              <a:t>2</a:t>
            </a:r>
            <a:endParaRPr lang="en-US" baseline="30000">
              <a:solidFill>
                <a:schemeClr val="tx1"/>
              </a:solidFill>
            </a:endParaRPr>
          </a:p>
        </p:txBody>
      </p:sp>
      <p:sp>
        <p:nvSpPr>
          <p:cNvPr id="43" name="Rectangle 42">
            <a:extLst>
              <a:ext uri="{FF2B5EF4-FFF2-40B4-BE49-F238E27FC236}">
                <a16:creationId xmlns:a16="http://schemas.microsoft.com/office/drawing/2014/main" id="{4467300F-14BD-3054-5007-7F2E9799B11E}"/>
              </a:ext>
            </a:extLst>
          </p:cNvPr>
          <p:cNvSpPr/>
          <p:nvPr/>
        </p:nvSpPr>
        <p:spPr>
          <a:xfrm>
            <a:off x="8950758" y="1447056"/>
            <a:ext cx="2538777" cy="2324297"/>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sz="2000" dirty="0">
              <a:solidFill>
                <a:schemeClr val="tx1"/>
              </a:solidFill>
              <a:highlight>
                <a:srgbClr val="E1DFDD"/>
              </a:highlight>
              <a:latin typeface="Consolas"/>
            </a:endParaRPr>
          </a:p>
          <a:p>
            <a:pPr algn="ctr"/>
            <a:r>
              <a:rPr lang="en-US" sz="2000" dirty="0">
                <a:solidFill>
                  <a:schemeClr val="tx1"/>
                </a:solidFill>
                <a:latin typeface="Consolas"/>
              </a:rPr>
              <a:t>~0.7635</a:t>
            </a:r>
            <a:endParaRPr lang="en-US" dirty="0">
              <a:solidFill>
                <a:schemeClr val="tx1"/>
              </a:solidFill>
            </a:endParaRPr>
          </a:p>
          <a:p>
            <a:endParaRPr lang="en-US" sz="1600" dirty="0">
              <a:solidFill>
                <a:schemeClr val="tx1"/>
              </a:solidFill>
              <a:ea typeface="+mn-lt"/>
              <a:cs typeface="+mn-lt"/>
            </a:endParaRPr>
          </a:p>
          <a:p>
            <a:r>
              <a:rPr lang="en-US" sz="1400" dirty="0">
                <a:solidFill>
                  <a:schemeClr val="tx1"/>
                </a:solidFill>
                <a:latin typeface="Avenir Next LT Pro" panose="020B0504020202020204" pitchFamily="34" charset="77"/>
                <a:ea typeface="+mn-lt"/>
                <a:cs typeface="+mn-lt"/>
              </a:rPr>
              <a:t>The high R</a:t>
            </a:r>
            <a:r>
              <a:rPr lang="en-US" sz="1400" baseline="30000" dirty="0">
                <a:solidFill>
                  <a:schemeClr val="tx1"/>
                </a:solidFill>
                <a:latin typeface="Avenir Next LT Pro" panose="020B0504020202020204" pitchFamily="34" charset="77"/>
                <a:ea typeface="+mn-lt"/>
                <a:cs typeface="+mn-lt"/>
              </a:rPr>
              <a:t>2</a:t>
            </a:r>
            <a:r>
              <a:rPr lang="en-US" sz="1400" dirty="0">
                <a:solidFill>
                  <a:schemeClr val="tx1"/>
                </a:solidFill>
                <a:latin typeface="Avenir Next LT Pro" panose="020B0504020202020204" pitchFamily="34" charset="77"/>
                <a:ea typeface="+mn-lt"/>
                <a:cs typeface="+mn-lt"/>
              </a:rPr>
              <a:t> suggests that the model does a decent job capturing the main factors that influence brand demand. However, external macroeconomic factors also play a part in estimating brand demand.</a:t>
            </a:r>
            <a:endParaRPr lang="en-US" sz="1400" dirty="0">
              <a:solidFill>
                <a:schemeClr val="tx1"/>
              </a:solidFill>
              <a:latin typeface="Avenir Next LT Pro" panose="020B0504020202020204" pitchFamily="34" charset="77"/>
            </a:endParaRPr>
          </a:p>
          <a:p>
            <a:pPr marL="285750" indent="-285750">
              <a:buFont typeface="Arial"/>
              <a:buChar char="•"/>
            </a:pPr>
            <a:endParaRPr lang="en-US" sz="2800" dirty="0">
              <a:solidFill>
                <a:schemeClr val="tx1"/>
              </a:solidFill>
              <a:highlight>
                <a:srgbClr val="C0C0C0"/>
              </a:highlight>
              <a:latin typeface="Avenir Next LT Pro"/>
            </a:endParaRPr>
          </a:p>
        </p:txBody>
      </p:sp>
      <p:sp>
        <p:nvSpPr>
          <p:cNvPr id="44" name="Rectangle 43">
            <a:extLst>
              <a:ext uri="{FF2B5EF4-FFF2-40B4-BE49-F238E27FC236}">
                <a16:creationId xmlns:a16="http://schemas.microsoft.com/office/drawing/2014/main" id="{811DE9D4-A11E-77BD-5368-E4AE56AF4968}"/>
              </a:ext>
            </a:extLst>
          </p:cNvPr>
          <p:cNvSpPr/>
          <p:nvPr/>
        </p:nvSpPr>
        <p:spPr>
          <a:xfrm>
            <a:off x="8951245" y="4523929"/>
            <a:ext cx="2538777" cy="1594045"/>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dirty="0">
                <a:solidFill>
                  <a:schemeClr val="tx1"/>
                </a:solidFill>
                <a:latin typeface="Consolas"/>
                <a:ea typeface="+mn-lt"/>
                <a:cs typeface="+mn-lt"/>
              </a:rPr>
              <a:t>-0.0377 </a:t>
            </a:r>
            <a:endParaRPr lang="en-US" sz="2000" dirty="0">
              <a:solidFill>
                <a:schemeClr val="tx1"/>
              </a:solidFill>
              <a:highlight>
                <a:srgbClr val="E1DFDD"/>
              </a:highlight>
              <a:latin typeface="Consolas"/>
              <a:ea typeface="+mn-lt"/>
              <a:cs typeface="+mn-lt"/>
            </a:endParaRPr>
          </a:p>
          <a:p>
            <a:endParaRPr lang="en-US" sz="1600" dirty="0">
              <a:solidFill>
                <a:schemeClr val="tx1"/>
              </a:solidFill>
              <a:ea typeface="+mn-lt"/>
              <a:cs typeface="+mn-lt"/>
            </a:endParaRPr>
          </a:p>
          <a:p>
            <a:r>
              <a:rPr lang="en-US" sz="1400" dirty="0">
                <a:solidFill>
                  <a:schemeClr val="tx1"/>
                </a:solidFill>
                <a:latin typeface="Avenir Next LT Pro" panose="020B0504020202020204" pitchFamily="34" charset="77"/>
              </a:rPr>
              <a:t>One constant price coefficient shared by all brands and years</a:t>
            </a:r>
          </a:p>
        </p:txBody>
      </p:sp>
    </p:spTree>
    <p:extLst>
      <p:ext uri="{BB962C8B-B14F-4D97-AF65-F5344CB8AC3E}">
        <p14:creationId xmlns:p14="http://schemas.microsoft.com/office/powerpoint/2010/main" val="2928451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D1DE2-4926-3B55-518C-CE9FB9C98044}"/>
            </a:ext>
          </a:extLst>
        </p:cNvPr>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1C01300-FA93-075F-2E07-34797894CE11}"/>
              </a:ext>
            </a:extLst>
          </p:cNvPr>
          <p:cNvGraphicFramePr/>
          <p:nvPr>
            <p:extLst>
              <p:ext uri="{D42A27DB-BD31-4B8C-83A1-F6EECF244321}">
                <p14:modId xmlns:p14="http://schemas.microsoft.com/office/powerpoint/2010/main" val="954189214"/>
              </p:ext>
            </p:extLst>
          </p:nvPr>
        </p:nvGraphicFramePr>
        <p:xfrm>
          <a:off x="630809" y="6370052"/>
          <a:ext cx="11030279" cy="2982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4">
            <a:extLst>
              <a:ext uri="{FF2B5EF4-FFF2-40B4-BE49-F238E27FC236}">
                <a16:creationId xmlns:a16="http://schemas.microsoft.com/office/drawing/2014/main" id="{B3A95844-B99D-9B3A-7184-6D43D4BEB36B}"/>
              </a:ext>
            </a:extLst>
          </p:cNvPr>
          <p:cNvSpPr/>
          <p:nvPr/>
        </p:nvSpPr>
        <p:spPr>
          <a:xfrm>
            <a:off x="0" y="-15054"/>
            <a:ext cx="12192000" cy="841764"/>
          </a:xfrm>
          <a:prstGeom prst="rect">
            <a:avLst/>
          </a:prstGeom>
          <a:solidFill>
            <a:schemeClr val="tx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7" name="Rectangle 6">
            <a:extLst>
              <a:ext uri="{FF2B5EF4-FFF2-40B4-BE49-F238E27FC236}">
                <a16:creationId xmlns:a16="http://schemas.microsoft.com/office/drawing/2014/main" id="{1367E8AE-3072-665D-4B26-52E3FC3D7F37}"/>
              </a:ext>
            </a:extLst>
          </p:cNvPr>
          <p:cNvSpPr/>
          <p:nvPr/>
        </p:nvSpPr>
        <p:spPr>
          <a:xfrm flipV="1">
            <a:off x="0" y="723672"/>
            <a:ext cx="12192000" cy="103037"/>
          </a:xfrm>
          <a:prstGeom prst="rect">
            <a:avLst/>
          </a:prstGeom>
          <a:solidFill>
            <a:srgbClr val="A9C86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8" name="TextBox 7">
            <a:extLst>
              <a:ext uri="{FF2B5EF4-FFF2-40B4-BE49-F238E27FC236}">
                <a16:creationId xmlns:a16="http://schemas.microsoft.com/office/drawing/2014/main" id="{60493488-C4AC-5459-093E-BB5D165088E7}"/>
              </a:ext>
            </a:extLst>
          </p:cNvPr>
          <p:cNvSpPr txBox="1"/>
          <p:nvPr/>
        </p:nvSpPr>
        <p:spPr>
          <a:xfrm>
            <a:off x="255618" y="114629"/>
            <a:ext cx="11729109" cy="584775"/>
          </a:xfrm>
          <a:prstGeom prst="rect">
            <a:avLst/>
          </a:prstGeom>
          <a:noFill/>
        </p:spPr>
        <p:txBody>
          <a:bodyPr wrap="square" lIns="91440" tIns="45720" rIns="91440" bIns="45720" rtlCol="0" anchor="t">
            <a:spAutoFit/>
          </a:bodyPr>
          <a:lstStyle/>
          <a:p>
            <a:r>
              <a:rPr lang="en-US" sz="3200" b="1" dirty="0">
                <a:solidFill>
                  <a:schemeClr val="bg1"/>
                </a:solidFill>
                <a:latin typeface="Avenir Next LT Pro"/>
              </a:rPr>
              <a:t>Important Air Fryer Product Features</a:t>
            </a:r>
            <a:endParaRPr lang="en-US" sz="3200" b="1" dirty="0">
              <a:solidFill>
                <a:schemeClr val="bg1"/>
              </a:solidFill>
              <a:latin typeface="Avenir Next LT Pro" panose="020B0504020202020204" pitchFamily="34" charset="77"/>
            </a:endParaRPr>
          </a:p>
        </p:txBody>
      </p:sp>
      <p:pic>
        <p:nvPicPr>
          <p:cNvPr id="9" name="Picture 2" descr="What's the Ninja logo supposed to be? Seems intentional : r/logodesign">
            <a:extLst>
              <a:ext uri="{FF2B5EF4-FFF2-40B4-BE49-F238E27FC236}">
                <a16:creationId xmlns:a16="http://schemas.microsoft.com/office/drawing/2014/main" id="{2119F8C5-25A6-0B4F-BE8B-4C6FBC76A2B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8885" b="27727"/>
          <a:stretch/>
        </p:blipFill>
        <p:spPr bwMode="auto">
          <a:xfrm>
            <a:off x="10871200" y="114629"/>
            <a:ext cx="1217163" cy="403085"/>
          </a:xfrm>
          <a:prstGeom prst="rect">
            <a:avLst/>
          </a:prstGeom>
          <a:noFill/>
          <a:extLst>
            <a:ext uri="{909E8E84-426E-40DD-AFC4-6F175D3DCCD1}">
              <a14:hiddenFill xmlns:a14="http://schemas.microsoft.com/office/drawing/2010/main">
                <a:solidFill>
                  <a:srgbClr val="FFFFFF"/>
                </a:solidFill>
              </a14:hiddenFill>
            </a:ext>
          </a:extLst>
        </p:spPr>
      </p:pic>
      <p:sp>
        <p:nvSpPr>
          <p:cNvPr id="47" name="Rectangle 46">
            <a:extLst>
              <a:ext uri="{FF2B5EF4-FFF2-40B4-BE49-F238E27FC236}">
                <a16:creationId xmlns:a16="http://schemas.microsoft.com/office/drawing/2014/main" id="{F35F10EF-6A30-724F-8886-D8B0D4F83E9E}"/>
              </a:ext>
            </a:extLst>
          </p:cNvPr>
          <p:cNvSpPr/>
          <p:nvPr/>
        </p:nvSpPr>
        <p:spPr>
          <a:xfrm>
            <a:off x="470645" y="1935358"/>
            <a:ext cx="3305968" cy="3623274"/>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Visibility during cooking is the most impactful feature in the market. </a:t>
            </a:r>
          </a:p>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Consumers value being able to monitor food without interrupting the cooking process, increasing convenience. </a:t>
            </a:r>
          </a:p>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For Ninja, this implies that enhancing or emphasizing transparent cooking chambers should be a core product and marketing priority. </a:t>
            </a:r>
            <a:endParaRPr lang="en-US" sz="1400" dirty="0">
              <a:solidFill>
                <a:schemeClr val="tx1"/>
              </a:solidFill>
              <a:latin typeface="Avenir Next LT Pro" panose="020B0504020202020204" pitchFamily="34" charset="77"/>
            </a:endParaRPr>
          </a:p>
        </p:txBody>
      </p:sp>
      <p:sp>
        <p:nvSpPr>
          <p:cNvPr id="49" name="Rectangle 48">
            <a:extLst>
              <a:ext uri="{FF2B5EF4-FFF2-40B4-BE49-F238E27FC236}">
                <a16:creationId xmlns:a16="http://schemas.microsoft.com/office/drawing/2014/main" id="{8E32D274-3C35-FEA2-ECFD-8C1EC1F58854}"/>
              </a:ext>
            </a:extLst>
          </p:cNvPr>
          <p:cNvSpPr/>
          <p:nvPr/>
        </p:nvSpPr>
        <p:spPr>
          <a:xfrm>
            <a:off x="470645" y="1560096"/>
            <a:ext cx="3307567" cy="375261"/>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dirty="0">
                <a:solidFill>
                  <a:schemeClr val="tx1"/>
                </a:solidFill>
                <a:latin typeface="Avenir Next LT Pro"/>
              </a:rPr>
              <a:t>Window Presence</a:t>
            </a:r>
          </a:p>
        </p:txBody>
      </p:sp>
      <p:sp>
        <p:nvSpPr>
          <p:cNvPr id="51" name="Rectangle 50">
            <a:extLst>
              <a:ext uri="{FF2B5EF4-FFF2-40B4-BE49-F238E27FC236}">
                <a16:creationId xmlns:a16="http://schemas.microsoft.com/office/drawing/2014/main" id="{8032D4C9-527D-8D6F-7547-5CD105D55A4A}"/>
              </a:ext>
            </a:extLst>
          </p:cNvPr>
          <p:cNvSpPr/>
          <p:nvPr/>
        </p:nvSpPr>
        <p:spPr>
          <a:xfrm>
            <a:off x="4332778" y="1950027"/>
            <a:ext cx="3305968" cy="3617078"/>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Compactness is the second strongest driver of demand, indicating that consumers prioritize saving counter space.</a:t>
            </a:r>
          </a:p>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This reflects air fryers' status as secondary kitchen appliances, often used in smaller living spaces such as apartments or shared households.</a:t>
            </a:r>
          </a:p>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Ninja should prioritize footprint reduction without sacrificing functionality. Marketing should position compact design as a key reason for adoption rather than just a physical constraint.</a:t>
            </a:r>
            <a:endParaRPr lang="en-US" sz="1600" dirty="0">
              <a:solidFill>
                <a:schemeClr val="tx1"/>
              </a:solidFill>
              <a:latin typeface="Avenir Next LT Pro" panose="020B0504020202020204" pitchFamily="34" charset="77"/>
              <a:ea typeface="+mn-lt"/>
              <a:cs typeface="+mn-lt"/>
            </a:endParaRPr>
          </a:p>
        </p:txBody>
      </p:sp>
      <p:sp>
        <p:nvSpPr>
          <p:cNvPr id="53" name="Rectangle 52">
            <a:extLst>
              <a:ext uri="{FF2B5EF4-FFF2-40B4-BE49-F238E27FC236}">
                <a16:creationId xmlns:a16="http://schemas.microsoft.com/office/drawing/2014/main" id="{5787FF49-F811-24C7-61EB-E2CE6673D63A}"/>
              </a:ext>
            </a:extLst>
          </p:cNvPr>
          <p:cNvSpPr/>
          <p:nvPr/>
        </p:nvSpPr>
        <p:spPr>
          <a:xfrm>
            <a:off x="4332001" y="1560096"/>
            <a:ext cx="3307567" cy="375261"/>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dirty="0">
                <a:solidFill>
                  <a:schemeClr val="tx1"/>
                </a:solidFill>
                <a:latin typeface="Avenir Next LT Pro"/>
              </a:rPr>
              <a:t>Compact Size</a:t>
            </a:r>
          </a:p>
        </p:txBody>
      </p:sp>
      <p:sp>
        <p:nvSpPr>
          <p:cNvPr id="55" name="Rectangle 54">
            <a:extLst>
              <a:ext uri="{FF2B5EF4-FFF2-40B4-BE49-F238E27FC236}">
                <a16:creationId xmlns:a16="http://schemas.microsoft.com/office/drawing/2014/main" id="{072A0307-A858-3DC3-2A5E-E3BDA040ACAE}"/>
              </a:ext>
            </a:extLst>
          </p:cNvPr>
          <p:cNvSpPr/>
          <p:nvPr/>
        </p:nvSpPr>
        <p:spPr>
          <a:xfrm>
            <a:off x="8193357" y="1935359"/>
            <a:ext cx="3293578" cy="3637940"/>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Rotisserie and dual basket features are associated with lower market shares. </a:t>
            </a:r>
          </a:p>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Investment in these features are unlikely to drive demand and may detract from Ninja’s core compact positioning.</a:t>
            </a:r>
          </a:p>
          <a:p>
            <a:pPr marL="285750" indent="-285750">
              <a:buFont typeface="Arial" panose="020B0604020202020204" pitchFamily="34" charset="0"/>
              <a:buChar char="•"/>
            </a:pPr>
            <a:r>
              <a:rPr lang="en-US" sz="1400" dirty="0">
                <a:solidFill>
                  <a:schemeClr val="tx1"/>
                </a:solidFill>
                <a:latin typeface="Avenir Next LT Pro" panose="020B0504020202020204" pitchFamily="34" charset="77"/>
                <a:ea typeface="+mn-lt"/>
                <a:cs typeface="+mn-lt"/>
              </a:rPr>
              <a:t>Ninja should prioritize allocating R&amp;D for future models on features besides these two. Marketing should also avoid highlighting these as competitive differentiating factors for current models.</a:t>
            </a:r>
            <a:endParaRPr lang="en-US" sz="1600" dirty="0">
              <a:solidFill>
                <a:schemeClr val="tx1"/>
              </a:solidFill>
              <a:latin typeface="Avenir Next LT Pro" panose="020B0504020202020204" pitchFamily="34" charset="77"/>
            </a:endParaRPr>
          </a:p>
        </p:txBody>
      </p:sp>
      <p:sp>
        <p:nvSpPr>
          <p:cNvPr id="57" name="Rectangle 56">
            <a:extLst>
              <a:ext uri="{FF2B5EF4-FFF2-40B4-BE49-F238E27FC236}">
                <a16:creationId xmlns:a16="http://schemas.microsoft.com/office/drawing/2014/main" id="{9DAD66AF-E697-4415-CB0A-C47538F92B30}"/>
              </a:ext>
            </a:extLst>
          </p:cNvPr>
          <p:cNvSpPr/>
          <p:nvPr/>
        </p:nvSpPr>
        <p:spPr>
          <a:xfrm>
            <a:off x="8193357" y="1560096"/>
            <a:ext cx="3307567" cy="375261"/>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b="1" dirty="0">
                <a:solidFill>
                  <a:schemeClr val="tx1"/>
                </a:solidFill>
                <a:latin typeface="Avenir Next LT Pro"/>
              </a:rPr>
              <a:t>Avoid Rotisserie and Dual Basket</a:t>
            </a:r>
          </a:p>
        </p:txBody>
      </p:sp>
    </p:spTree>
    <p:extLst>
      <p:ext uri="{BB962C8B-B14F-4D97-AF65-F5344CB8AC3E}">
        <p14:creationId xmlns:p14="http://schemas.microsoft.com/office/powerpoint/2010/main" val="1324467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05568-36CC-8744-D728-E416AA61809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1F97196-AA2A-D413-9DBB-FF48D81D7721}"/>
              </a:ext>
            </a:extLst>
          </p:cNvPr>
          <p:cNvSpPr/>
          <p:nvPr/>
        </p:nvSpPr>
        <p:spPr>
          <a:xfrm>
            <a:off x="0" y="-15054"/>
            <a:ext cx="12192000" cy="841764"/>
          </a:xfrm>
          <a:prstGeom prst="rect">
            <a:avLst/>
          </a:prstGeom>
          <a:solidFill>
            <a:schemeClr val="tx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7" name="Rectangle 6">
            <a:extLst>
              <a:ext uri="{FF2B5EF4-FFF2-40B4-BE49-F238E27FC236}">
                <a16:creationId xmlns:a16="http://schemas.microsoft.com/office/drawing/2014/main" id="{06DF2CD4-08A3-F531-2D05-A68E3958D99A}"/>
              </a:ext>
            </a:extLst>
          </p:cNvPr>
          <p:cNvSpPr/>
          <p:nvPr/>
        </p:nvSpPr>
        <p:spPr>
          <a:xfrm flipV="1">
            <a:off x="0" y="723672"/>
            <a:ext cx="12192000" cy="103037"/>
          </a:xfrm>
          <a:prstGeom prst="rect">
            <a:avLst/>
          </a:prstGeom>
          <a:solidFill>
            <a:srgbClr val="A9C86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8" name="TextBox 7">
            <a:extLst>
              <a:ext uri="{FF2B5EF4-FFF2-40B4-BE49-F238E27FC236}">
                <a16:creationId xmlns:a16="http://schemas.microsoft.com/office/drawing/2014/main" id="{FFA9B83D-9D1F-9FE8-B2A8-15D4389F2237}"/>
              </a:ext>
            </a:extLst>
          </p:cNvPr>
          <p:cNvSpPr txBox="1"/>
          <p:nvPr/>
        </p:nvSpPr>
        <p:spPr>
          <a:xfrm>
            <a:off x="255618" y="114629"/>
            <a:ext cx="11729109" cy="584775"/>
          </a:xfrm>
          <a:prstGeom prst="rect">
            <a:avLst/>
          </a:prstGeom>
          <a:noFill/>
        </p:spPr>
        <p:txBody>
          <a:bodyPr wrap="square" lIns="91440" tIns="45720" rIns="91440" bIns="45720" rtlCol="0" anchor="t">
            <a:spAutoFit/>
          </a:bodyPr>
          <a:lstStyle/>
          <a:p>
            <a:r>
              <a:rPr lang="en-US" sz="3200" b="1">
                <a:solidFill>
                  <a:schemeClr val="bg1"/>
                </a:solidFill>
                <a:latin typeface="Avenir Next LT Pro"/>
              </a:rPr>
              <a:t>Unit Costs, Markups, share-weighted profits</a:t>
            </a:r>
            <a:endParaRPr lang="en-US" sz="3200" b="1">
              <a:solidFill>
                <a:schemeClr val="bg1"/>
              </a:solidFill>
              <a:latin typeface="Avenir Next LT Pro" panose="020B0504020202020204" pitchFamily="34" charset="77"/>
            </a:endParaRPr>
          </a:p>
        </p:txBody>
      </p:sp>
      <p:pic>
        <p:nvPicPr>
          <p:cNvPr id="9" name="Picture 2" descr="What's the Ninja logo supposed to be? Seems intentional : r/logodesign">
            <a:extLst>
              <a:ext uri="{FF2B5EF4-FFF2-40B4-BE49-F238E27FC236}">
                <a16:creationId xmlns:a16="http://schemas.microsoft.com/office/drawing/2014/main" id="{EB614D9B-B90F-EE29-D5A0-B270AEC99A5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885" b="27727"/>
          <a:stretch/>
        </p:blipFill>
        <p:spPr bwMode="auto">
          <a:xfrm>
            <a:off x="10871200" y="114629"/>
            <a:ext cx="1217163" cy="40308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BB6412D-3D70-21BC-389D-80DF91E3E9CB}"/>
              </a:ext>
            </a:extLst>
          </p:cNvPr>
          <p:cNvPicPr>
            <a:picLocks noChangeAspect="1"/>
          </p:cNvPicPr>
          <p:nvPr/>
        </p:nvPicPr>
        <p:blipFill>
          <a:blip r:embed="rId3"/>
          <a:stretch>
            <a:fillRect/>
          </a:stretch>
        </p:blipFill>
        <p:spPr>
          <a:xfrm>
            <a:off x="503854" y="821245"/>
            <a:ext cx="3220633" cy="3146382"/>
          </a:xfrm>
          <a:prstGeom prst="rect">
            <a:avLst/>
          </a:prstGeom>
        </p:spPr>
      </p:pic>
      <p:pic>
        <p:nvPicPr>
          <p:cNvPr id="18" name="Picture 17">
            <a:extLst>
              <a:ext uri="{FF2B5EF4-FFF2-40B4-BE49-F238E27FC236}">
                <a16:creationId xmlns:a16="http://schemas.microsoft.com/office/drawing/2014/main" id="{5777320A-1FE9-5B65-6C82-17335C494236}"/>
              </a:ext>
            </a:extLst>
          </p:cNvPr>
          <p:cNvPicPr>
            <a:picLocks noChangeAspect="1"/>
          </p:cNvPicPr>
          <p:nvPr/>
        </p:nvPicPr>
        <p:blipFill>
          <a:blip r:embed="rId4"/>
          <a:stretch>
            <a:fillRect/>
          </a:stretch>
        </p:blipFill>
        <p:spPr>
          <a:xfrm>
            <a:off x="4565176" y="868028"/>
            <a:ext cx="3034590" cy="3052816"/>
          </a:xfrm>
          <a:prstGeom prst="rect">
            <a:avLst/>
          </a:prstGeom>
        </p:spPr>
      </p:pic>
      <p:pic>
        <p:nvPicPr>
          <p:cNvPr id="19" name="Picture 18">
            <a:extLst>
              <a:ext uri="{FF2B5EF4-FFF2-40B4-BE49-F238E27FC236}">
                <a16:creationId xmlns:a16="http://schemas.microsoft.com/office/drawing/2014/main" id="{1E404346-D1B5-EBD4-9BC3-747A32642A80}"/>
              </a:ext>
            </a:extLst>
          </p:cNvPr>
          <p:cNvPicPr>
            <a:picLocks noChangeAspect="1"/>
          </p:cNvPicPr>
          <p:nvPr/>
        </p:nvPicPr>
        <p:blipFill>
          <a:blip r:embed="rId5"/>
          <a:stretch>
            <a:fillRect/>
          </a:stretch>
        </p:blipFill>
        <p:spPr>
          <a:xfrm>
            <a:off x="8440455" y="890438"/>
            <a:ext cx="3220633" cy="3173958"/>
          </a:xfrm>
          <a:prstGeom prst="rect">
            <a:avLst/>
          </a:prstGeom>
        </p:spPr>
      </p:pic>
      <p:sp>
        <p:nvSpPr>
          <p:cNvPr id="21" name="Rectangle 20">
            <a:extLst>
              <a:ext uri="{FF2B5EF4-FFF2-40B4-BE49-F238E27FC236}">
                <a16:creationId xmlns:a16="http://schemas.microsoft.com/office/drawing/2014/main" id="{B7957B61-2D97-FB6E-6F07-D1243ADB7503}"/>
              </a:ext>
            </a:extLst>
          </p:cNvPr>
          <p:cNvSpPr/>
          <p:nvPr/>
        </p:nvSpPr>
        <p:spPr>
          <a:xfrm>
            <a:off x="277497" y="4031355"/>
            <a:ext cx="11737549" cy="380453"/>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Takeaways from Pricing Analysis</a:t>
            </a:r>
            <a:endParaRPr lang="en-US">
              <a:solidFill>
                <a:schemeClr val="tx1"/>
              </a:solidFill>
            </a:endParaRPr>
          </a:p>
        </p:txBody>
      </p:sp>
      <p:sp>
        <p:nvSpPr>
          <p:cNvPr id="22" name="Rectangle 21">
            <a:extLst>
              <a:ext uri="{FF2B5EF4-FFF2-40B4-BE49-F238E27FC236}">
                <a16:creationId xmlns:a16="http://schemas.microsoft.com/office/drawing/2014/main" id="{97B8CE23-69B6-5917-F0C6-690E7E4172EB}"/>
              </a:ext>
            </a:extLst>
          </p:cNvPr>
          <p:cNvSpPr/>
          <p:nvPr/>
        </p:nvSpPr>
        <p:spPr>
          <a:xfrm>
            <a:off x="285288" y="4408906"/>
            <a:ext cx="11721319" cy="1826794"/>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Sans-Serif"/>
              <a:buChar char="•"/>
            </a:pPr>
            <a:r>
              <a:rPr lang="en-US" sz="1500" dirty="0">
                <a:solidFill>
                  <a:schemeClr val="tx1"/>
                </a:solidFill>
                <a:latin typeface="Avenir Next LT Pro"/>
              </a:rPr>
              <a:t>Unit costs vary dramatically across brands, ranging from $27.94 for Dash to $194.90 for Cuisinart with Ninja at a mid-level cost of $112.49.</a:t>
            </a:r>
          </a:p>
          <a:p>
            <a:pPr marL="285750" indent="-285750">
              <a:buFont typeface="Arial,Sans-Serif"/>
              <a:buChar char="•"/>
            </a:pPr>
            <a:r>
              <a:rPr lang="en-US" sz="1500" dirty="0">
                <a:solidFill>
                  <a:schemeClr val="tx1"/>
                </a:solidFill>
                <a:latin typeface="Avenir Next LT Pro"/>
              </a:rPr>
              <a:t>Our analysis found that spending more in unit costs does not result in higher consumer satisfaction. So, Ninja should focus on product design and marketing rather than increasing production quality or production cost.</a:t>
            </a:r>
          </a:p>
          <a:p>
            <a:pPr marL="285750" indent="-285750">
              <a:buFont typeface="Arial,Sans-Serif"/>
              <a:buChar char="•"/>
            </a:pPr>
            <a:r>
              <a:rPr lang="en-US" sz="1500" dirty="0">
                <a:solidFill>
                  <a:schemeClr val="tx1"/>
                </a:solidFill>
                <a:latin typeface="Avenir Next LT Pro"/>
              </a:rPr>
              <a:t>Markup values were relatively uniform across brands and Ninja has the highest share-weighted profit at 6.31 with its main competitor Instant Pot trailing behind at 6.01 and all other brands meaningfully below this. Thus, Ninja has dominant profitability and should focus on protecting and growing market share rather than just raising margins.</a:t>
            </a:r>
          </a:p>
        </p:txBody>
      </p:sp>
      <p:graphicFrame>
        <p:nvGraphicFramePr>
          <p:cNvPr id="23" name="Diagram 22">
            <a:extLst>
              <a:ext uri="{FF2B5EF4-FFF2-40B4-BE49-F238E27FC236}">
                <a16:creationId xmlns:a16="http://schemas.microsoft.com/office/drawing/2014/main" id="{BC797E95-75EF-1E41-BA07-011E10EB436C}"/>
              </a:ext>
            </a:extLst>
          </p:cNvPr>
          <p:cNvGraphicFramePr/>
          <p:nvPr>
            <p:extLst>
              <p:ext uri="{D42A27DB-BD31-4B8C-83A1-F6EECF244321}">
                <p14:modId xmlns:p14="http://schemas.microsoft.com/office/powerpoint/2010/main" val="3682162862"/>
              </p:ext>
            </p:extLst>
          </p:nvPr>
        </p:nvGraphicFramePr>
        <p:xfrm>
          <a:off x="630809" y="6370052"/>
          <a:ext cx="11030279" cy="298215"/>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880360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54CA9-EED4-3450-23CA-83FB4C9A044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6CA5EF4-2FF8-4799-DEF0-40A2F4F63C37}"/>
              </a:ext>
            </a:extLst>
          </p:cNvPr>
          <p:cNvSpPr/>
          <p:nvPr/>
        </p:nvSpPr>
        <p:spPr>
          <a:xfrm>
            <a:off x="0" y="-15054"/>
            <a:ext cx="12192000" cy="841764"/>
          </a:xfrm>
          <a:prstGeom prst="rect">
            <a:avLst/>
          </a:prstGeom>
          <a:solidFill>
            <a:schemeClr val="tx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7" name="Rectangle 6">
            <a:extLst>
              <a:ext uri="{FF2B5EF4-FFF2-40B4-BE49-F238E27FC236}">
                <a16:creationId xmlns:a16="http://schemas.microsoft.com/office/drawing/2014/main" id="{A95991EE-7E04-8852-5E47-0F0105C698E8}"/>
              </a:ext>
            </a:extLst>
          </p:cNvPr>
          <p:cNvSpPr/>
          <p:nvPr/>
        </p:nvSpPr>
        <p:spPr>
          <a:xfrm flipV="1">
            <a:off x="0" y="723672"/>
            <a:ext cx="12192000" cy="103037"/>
          </a:xfrm>
          <a:prstGeom prst="rect">
            <a:avLst/>
          </a:prstGeom>
          <a:solidFill>
            <a:srgbClr val="A9C86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a:solidFill>
                <a:schemeClr val="tx1"/>
              </a:solidFill>
            </a:endParaRPr>
          </a:p>
        </p:txBody>
      </p:sp>
      <p:sp>
        <p:nvSpPr>
          <p:cNvPr id="8" name="TextBox 7">
            <a:extLst>
              <a:ext uri="{FF2B5EF4-FFF2-40B4-BE49-F238E27FC236}">
                <a16:creationId xmlns:a16="http://schemas.microsoft.com/office/drawing/2014/main" id="{300F51BA-EE78-6221-D5A7-B13310096476}"/>
              </a:ext>
            </a:extLst>
          </p:cNvPr>
          <p:cNvSpPr txBox="1"/>
          <p:nvPr/>
        </p:nvSpPr>
        <p:spPr>
          <a:xfrm>
            <a:off x="255618" y="114629"/>
            <a:ext cx="11729109" cy="523220"/>
          </a:xfrm>
          <a:prstGeom prst="rect">
            <a:avLst/>
          </a:prstGeom>
          <a:noFill/>
        </p:spPr>
        <p:txBody>
          <a:bodyPr wrap="square" lIns="91440" tIns="45720" rIns="91440" bIns="45720" rtlCol="0" anchor="t">
            <a:spAutoFit/>
          </a:bodyPr>
          <a:lstStyle/>
          <a:p>
            <a:r>
              <a:rPr lang="en-US" sz="2800" b="1">
                <a:solidFill>
                  <a:schemeClr val="bg1"/>
                </a:solidFill>
                <a:latin typeface="Avenir Next LT Pro"/>
              </a:rPr>
              <a:t>Conclusion about brands’ relative positions in the market</a:t>
            </a:r>
            <a:endParaRPr lang="en-US" sz="2800" b="1">
              <a:solidFill>
                <a:schemeClr val="bg1"/>
              </a:solidFill>
              <a:latin typeface="Avenir Next LT Pro" panose="020B0504020202020204" pitchFamily="34" charset="77"/>
            </a:endParaRPr>
          </a:p>
        </p:txBody>
      </p:sp>
      <p:pic>
        <p:nvPicPr>
          <p:cNvPr id="9" name="Picture 2" descr="What's the Ninja logo supposed to be? Seems intentional : r/logodesign">
            <a:extLst>
              <a:ext uri="{FF2B5EF4-FFF2-40B4-BE49-F238E27FC236}">
                <a16:creationId xmlns:a16="http://schemas.microsoft.com/office/drawing/2014/main" id="{CD789831-E656-3A3D-220D-3883C20E29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885" b="27727"/>
          <a:stretch/>
        </p:blipFill>
        <p:spPr bwMode="auto">
          <a:xfrm>
            <a:off x="10871200" y="114629"/>
            <a:ext cx="1217163" cy="40308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43B50A55-7C96-8DC6-F6E3-D51AB4486357}"/>
              </a:ext>
            </a:extLst>
          </p:cNvPr>
          <p:cNvSpPr/>
          <p:nvPr/>
        </p:nvSpPr>
        <p:spPr>
          <a:xfrm>
            <a:off x="4364554" y="928254"/>
            <a:ext cx="7544381" cy="380453"/>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Conclusion of all brands</a:t>
            </a:r>
            <a:endParaRPr lang="en-US">
              <a:solidFill>
                <a:schemeClr val="tx1"/>
              </a:solidFill>
            </a:endParaRPr>
          </a:p>
        </p:txBody>
      </p:sp>
      <p:sp>
        <p:nvSpPr>
          <p:cNvPr id="18" name="Rectangle 17">
            <a:extLst>
              <a:ext uri="{FF2B5EF4-FFF2-40B4-BE49-F238E27FC236}">
                <a16:creationId xmlns:a16="http://schemas.microsoft.com/office/drawing/2014/main" id="{FEF45645-7733-ABDA-A8B6-149798345AD5}"/>
              </a:ext>
            </a:extLst>
          </p:cNvPr>
          <p:cNvSpPr/>
          <p:nvPr/>
        </p:nvSpPr>
        <p:spPr>
          <a:xfrm>
            <a:off x="4366096" y="1305805"/>
            <a:ext cx="7542287" cy="1967824"/>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Sans-Serif"/>
              <a:buChar char="•"/>
            </a:pPr>
            <a:r>
              <a:rPr lang="en-US" sz="1300" dirty="0">
                <a:solidFill>
                  <a:schemeClr val="tx1"/>
                </a:solidFill>
                <a:latin typeface="Avenir Next LT Pro"/>
              </a:rPr>
              <a:t>The average rating across brands is consistent and stable (ranging between 4.3-4.8), but brand shares fluctuate drastically with Instant Pot and Ninja at the top and </a:t>
            </a:r>
            <a:r>
              <a:rPr lang="en-US" sz="1300" dirty="0" err="1">
                <a:solidFill>
                  <a:schemeClr val="tx1"/>
                </a:solidFill>
                <a:latin typeface="Avenir Next LT Pro"/>
              </a:rPr>
              <a:t>Nuwave</a:t>
            </a:r>
            <a:r>
              <a:rPr lang="en-US" sz="1300" dirty="0">
                <a:solidFill>
                  <a:schemeClr val="tx1"/>
                </a:solidFill>
                <a:latin typeface="Avenir Next LT Pro"/>
              </a:rPr>
              <a:t> and </a:t>
            </a:r>
            <a:r>
              <a:rPr lang="en-US" sz="1300" dirty="0" err="1">
                <a:solidFill>
                  <a:schemeClr val="tx1"/>
                </a:solidFill>
                <a:latin typeface="Avenir Next LT Pro"/>
              </a:rPr>
              <a:t>Cosori</a:t>
            </a:r>
            <a:r>
              <a:rPr lang="en-US" sz="1300" dirty="0">
                <a:solidFill>
                  <a:schemeClr val="tx1"/>
                </a:solidFill>
                <a:latin typeface="Avenir Next LT Pro"/>
              </a:rPr>
              <a:t> also trending upwards</a:t>
            </a:r>
          </a:p>
          <a:p>
            <a:pPr marL="285750" indent="-285750">
              <a:buFont typeface="Arial,Sans-Serif"/>
              <a:buChar char="•"/>
            </a:pPr>
            <a:r>
              <a:rPr lang="en-US" sz="1300" dirty="0">
                <a:solidFill>
                  <a:schemeClr val="tx1"/>
                </a:solidFill>
                <a:latin typeface="Avenir Next LT Pro"/>
              </a:rPr>
              <a:t>Most brands have average profits ranging from $0 to $5, except for Ninja, Instant Pot, and </a:t>
            </a:r>
            <a:r>
              <a:rPr lang="en-US" sz="1300" dirty="0" err="1">
                <a:solidFill>
                  <a:schemeClr val="tx1"/>
                </a:solidFill>
                <a:latin typeface="Avenir Next LT Pro"/>
              </a:rPr>
              <a:t>GoWise</a:t>
            </a:r>
            <a:r>
              <a:rPr lang="en-US" sz="1300" dirty="0">
                <a:solidFill>
                  <a:schemeClr val="tx1"/>
                </a:solidFill>
                <a:latin typeface="Avenir Next LT Pro"/>
              </a:rPr>
              <a:t> USA with average profits between $5 and $10</a:t>
            </a:r>
          </a:p>
          <a:p>
            <a:pPr marL="285750" indent="-285750">
              <a:buFont typeface="Arial,Sans-Serif"/>
              <a:buChar char="•"/>
            </a:pPr>
            <a:r>
              <a:rPr lang="en-US" sz="1300" dirty="0">
                <a:solidFill>
                  <a:schemeClr val="tx1"/>
                </a:solidFill>
                <a:latin typeface="Avenir Next LT Pro"/>
              </a:rPr>
              <a:t>Ninja and Instant Pot have significantly higher share-weighted average profits at $6.31 and $6.01, respectively</a:t>
            </a:r>
          </a:p>
          <a:p>
            <a:pPr marL="285750" indent="-285750">
              <a:buFont typeface="Arial,Sans-Serif"/>
              <a:buChar char="•"/>
            </a:pPr>
            <a:r>
              <a:rPr lang="en-US" sz="1300" dirty="0">
                <a:solidFill>
                  <a:schemeClr val="tx1"/>
                </a:solidFill>
                <a:latin typeface="Avenir Next LT Pro"/>
              </a:rPr>
              <a:t>Overall, Ninja and Instant Pot are the market leaders for their mid-priced air fryers and large market shares.</a:t>
            </a:r>
          </a:p>
        </p:txBody>
      </p:sp>
      <p:sp>
        <p:nvSpPr>
          <p:cNvPr id="19" name="Rectangle 18">
            <a:extLst>
              <a:ext uri="{FF2B5EF4-FFF2-40B4-BE49-F238E27FC236}">
                <a16:creationId xmlns:a16="http://schemas.microsoft.com/office/drawing/2014/main" id="{EA8FDCED-7B09-2830-0CC0-B554AD2D0AC8}"/>
              </a:ext>
            </a:extLst>
          </p:cNvPr>
          <p:cNvSpPr/>
          <p:nvPr/>
        </p:nvSpPr>
        <p:spPr>
          <a:xfrm>
            <a:off x="4369449" y="3375333"/>
            <a:ext cx="7823444" cy="380453"/>
          </a:xfrm>
          <a:prstGeom prst="rect">
            <a:avLst/>
          </a:prstGeom>
          <a:solidFill>
            <a:srgbClr val="A9C86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chemeClr val="tx1"/>
                </a:solidFill>
                <a:latin typeface="Avenir Next LT Pro"/>
              </a:rPr>
              <a:t>Ninja’s Current Positioning</a:t>
            </a:r>
            <a:endParaRPr lang="en-US">
              <a:solidFill>
                <a:schemeClr val="tx1"/>
              </a:solidFill>
            </a:endParaRPr>
          </a:p>
        </p:txBody>
      </p:sp>
      <p:sp>
        <p:nvSpPr>
          <p:cNvPr id="20" name="Rectangle 19">
            <a:extLst>
              <a:ext uri="{FF2B5EF4-FFF2-40B4-BE49-F238E27FC236}">
                <a16:creationId xmlns:a16="http://schemas.microsoft.com/office/drawing/2014/main" id="{AF39BE9D-65C6-8EAF-DA12-288D9062799D}"/>
              </a:ext>
            </a:extLst>
          </p:cNvPr>
          <p:cNvSpPr/>
          <p:nvPr/>
        </p:nvSpPr>
        <p:spPr>
          <a:xfrm>
            <a:off x="4379374" y="3752885"/>
            <a:ext cx="7812626" cy="2489861"/>
          </a:xfrm>
          <a:prstGeom prst="rect">
            <a:avLst/>
          </a:prstGeom>
          <a:solidFill>
            <a:schemeClr val="bg1"/>
          </a:solidFill>
          <a:ln>
            <a:solidFill>
              <a:srgbClr val="A9C86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285750" indent="-285750">
              <a:buFont typeface="Arial,Sans-Serif"/>
              <a:buChar char="•"/>
            </a:pPr>
            <a:r>
              <a:rPr lang="en-US" sz="1300" dirty="0">
                <a:solidFill>
                  <a:schemeClr val="tx1"/>
                </a:solidFill>
                <a:latin typeface="Avenir Next LT Pro"/>
              </a:rPr>
              <a:t>Ninja has the highest average market share (19%), best average consumer ratings (4.74), and highest share-weighted profit ($6.31)</a:t>
            </a:r>
          </a:p>
          <a:p>
            <a:pPr marL="285750" indent="-285750">
              <a:buFont typeface="Arial,Sans-Serif"/>
              <a:buChar char="•"/>
            </a:pPr>
            <a:r>
              <a:rPr lang="en-US" sz="1300" dirty="0">
                <a:solidFill>
                  <a:schemeClr val="tx1"/>
                </a:solidFill>
                <a:latin typeface="Avenir Next LT Pro"/>
              </a:rPr>
              <a:t>On these dimensions, Ninja clearly beats out competition and positions itself as the market leader</a:t>
            </a:r>
          </a:p>
          <a:p>
            <a:pPr marL="285750" indent="-285750">
              <a:buFont typeface="Arial,Sans-Serif"/>
              <a:buChar char="•"/>
            </a:pPr>
            <a:r>
              <a:rPr lang="en-US" sz="1300" dirty="0">
                <a:solidFill>
                  <a:schemeClr val="tx1"/>
                </a:solidFill>
                <a:latin typeface="Avenir Next LT Pro"/>
              </a:rPr>
              <a:t>Ninja also holds the best brand equity where its fixed effects are 5.84 points above the baseline, indicating consumers choose Ninja even when controlling for price, ratings, and features</a:t>
            </a:r>
          </a:p>
          <a:p>
            <a:pPr marL="285750" indent="-285750">
              <a:buFont typeface="Arial,Sans-Serif"/>
              <a:buChar char="•"/>
            </a:pPr>
            <a:r>
              <a:rPr lang="en-US" sz="1300" b="1" dirty="0">
                <a:solidFill>
                  <a:schemeClr val="tx1"/>
                </a:solidFill>
                <a:latin typeface="Avenir Next LT Pro"/>
              </a:rPr>
              <a:t>Next Steps</a:t>
            </a:r>
            <a:r>
              <a:rPr lang="en-US" sz="1300" dirty="0">
                <a:solidFill>
                  <a:schemeClr val="tx1"/>
                </a:solidFill>
                <a:latin typeface="Avenir Next LT Pro"/>
              </a:rPr>
              <a:t>: Ninja has room to raise prices as the industry premium leader. Its current markup of $33 is barely higher than Dash’s markup up $30 despite Ninja’s brand strength and superior ratings. Ninja should also focus on growing its market share in order to boost profitability.</a:t>
            </a:r>
          </a:p>
          <a:p>
            <a:pPr marL="285750" indent="-285750">
              <a:buFont typeface="Arial,Sans-Serif"/>
              <a:buChar char="•"/>
            </a:pPr>
            <a:r>
              <a:rPr lang="en-US" sz="1300" b="1" dirty="0">
                <a:solidFill>
                  <a:schemeClr val="tx1"/>
                </a:solidFill>
                <a:latin typeface="Avenir Next LT Pro"/>
              </a:rPr>
              <a:t>Competition</a:t>
            </a:r>
            <a:r>
              <a:rPr lang="en-US" sz="1300" dirty="0">
                <a:solidFill>
                  <a:schemeClr val="tx1"/>
                </a:solidFill>
                <a:latin typeface="Avenir Next LT Pro"/>
              </a:rPr>
              <a:t>: Ninja should be wary of Instant Pot since they are the only brand with a share-weighted profit close to Ninja’s of $6.01 and has strong brand recognition from their pressure cooker halo. If the brand invests more aggressively in their air fryer segment, it could threaten Ninja’s dominance.</a:t>
            </a:r>
          </a:p>
        </p:txBody>
      </p:sp>
      <p:graphicFrame>
        <p:nvGraphicFramePr>
          <p:cNvPr id="23" name="Diagram 22">
            <a:extLst>
              <a:ext uri="{FF2B5EF4-FFF2-40B4-BE49-F238E27FC236}">
                <a16:creationId xmlns:a16="http://schemas.microsoft.com/office/drawing/2014/main" id="{2A70921B-740C-4A48-6AA3-A6D63BC2ACA4}"/>
              </a:ext>
            </a:extLst>
          </p:cNvPr>
          <p:cNvGraphicFramePr/>
          <p:nvPr>
            <p:extLst>
              <p:ext uri="{D42A27DB-BD31-4B8C-83A1-F6EECF244321}">
                <p14:modId xmlns:p14="http://schemas.microsoft.com/office/powerpoint/2010/main" val="3597546108"/>
              </p:ext>
            </p:extLst>
          </p:nvPr>
        </p:nvGraphicFramePr>
        <p:xfrm>
          <a:off x="630809" y="6370052"/>
          <a:ext cx="11030279" cy="2982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Shape 0">
            <a:extLst>
              <a:ext uri="{FF2B5EF4-FFF2-40B4-BE49-F238E27FC236}">
                <a16:creationId xmlns:a16="http://schemas.microsoft.com/office/drawing/2014/main" id="{1B39EBC1-ED30-4DB3-0AB1-00EFF565763C}"/>
              </a:ext>
            </a:extLst>
          </p:cNvPr>
          <p:cNvSpPr/>
          <p:nvPr/>
        </p:nvSpPr>
        <p:spPr>
          <a:xfrm>
            <a:off x="482311" y="1691669"/>
            <a:ext cx="3794760" cy="4069080"/>
          </a:xfrm>
          <a:prstGeom prst="rect">
            <a:avLst/>
          </a:prstGeom>
          <a:solidFill>
            <a:srgbClr val="FAFAFA"/>
          </a:solidFill>
          <a:ln w="6350">
            <a:solidFill>
              <a:srgbClr val="E0E0E0"/>
            </a:solidFill>
            <a:prstDash val="solid"/>
          </a:ln>
        </p:spPr>
        <p:txBody>
          <a:bodyPr/>
          <a:lstStyle/>
          <a:p>
            <a:endParaRPr lang="en-US"/>
          </a:p>
        </p:txBody>
      </p:sp>
      <p:sp>
        <p:nvSpPr>
          <p:cNvPr id="3" name="Shape 1">
            <a:extLst>
              <a:ext uri="{FF2B5EF4-FFF2-40B4-BE49-F238E27FC236}">
                <a16:creationId xmlns:a16="http://schemas.microsoft.com/office/drawing/2014/main" id="{2E209795-E7D7-32E3-CA74-35AEE3CC0A56}"/>
              </a:ext>
            </a:extLst>
          </p:cNvPr>
          <p:cNvSpPr/>
          <p:nvPr/>
        </p:nvSpPr>
        <p:spPr>
          <a:xfrm>
            <a:off x="774216" y="1691669"/>
            <a:ext cx="0" cy="4069080"/>
          </a:xfrm>
          <a:prstGeom prst="line">
            <a:avLst/>
          </a:prstGeom>
          <a:noFill/>
          <a:ln w="5080">
            <a:solidFill>
              <a:srgbClr val="EBEBEB"/>
            </a:solidFill>
            <a:prstDash val="solid"/>
          </a:ln>
        </p:spPr>
        <p:txBody>
          <a:bodyPr/>
          <a:lstStyle/>
          <a:p>
            <a:endParaRPr lang="en-US"/>
          </a:p>
        </p:txBody>
      </p:sp>
      <p:sp>
        <p:nvSpPr>
          <p:cNvPr id="4" name="Text 2">
            <a:extLst>
              <a:ext uri="{FF2B5EF4-FFF2-40B4-BE49-F238E27FC236}">
                <a16:creationId xmlns:a16="http://schemas.microsoft.com/office/drawing/2014/main" id="{3AA5BEB6-49A9-F1FF-85B1-033F465E26FB}"/>
              </a:ext>
            </a:extLst>
          </p:cNvPr>
          <p:cNvSpPr/>
          <p:nvPr/>
        </p:nvSpPr>
        <p:spPr>
          <a:xfrm>
            <a:off x="609624" y="5807397"/>
            <a:ext cx="329184" cy="164592"/>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$60</a:t>
            </a:r>
            <a:endParaRPr lang="en-US" sz="700" dirty="0"/>
          </a:p>
        </p:txBody>
      </p:sp>
      <p:sp>
        <p:nvSpPr>
          <p:cNvPr id="10" name="Shape 3">
            <a:extLst>
              <a:ext uri="{FF2B5EF4-FFF2-40B4-BE49-F238E27FC236}">
                <a16:creationId xmlns:a16="http://schemas.microsoft.com/office/drawing/2014/main" id="{C584A77B-F886-F827-4880-33495A833CD4}"/>
              </a:ext>
            </a:extLst>
          </p:cNvPr>
          <p:cNvSpPr/>
          <p:nvPr/>
        </p:nvSpPr>
        <p:spPr>
          <a:xfrm>
            <a:off x="1163422" y="1691669"/>
            <a:ext cx="0" cy="4069080"/>
          </a:xfrm>
          <a:prstGeom prst="line">
            <a:avLst/>
          </a:prstGeom>
          <a:noFill/>
          <a:ln w="5080">
            <a:solidFill>
              <a:srgbClr val="EBEBEB"/>
            </a:solidFill>
            <a:prstDash val="solid"/>
          </a:ln>
        </p:spPr>
        <p:txBody>
          <a:bodyPr/>
          <a:lstStyle/>
          <a:p>
            <a:endParaRPr lang="en-US"/>
          </a:p>
        </p:txBody>
      </p:sp>
      <p:sp>
        <p:nvSpPr>
          <p:cNvPr id="11" name="Text 4">
            <a:extLst>
              <a:ext uri="{FF2B5EF4-FFF2-40B4-BE49-F238E27FC236}">
                <a16:creationId xmlns:a16="http://schemas.microsoft.com/office/drawing/2014/main" id="{263019AD-BF36-C32E-D540-696E30FE8353}"/>
              </a:ext>
            </a:extLst>
          </p:cNvPr>
          <p:cNvSpPr/>
          <p:nvPr/>
        </p:nvSpPr>
        <p:spPr>
          <a:xfrm>
            <a:off x="998830" y="5807397"/>
            <a:ext cx="329184" cy="164592"/>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$80</a:t>
            </a:r>
            <a:endParaRPr lang="en-US" sz="700" dirty="0"/>
          </a:p>
        </p:txBody>
      </p:sp>
      <p:sp>
        <p:nvSpPr>
          <p:cNvPr id="12" name="Shape 5">
            <a:extLst>
              <a:ext uri="{FF2B5EF4-FFF2-40B4-BE49-F238E27FC236}">
                <a16:creationId xmlns:a16="http://schemas.microsoft.com/office/drawing/2014/main" id="{46449EEB-777E-DEC6-5B84-06536F5425DE}"/>
              </a:ext>
            </a:extLst>
          </p:cNvPr>
          <p:cNvSpPr/>
          <p:nvPr/>
        </p:nvSpPr>
        <p:spPr>
          <a:xfrm>
            <a:off x="1552628" y="1691669"/>
            <a:ext cx="0" cy="4069080"/>
          </a:xfrm>
          <a:prstGeom prst="line">
            <a:avLst/>
          </a:prstGeom>
          <a:noFill/>
          <a:ln w="5080">
            <a:solidFill>
              <a:srgbClr val="EBEBEB"/>
            </a:solidFill>
            <a:prstDash val="solid"/>
          </a:ln>
        </p:spPr>
        <p:txBody>
          <a:bodyPr/>
          <a:lstStyle/>
          <a:p>
            <a:endParaRPr lang="en-US"/>
          </a:p>
        </p:txBody>
      </p:sp>
      <p:sp>
        <p:nvSpPr>
          <p:cNvPr id="14" name="Shape 7">
            <a:extLst>
              <a:ext uri="{FF2B5EF4-FFF2-40B4-BE49-F238E27FC236}">
                <a16:creationId xmlns:a16="http://schemas.microsoft.com/office/drawing/2014/main" id="{FA57F2FA-1F7A-0CB2-92DE-3B7978FBD9E0}"/>
              </a:ext>
            </a:extLst>
          </p:cNvPr>
          <p:cNvSpPr/>
          <p:nvPr/>
        </p:nvSpPr>
        <p:spPr>
          <a:xfrm>
            <a:off x="1941834" y="1691669"/>
            <a:ext cx="0" cy="4069080"/>
          </a:xfrm>
          <a:prstGeom prst="line">
            <a:avLst/>
          </a:prstGeom>
          <a:noFill/>
          <a:ln w="5080">
            <a:solidFill>
              <a:srgbClr val="EBEBEB"/>
            </a:solidFill>
            <a:prstDash val="solid"/>
          </a:ln>
        </p:spPr>
        <p:txBody>
          <a:bodyPr/>
          <a:lstStyle/>
          <a:p>
            <a:endParaRPr lang="en-US"/>
          </a:p>
        </p:txBody>
      </p:sp>
      <p:sp>
        <p:nvSpPr>
          <p:cNvPr id="15" name="Text 8">
            <a:extLst>
              <a:ext uri="{FF2B5EF4-FFF2-40B4-BE49-F238E27FC236}">
                <a16:creationId xmlns:a16="http://schemas.microsoft.com/office/drawing/2014/main" id="{E4B7B419-2A4E-295B-DEA3-5FC2CE410139}"/>
              </a:ext>
            </a:extLst>
          </p:cNvPr>
          <p:cNvSpPr/>
          <p:nvPr/>
        </p:nvSpPr>
        <p:spPr>
          <a:xfrm>
            <a:off x="1711497" y="5810941"/>
            <a:ext cx="451495" cy="157504"/>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$120</a:t>
            </a:r>
            <a:endParaRPr lang="en-US" sz="700" dirty="0"/>
          </a:p>
        </p:txBody>
      </p:sp>
      <p:sp>
        <p:nvSpPr>
          <p:cNvPr id="16" name="Shape 9">
            <a:extLst>
              <a:ext uri="{FF2B5EF4-FFF2-40B4-BE49-F238E27FC236}">
                <a16:creationId xmlns:a16="http://schemas.microsoft.com/office/drawing/2014/main" id="{7DC7BB44-EBF7-2B64-D2D8-94803B8005D8}"/>
              </a:ext>
            </a:extLst>
          </p:cNvPr>
          <p:cNvSpPr/>
          <p:nvPr/>
        </p:nvSpPr>
        <p:spPr>
          <a:xfrm>
            <a:off x="2331040" y="1691669"/>
            <a:ext cx="0" cy="4069080"/>
          </a:xfrm>
          <a:prstGeom prst="line">
            <a:avLst/>
          </a:prstGeom>
          <a:noFill/>
          <a:ln w="5080">
            <a:solidFill>
              <a:srgbClr val="EBEBEB"/>
            </a:solidFill>
            <a:prstDash val="solid"/>
          </a:ln>
        </p:spPr>
        <p:txBody>
          <a:bodyPr/>
          <a:lstStyle/>
          <a:p>
            <a:endParaRPr lang="en-US"/>
          </a:p>
        </p:txBody>
      </p:sp>
      <p:sp>
        <p:nvSpPr>
          <p:cNvPr id="17" name="Text 10">
            <a:extLst>
              <a:ext uri="{FF2B5EF4-FFF2-40B4-BE49-F238E27FC236}">
                <a16:creationId xmlns:a16="http://schemas.microsoft.com/office/drawing/2014/main" id="{7F7078B5-BD6A-D900-04AA-EC43C254E538}"/>
              </a:ext>
            </a:extLst>
          </p:cNvPr>
          <p:cNvSpPr/>
          <p:nvPr/>
        </p:nvSpPr>
        <p:spPr>
          <a:xfrm>
            <a:off x="2140639" y="5810943"/>
            <a:ext cx="421485" cy="157500"/>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$140</a:t>
            </a:r>
            <a:endParaRPr lang="en-US" sz="700" dirty="0"/>
          </a:p>
        </p:txBody>
      </p:sp>
      <p:sp>
        <p:nvSpPr>
          <p:cNvPr id="22" name="Shape 11">
            <a:extLst>
              <a:ext uri="{FF2B5EF4-FFF2-40B4-BE49-F238E27FC236}">
                <a16:creationId xmlns:a16="http://schemas.microsoft.com/office/drawing/2014/main" id="{02DE2DEB-4137-F08C-65B5-86E5EBFE066A}"/>
              </a:ext>
            </a:extLst>
          </p:cNvPr>
          <p:cNvSpPr/>
          <p:nvPr/>
        </p:nvSpPr>
        <p:spPr>
          <a:xfrm>
            <a:off x="2720246" y="1691669"/>
            <a:ext cx="0" cy="4069080"/>
          </a:xfrm>
          <a:prstGeom prst="line">
            <a:avLst/>
          </a:prstGeom>
          <a:noFill/>
          <a:ln w="5080">
            <a:solidFill>
              <a:srgbClr val="EBEBEB"/>
            </a:solidFill>
            <a:prstDash val="solid"/>
          </a:ln>
        </p:spPr>
        <p:txBody>
          <a:bodyPr/>
          <a:lstStyle/>
          <a:p>
            <a:endParaRPr lang="en-US"/>
          </a:p>
        </p:txBody>
      </p:sp>
      <p:sp>
        <p:nvSpPr>
          <p:cNvPr id="24" name="Text 12">
            <a:extLst>
              <a:ext uri="{FF2B5EF4-FFF2-40B4-BE49-F238E27FC236}">
                <a16:creationId xmlns:a16="http://schemas.microsoft.com/office/drawing/2014/main" id="{4A087C53-C7FF-379D-3030-334AEEEA13C2}"/>
              </a:ext>
            </a:extLst>
          </p:cNvPr>
          <p:cNvSpPr/>
          <p:nvPr/>
        </p:nvSpPr>
        <p:spPr>
          <a:xfrm>
            <a:off x="2493363" y="5820742"/>
            <a:ext cx="391475" cy="137903"/>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$160</a:t>
            </a:r>
            <a:endParaRPr lang="en-US" sz="700" dirty="0"/>
          </a:p>
        </p:txBody>
      </p:sp>
      <p:sp>
        <p:nvSpPr>
          <p:cNvPr id="25" name="Shape 13">
            <a:extLst>
              <a:ext uri="{FF2B5EF4-FFF2-40B4-BE49-F238E27FC236}">
                <a16:creationId xmlns:a16="http://schemas.microsoft.com/office/drawing/2014/main" id="{EED7E2D3-3A29-13AD-1E1C-714F9A6BF2FA}"/>
              </a:ext>
            </a:extLst>
          </p:cNvPr>
          <p:cNvSpPr/>
          <p:nvPr/>
        </p:nvSpPr>
        <p:spPr>
          <a:xfrm>
            <a:off x="3109453" y="1691669"/>
            <a:ext cx="0" cy="4069080"/>
          </a:xfrm>
          <a:prstGeom prst="line">
            <a:avLst/>
          </a:prstGeom>
          <a:noFill/>
          <a:ln w="5080">
            <a:solidFill>
              <a:srgbClr val="EBEBEB"/>
            </a:solidFill>
            <a:prstDash val="solid"/>
          </a:ln>
        </p:spPr>
        <p:txBody>
          <a:bodyPr/>
          <a:lstStyle/>
          <a:p>
            <a:endParaRPr lang="en-US"/>
          </a:p>
        </p:txBody>
      </p:sp>
      <p:sp>
        <p:nvSpPr>
          <p:cNvPr id="26" name="Text 14">
            <a:extLst>
              <a:ext uri="{FF2B5EF4-FFF2-40B4-BE49-F238E27FC236}">
                <a16:creationId xmlns:a16="http://schemas.microsoft.com/office/drawing/2014/main" id="{B396685F-445D-4B46-680C-610E81967213}"/>
              </a:ext>
            </a:extLst>
          </p:cNvPr>
          <p:cNvSpPr/>
          <p:nvPr/>
        </p:nvSpPr>
        <p:spPr>
          <a:xfrm>
            <a:off x="2882570" y="5810944"/>
            <a:ext cx="391475" cy="157498"/>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$180</a:t>
            </a:r>
            <a:endParaRPr lang="en-US" sz="700" dirty="0"/>
          </a:p>
        </p:txBody>
      </p:sp>
      <p:sp>
        <p:nvSpPr>
          <p:cNvPr id="27" name="Shape 15">
            <a:extLst>
              <a:ext uri="{FF2B5EF4-FFF2-40B4-BE49-F238E27FC236}">
                <a16:creationId xmlns:a16="http://schemas.microsoft.com/office/drawing/2014/main" id="{BE19EC94-132F-CF1B-086F-9C5855771262}"/>
              </a:ext>
            </a:extLst>
          </p:cNvPr>
          <p:cNvSpPr/>
          <p:nvPr/>
        </p:nvSpPr>
        <p:spPr>
          <a:xfrm>
            <a:off x="3498659" y="1691669"/>
            <a:ext cx="0" cy="4069080"/>
          </a:xfrm>
          <a:prstGeom prst="line">
            <a:avLst/>
          </a:prstGeom>
          <a:noFill/>
          <a:ln w="5080">
            <a:solidFill>
              <a:srgbClr val="EBEBEB"/>
            </a:solidFill>
            <a:prstDash val="solid"/>
          </a:ln>
        </p:spPr>
        <p:txBody>
          <a:bodyPr/>
          <a:lstStyle/>
          <a:p>
            <a:endParaRPr lang="en-US"/>
          </a:p>
        </p:txBody>
      </p:sp>
      <p:sp>
        <p:nvSpPr>
          <p:cNvPr id="28" name="Text 16">
            <a:extLst>
              <a:ext uri="{FF2B5EF4-FFF2-40B4-BE49-F238E27FC236}">
                <a16:creationId xmlns:a16="http://schemas.microsoft.com/office/drawing/2014/main" id="{1120B80A-F154-AABA-EDAD-9D6B5B7D3B8B}"/>
              </a:ext>
            </a:extLst>
          </p:cNvPr>
          <p:cNvSpPr/>
          <p:nvPr/>
        </p:nvSpPr>
        <p:spPr>
          <a:xfrm>
            <a:off x="3283970" y="5797323"/>
            <a:ext cx="379281" cy="184741"/>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$200</a:t>
            </a:r>
            <a:endParaRPr lang="en-US" sz="700" dirty="0"/>
          </a:p>
        </p:txBody>
      </p:sp>
      <p:sp>
        <p:nvSpPr>
          <p:cNvPr id="29" name="Shape 17">
            <a:extLst>
              <a:ext uri="{FF2B5EF4-FFF2-40B4-BE49-F238E27FC236}">
                <a16:creationId xmlns:a16="http://schemas.microsoft.com/office/drawing/2014/main" id="{0961F885-8348-18F1-785F-F92665BB6273}"/>
              </a:ext>
            </a:extLst>
          </p:cNvPr>
          <p:cNvSpPr/>
          <p:nvPr/>
        </p:nvSpPr>
        <p:spPr>
          <a:xfrm>
            <a:off x="3887865" y="1691669"/>
            <a:ext cx="0" cy="4069080"/>
          </a:xfrm>
          <a:prstGeom prst="line">
            <a:avLst/>
          </a:prstGeom>
          <a:noFill/>
          <a:ln w="5080">
            <a:solidFill>
              <a:srgbClr val="EBEBEB"/>
            </a:solidFill>
            <a:prstDash val="solid"/>
          </a:ln>
        </p:spPr>
        <p:txBody>
          <a:bodyPr/>
          <a:lstStyle/>
          <a:p>
            <a:endParaRPr lang="en-US"/>
          </a:p>
        </p:txBody>
      </p:sp>
      <p:sp>
        <p:nvSpPr>
          <p:cNvPr id="30" name="Text 18">
            <a:extLst>
              <a:ext uri="{FF2B5EF4-FFF2-40B4-BE49-F238E27FC236}">
                <a16:creationId xmlns:a16="http://schemas.microsoft.com/office/drawing/2014/main" id="{EC230159-32AD-543C-8D56-843598DF505C}"/>
              </a:ext>
            </a:extLst>
          </p:cNvPr>
          <p:cNvSpPr/>
          <p:nvPr/>
        </p:nvSpPr>
        <p:spPr>
          <a:xfrm>
            <a:off x="3673176" y="5810945"/>
            <a:ext cx="379281" cy="157496"/>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$220</a:t>
            </a:r>
            <a:endParaRPr lang="en-US" sz="700" dirty="0"/>
          </a:p>
        </p:txBody>
      </p:sp>
      <p:sp>
        <p:nvSpPr>
          <p:cNvPr id="31" name="Shape 19">
            <a:extLst>
              <a:ext uri="{FF2B5EF4-FFF2-40B4-BE49-F238E27FC236}">
                <a16:creationId xmlns:a16="http://schemas.microsoft.com/office/drawing/2014/main" id="{6CC01FF6-C0CB-5CD0-DA3F-D5AF724B2840}"/>
              </a:ext>
            </a:extLst>
          </p:cNvPr>
          <p:cNvSpPr/>
          <p:nvPr/>
        </p:nvSpPr>
        <p:spPr>
          <a:xfrm>
            <a:off x="482311" y="5594664"/>
            <a:ext cx="3794760" cy="0"/>
          </a:xfrm>
          <a:prstGeom prst="line">
            <a:avLst/>
          </a:prstGeom>
          <a:noFill/>
          <a:ln w="5080">
            <a:solidFill>
              <a:srgbClr val="EBEBEB"/>
            </a:solidFill>
            <a:prstDash val="solid"/>
          </a:ln>
        </p:spPr>
        <p:txBody>
          <a:bodyPr/>
          <a:lstStyle/>
          <a:p>
            <a:endParaRPr lang="en-US"/>
          </a:p>
        </p:txBody>
      </p:sp>
      <p:sp>
        <p:nvSpPr>
          <p:cNvPr id="32" name="Text 20">
            <a:extLst>
              <a:ext uri="{FF2B5EF4-FFF2-40B4-BE49-F238E27FC236}">
                <a16:creationId xmlns:a16="http://schemas.microsoft.com/office/drawing/2014/main" id="{151D1C38-1CC9-4F7A-FF8D-CDF3F4CB9920}"/>
              </a:ext>
            </a:extLst>
          </p:cNvPr>
          <p:cNvSpPr/>
          <p:nvPr/>
        </p:nvSpPr>
        <p:spPr>
          <a:xfrm>
            <a:off x="98263" y="5512368"/>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4.35</a:t>
            </a:r>
            <a:endParaRPr lang="en-US" sz="700" dirty="0"/>
          </a:p>
        </p:txBody>
      </p:sp>
      <p:sp>
        <p:nvSpPr>
          <p:cNvPr id="33" name="Shape 21">
            <a:extLst>
              <a:ext uri="{FF2B5EF4-FFF2-40B4-BE49-F238E27FC236}">
                <a16:creationId xmlns:a16="http://schemas.microsoft.com/office/drawing/2014/main" id="{E7B926E5-437E-3A19-C8B1-B897A8A51F06}"/>
              </a:ext>
            </a:extLst>
          </p:cNvPr>
          <p:cNvSpPr/>
          <p:nvPr/>
        </p:nvSpPr>
        <p:spPr>
          <a:xfrm>
            <a:off x="482311" y="5179452"/>
            <a:ext cx="3794760" cy="0"/>
          </a:xfrm>
          <a:prstGeom prst="line">
            <a:avLst/>
          </a:prstGeom>
          <a:noFill/>
          <a:ln w="5080">
            <a:solidFill>
              <a:srgbClr val="EBEBEB"/>
            </a:solidFill>
            <a:prstDash val="solid"/>
          </a:ln>
        </p:spPr>
        <p:txBody>
          <a:bodyPr/>
          <a:lstStyle/>
          <a:p>
            <a:endParaRPr lang="en-US"/>
          </a:p>
        </p:txBody>
      </p:sp>
      <p:sp>
        <p:nvSpPr>
          <p:cNvPr id="34" name="Text 22">
            <a:extLst>
              <a:ext uri="{FF2B5EF4-FFF2-40B4-BE49-F238E27FC236}">
                <a16:creationId xmlns:a16="http://schemas.microsoft.com/office/drawing/2014/main" id="{A534C350-CF4C-AC10-447D-ED0A98BED130}"/>
              </a:ext>
            </a:extLst>
          </p:cNvPr>
          <p:cNvSpPr/>
          <p:nvPr/>
        </p:nvSpPr>
        <p:spPr>
          <a:xfrm>
            <a:off x="98263" y="5097156"/>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4.40</a:t>
            </a:r>
            <a:endParaRPr lang="en-US" sz="700" dirty="0"/>
          </a:p>
        </p:txBody>
      </p:sp>
      <p:sp>
        <p:nvSpPr>
          <p:cNvPr id="35" name="Shape 23">
            <a:extLst>
              <a:ext uri="{FF2B5EF4-FFF2-40B4-BE49-F238E27FC236}">
                <a16:creationId xmlns:a16="http://schemas.microsoft.com/office/drawing/2014/main" id="{55D685CD-BB86-FC38-59D4-B05EDEBE7DA9}"/>
              </a:ext>
            </a:extLst>
          </p:cNvPr>
          <p:cNvSpPr/>
          <p:nvPr/>
        </p:nvSpPr>
        <p:spPr>
          <a:xfrm>
            <a:off x="482311" y="4764240"/>
            <a:ext cx="3794760" cy="0"/>
          </a:xfrm>
          <a:prstGeom prst="line">
            <a:avLst/>
          </a:prstGeom>
          <a:noFill/>
          <a:ln w="5080">
            <a:solidFill>
              <a:srgbClr val="EBEBEB"/>
            </a:solidFill>
            <a:prstDash val="solid"/>
          </a:ln>
        </p:spPr>
        <p:txBody>
          <a:bodyPr/>
          <a:lstStyle/>
          <a:p>
            <a:endParaRPr lang="en-US"/>
          </a:p>
        </p:txBody>
      </p:sp>
      <p:sp>
        <p:nvSpPr>
          <p:cNvPr id="36" name="Text 24">
            <a:extLst>
              <a:ext uri="{FF2B5EF4-FFF2-40B4-BE49-F238E27FC236}">
                <a16:creationId xmlns:a16="http://schemas.microsoft.com/office/drawing/2014/main" id="{BA8B4B99-406C-6131-D56D-6AE9152D4FF8}"/>
              </a:ext>
            </a:extLst>
          </p:cNvPr>
          <p:cNvSpPr/>
          <p:nvPr/>
        </p:nvSpPr>
        <p:spPr>
          <a:xfrm>
            <a:off x="98263" y="4681944"/>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4.45</a:t>
            </a:r>
            <a:endParaRPr lang="en-US" sz="700" dirty="0"/>
          </a:p>
        </p:txBody>
      </p:sp>
      <p:sp>
        <p:nvSpPr>
          <p:cNvPr id="37" name="Shape 25">
            <a:extLst>
              <a:ext uri="{FF2B5EF4-FFF2-40B4-BE49-F238E27FC236}">
                <a16:creationId xmlns:a16="http://schemas.microsoft.com/office/drawing/2014/main" id="{68A8FD24-E3BF-DB05-27C4-581FCE523426}"/>
              </a:ext>
            </a:extLst>
          </p:cNvPr>
          <p:cNvSpPr/>
          <p:nvPr/>
        </p:nvSpPr>
        <p:spPr>
          <a:xfrm>
            <a:off x="482311" y="4349027"/>
            <a:ext cx="3794760" cy="0"/>
          </a:xfrm>
          <a:prstGeom prst="line">
            <a:avLst/>
          </a:prstGeom>
          <a:noFill/>
          <a:ln w="5080">
            <a:solidFill>
              <a:srgbClr val="EBEBEB"/>
            </a:solidFill>
            <a:prstDash val="solid"/>
          </a:ln>
        </p:spPr>
        <p:txBody>
          <a:bodyPr/>
          <a:lstStyle/>
          <a:p>
            <a:endParaRPr lang="en-US"/>
          </a:p>
        </p:txBody>
      </p:sp>
      <p:sp>
        <p:nvSpPr>
          <p:cNvPr id="38" name="Text 26">
            <a:extLst>
              <a:ext uri="{FF2B5EF4-FFF2-40B4-BE49-F238E27FC236}">
                <a16:creationId xmlns:a16="http://schemas.microsoft.com/office/drawing/2014/main" id="{4B1E65CE-929C-A4ED-9322-909D34B1A1BD}"/>
              </a:ext>
            </a:extLst>
          </p:cNvPr>
          <p:cNvSpPr/>
          <p:nvPr/>
        </p:nvSpPr>
        <p:spPr>
          <a:xfrm>
            <a:off x="98263" y="4266731"/>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4.50</a:t>
            </a:r>
            <a:endParaRPr lang="en-US" sz="700" dirty="0"/>
          </a:p>
        </p:txBody>
      </p:sp>
      <p:sp>
        <p:nvSpPr>
          <p:cNvPr id="39" name="Shape 27">
            <a:extLst>
              <a:ext uri="{FF2B5EF4-FFF2-40B4-BE49-F238E27FC236}">
                <a16:creationId xmlns:a16="http://schemas.microsoft.com/office/drawing/2014/main" id="{DB64EFBA-FCE1-AA56-D6C5-A28B8E393BED}"/>
              </a:ext>
            </a:extLst>
          </p:cNvPr>
          <p:cNvSpPr/>
          <p:nvPr/>
        </p:nvSpPr>
        <p:spPr>
          <a:xfrm>
            <a:off x="482311" y="3933815"/>
            <a:ext cx="3794760" cy="0"/>
          </a:xfrm>
          <a:prstGeom prst="line">
            <a:avLst/>
          </a:prstGeom>
          <a:noFill/>
          <a:ln w="5080">
            <a:solidFill>
              <a:srgbClr val="EBEBEB"/>
            </a:solidFill>
            <a:prstDash val="solid"/>
          </a:ln>
        </p:spPr>
        <p:txBody>
          <a:bodyPr/>
          <a:lstStyle/>
          <a:p>
            <a:endParaRPr lang="en-US"/>
          </a:p>
        </p:txBody>
      </p:sp>
      <p:sp>
        <p:nvSpPr>
          <p:cNvPr id="40" name="Text 28">
            <a:extLst>
              <a:ext uri="{FF2B5EF4-FFF2-40B4-BE49-F238E27FC236}">
                <a16:creationId xmlns:a16="http://schemas.microsoft.com/office/drawing/2014/main" id="{5813813D-9F77-30A4-B95B-80CBCD93A749}"/>
              </a:ext>
            </a:extLst>
          </p:cNvPr>
          <p:cNvSpPr/>
          <p:nvPr/>
        </p:nvSpPr>
        <p:spPr>
          <a:xfrm>
            <a:off x="98263" y="3851519"/>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4.55</a:t>
            </a:r>
            <a:endParaRPr lang="en-US" sz="700" dirty="0"/>
          </a:p>
        </p:txBody>
      </p:sp>
      <p:sp>
        <p:nvSpPr>
          <p:cNvPr id="41" name="Shape 29">
            <a:extLst>
              <a:ext uri="{FF2B5EF4-FFF2-40B4-BE49-F238E27FC236}">
                <a16:creationId xmlns:a16="http://schemas.microsoft.com/office/drawing/2014/main" id="{CB79D589-EF95-90EC-1CFB-C9273B5749E0}"/>
              </a:ext>
            </a:extLst>
          </p:cNvPr>
          <p:cNvSpPr/>
          <p:nvPr/>
        </p:nvSpPr>
        <p:spPr>
          <a:xfrm>
            <a:off x="482311" y="3518603"/>
            <a:ext cx="3794760" cy="0"/>
          </a:xfrm>
          <a:prstGeom prst="line">
            <a:avLst/>
          </a:prstGeom>
          <a:noFill/>
          <a:ln w="5080">
            <a:solidFill>
              <a:srgbClr val="EBEBEB"/>
            </a:solidFill>
            <a:prstDash val="solid"/>
          </a:ln>
        </p:spPr>
        <p:txBody>
          <a:bodyPr/>
          <a:lstStyle/>
          <a:p>
            <a:endParaRPr lang="en-US"/>
          </a:p>
        </p:txBody>
      </p:sp>
      <p:sp>
        <p:nvSpPr>
          <p:cNvPr id="42" name="Text 30">
            <a:extLst>
              <a:ext uri="{FF2B5EF4-FFF2-40B4-BE49-F238E27FC236}">
                <a16:creationId xmlns:a16="http://schemas.microsoft.com/office/drawing/2014/main" id="{9BA9C08F-E3C5-1162-61A1-0F5BCF019D35}"/>
              </a:ext>
            </a:extLst>
          </p:cNvPr>
          <p:cNvSpPr/>
          <p:nvPr/>
        </p:nvSpPr>
        <p:spPr>
          <a:xfrm>
            <a:off x="98263" y="3436307"/>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4.60</a:t>
            </a:r>
            <a:endParaRPr lang="en-US" sz="700" dirty="0"/>
          </a:p>
        </p:txBody>
      </p:sp>
      <p:sp>
        <p:nvSpPr>
          <p:cNvPr id="43" name="Shape 31">
            <a:extLst>
              <a:ext uri="{FF2B5EF4-FFF2-40B4-BE49-F238E27FC236}">
                <a16:creationId xmlns:a16="http://schemas.microsoft.com/office/drawing/2014/main" id="{800E34BF-5195-F539-540C-5DE7B1E4AA7C}"/>
              </a:ext>
            </a:extLst>
          </p:cNvPr>
          <p:cNvSpPr/>
          <p:nvPr/>
        </p:nvSpPr>
        <p:spPr>
          <a:xfrm>
            <a:off x="482311" y="3103391"/>
            <a:ext cx="3794760" cy="0"/>
          </a:xfrm>
          <a:prstGeom prst="line">
            <a:avLst/>
          </a:prstGeom>
          <a:noFill/>
          <a:ln w="5080">
            <a:solidFill>
              <a:srgbClr val="EBEBEB"/>
            </a:solidFill>
            <a:prstDash val="solid"/>
          </a:ln>
        </p:spPr>
        <p:txBody>
          <a:bodyPr/>
          <a:lstStyle/>
          <a:p>
            <a:endParaRPr lang="en-US"/>
          </a:p>
        </p:txBody>
      </p:sp>
      <p:sp>
        <p:nvSpPr>
          <p:cNvPr id="44" name="Text 32">
            <a:extLst>
              <a:ext uri="{FF2B5EF4-FFF2-40B4-BE49-F238E27FC236}">
                <a16:creationId xmlns:a16="http://schemas.microsoft.com/office/drawing/2014/main" id="{618F65FC-2FDE-651B-3E9E-643996D54609}"/>
              </a:ext>
            </a:extLst>
          </p:cNvPr>
          <p:cNvSpPr/>
          <p:nvPr/>
        </p:nvSpPr>
        <p:spPr>
          <a:xfrm>
            <a:off x="98263" y="3021095"/>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4.65</a:t>
            </a:r>
            <a:endParaRPr lang="en-US" sz="700" dirty="0"/>
          </a:p>
        </p:txBody>
      </p:sp>
      <p:sp>
        <p:nvSpPr>
          <p:cNvPr id="45" name="Shape 33">
            <a:extLst>
              <a:ext uri="{FF2B5EF4-FFF2-40B4-BE49-F238E27FC236}">
                <a16:creationId xmlns:a16="http://schemas.microsoft.com/office/drawing/2014/main" id="{2234C086-833C-CA3F-4927-1A8D48627DA5}"/>
              </a:ext>
            </a:extLst>
          </p:cNvPr>
          <p:cNvSpPr/>
          <p:nvPr/>
        </p:nvSpPr>
        <p:spPr>
          <a:xfrm>
            <a:off x="482311" y="2688178"/>
            <a:ext cx="3794760" cy="0"/>
          </a:xfrm>
          <a:prstGeom prst="line">
            <a:avLst/>
          </a:prstGeom>
          <a:noFill/>
          <a:ln w="5080">
            <a:solidFill>
              <a:srgbClr val="EBEBEB"/>
            </a:solidFill>
            <a:prstDash val="solid"/>
          </a:ln>
        </p:spPr>
        <p:txBody>
          <a:bodyPr/>
          <a:lstStyle/>
          <a:p>
            <a:endParaRPr lang="en-US"/>
          </a:p>
        </p:txBody>
      </p:sp>
      <p:sp>
        <p:nvSpPr>
          <p:cNvPr id="46" name="Text 34">
            <a:extLst>
              <a:ext uri="{FF2B5EF4-FFF2-40B4-BE49-F238E27FC236}">
                <a16:creationId xmlns:a16="http://schemas.microsoft.com/office/drawing/2014/main" id="{7F55374E-42B0-A40C-DE30-BB723331658A}"/>
              </a:ext>
            </a:extLst>
          </p:cNvPr>
          <p:cNvSpPr/>
          <p:nvPr/>
        </p:nvSpPr>
        <p:spPr>
          <a:xfrm>
            <a:off x="98263" y="2605882"/>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4.70</a:t>
            </a:r>
            <a:endParaRPr lang="en-US" sz="700" dirty="0"/>
          </a:p>
        </p:txBody>
      </p:sp>
      <p:sp>
        <p:nvSpPr>
          <p:cNvPr id="47" name="Shape 35">
            <a:extLst>
              <a:ext uri="{FF2B5EF4-FFF2-40B4-BE49-F238E27FC236}">
                <a16:creationId xmlns:a16="http://schemas.microsoft.com/office/drawing/2014/main" id="{09C563B4-4EAE-39D1-3F1B-01682B464646}"/>
              </a:ext>
            </a:extLst>
          </p:cNvPr>
          <p:cNvSpPr/>
          <p:nvPr/>
        </p:nvSpPr>
        <p:spPr>
          <a:xfrm>
            <a:off x="482311" y="2272966"/>
            <a:ext cx="3794760" cy="0"/>
          </a:xfrm>
          <a:prstGeom prst="line">
            <a:avLst/>
          </a:prstGeom>
          <a:noFill/>
          <a:ln w="5080">
            <a:solidFill>
              <a:srgbClr val="EBEBEB"/>
            </a:solidFill>
            <a:prstDash val="solid"/>
          </a:ln>
        </p:spPr>
        <p:txBody>
          <a:bodyPr/>
          <a:lstStyle/>
          <a:p>
            <a:endParaRPr lang="en-US"/>
          </a:p>
        </p:txBody>
      </p:sp>
      <p:sp>
        <p:nvSpPr>
          <p:cNvPr id="48" name="Text 36">
            <a:extLst>
              <a:ext uri="{FF2B5EF4-FFF2-40B4-BE49-F238E27FC236}">
                <a16:creationId xmlns:a16="http://schemas.microsoft.com/office/drawing/2014/main" id="{CEB0894B-2421-D3CF-4DE8-6DB1C2DE9E0C}"/>
              </a:ext>
            </a:extLst>
          </p:cNvPr>
          <p:cNvSpPr/>
          <p:nvPr/>
        </p:nvSpPr>
        <p:spPr>
          <a:xfrm>
            <a:off x="98263" y="2190670"/>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4.75</a:t>
            </a:r>
            <a:endParaRPr lang="en-US" sz="700" dirty="0"/>
          </a:p>
        </p:txBody>
      </p:sp>
      <p:sp>
        <p:nvSpPr>
          <p:cNvPr id="49" name="Shape 37">
            <a:extLst>
              <a:ext uri="{FF2B5EF4-FFF2-40B4-BE49-F238E27FC236}">
                <a16:creationId xmlns:a16="http://schemas.microsoft.com/office/drawing/2014/main" id="{0D2B2A19-1AD2-C588-75C1-C6F825C78AC6}"/>
              </a:ext>
            </a:extLst>
          </p:cNvPr>
          <p:cNvSpPr/>
          <p:nvPr/>
        </p:nvSpPr>
        <p:spPr>
          <a:xfrm>
            <a:off x="482311" y="1857754"/>
            <a:ext cx="3794760" cy="0"/>
          </a:xfrm>
          <a:prstGeom prst="line">
            <a:avLst/>
          </a:prstGeom>
          <a:noFill/>
          <a:ln w="5080">
            <a:solidFill>
              <a:srgbClr val="EBEBEB"/>
            </a:solidFill>
            <a:prstDash val="solid"/>
          </a:ln>
        </p:spPr>
        <p:txBody>
          <a:bodyPr/>
          <a:lstStyle/>
          <a:p>
            <a:endParaRPr lang="en-US"/>
          </a:p>
        </p:txBody>
      </p:sp>
      <p:sp>
        <p:nvSpPr>
          <p:cNvPr id="50" name="Text 38">
            <a:extLst>
              <a:ext uri="{FF2B5EF4-FFF2-40B4-BE49-F238E27FC236}">
                <a16:creationId xmlns:a16="http://schemas.microsoft.com/office/drawing/2014/main" id="{824D587C-DC92-DA74-CBDF-23FCF3174010}"/>
              </a:ext>
            </a:extLst>
          </p:cNvPr>
          <p:cNvSpPr/>
          <p:nvPr/>
        </p:nvSpPr>
        <p:spPr>
          <a:xfrm>
            <a:off x="98263" y="1775458"/>
            <a:ext cx="347472" cy="164592"/>
          </a:xfrm>
          <a:prstGeom prst="rect">
            <a:avLst/>
          </a:prstGeom>
          <a:noFill/>
          <a:ln/>
        </p:spPr>
        <p:txBody>
          <a:bodyPr wrap="square" rtlCol="0" anchor="ctr"/>
          <a:lstStyle/>
          <a:p>
            <a:pPr marL="0" indent="0" algn="r">
              <a:buNone/>
            </a:pPr>
            <a:r>
              <a:rPr lang="en-US" sz="700" dirty="0">
                <a:solidFill>
                  <a:srgbClr val="999999"/>
                </a:solidFill>
                <a:latin typeface="Calibri" pitchFamily="34" charset="0"/>
                <a:ea typeface="Calibri" pitchFamily="34" charset="-122"/>
                <a:cs typeface="Calibri" pitchFamily="34" charset="-120"/>
              </a:rPr>
              <a:t>4.80</a:t>
            </a:r>
            <a:endParaRPr lang="en-US" sz="700" dirty="0"/>
          </a:p>
        </p:txBody>
      </p:sp>
      <p:sp>
        <p:nvSpPr>
          <p:cNvPr id="51" name="Shape 39">
            <a:extLst>
              <a:ext uri="{FF2B5EF4-FFF2-40B4-BE49-F238E27FC236}">
                <a16:creationId xmlns:a16="http://schemas.microsoft.com/office/drawing/2014/main" id="{713F3A54-F5A9-D9EA-BA43-41362BE74892}"/>
              </a:ext>
            </a:extLst>
          </p:cNvPr>
          <p:cNvSpPr/>
          <p:nvPr/>
        </p:nvSpPr>
        <p:spPr>
          <a:xfrm>
            <a:off x="482311" y="5760749"/>
            <a:ext cx="3794760" cy="0"/>
          </a:xfrm>
          <a:prstGeom prst="line">
            <a:avLst/>
          </a:prstGeom>
          <a:noFill/>
          <a:ln w="10160">
            <a:solidFill>
              <a:srgbClr val="AAAAAA"/>
            </a:solidFill>
            <a:prstDash val="solid"/>
          </a:ln>
        </p:spPr>
        <p:txBody>
          <a:bodyPr/>
          <a:lstStyle/>
          <a:p>
            <a:endParaRPr lang="en-US"/>
          </a:p>
        </p:txBody>
      </p:sp>
      <p:sp>
        <p:nvSpPr>
          <p:cNvPr id="52" name="Shape 40">
            <a:extLst>
              <a:ext uri="{FF2B5EF4-FFF2-40B4-BE49-F238E27FC236}">
                <a16:creationId xmlns:a16="http://schemas.microsoft.com/office/drawing/2014/main" id="{1715294C-88BB-C62A-F1B4-518D157813EF}"/>
              </a:ext>
            </a:extLst>
          </p:cNvPr>
          <p:cNvSpPr/>
          <p:nvPr/>
        </p:nvSpPr>
        <p:spPr>
          <a:xfrm>
            <a:off x="482311" y="1691669"/>
            <a:ext cx="0" cy="4069080"/>
          </a:xfrm>
          <a:prstGeom prst="line">
            <a:avLst/>
          </a:prstGeom>
          <a:noFill/>
          <a:ln w="10160">
            <a:solidFill>
              <a:srgbClr val="AAAAAA"/>
            </a:solidFill>
            <a:prstDash val="solid"/>
          </a:ln>
        </p:spPr>
        <p:txBody>
          <a:bodyPr/>
          <a:lstStyle/>
          <a:p>
            <a:endParaRPr lang="en-US"/>
          </a:p>
        </p:txBody>
      </p:sp>
      <p:sp>
        <p:nvSpPr>
          <p:cNvPr id="54" name="Shape 43">
            <a:extLst>
              <a:ext uri="{FF2B5EF4-FFF2-40B4-BE49-F238E27FC236}">
                <a16:creationId xmlns:a16="http://schemas.microsoft.com/office/drawing/2014/main" id="{3B5C8AA0-E2C0-161D-1CC7-1E3912163583}"/>
              </a:ext>
            </a:extLst>
          </p:cNvPr>
          <p:cNvSpPr/>
          <p:nvPr/>
        </p:nvSpPr>
        <p:spPr>
          <a:xfrm>
            <a:off x="2369961" y="1691669"/>
            <a:ext cx="0" cy="4069080"/>
          </a:xfrm>
          <a:prstGeom prst="line">
            <a:avLst/>
          </a:prstGeom>
          <a:noFill/>
          <a:ln w="7620">
            <a:solidFill>
              <a:srgbClr val="CCCCCC"/>
            </a:solidFill>
            <a:prstDash val="solid"/>
          </a:ln>
        </p:spPr>
        <p:txBody>
          <a:bodyPr/>
          <a:lstStyle/>
          <a:p>
            <a:endParaRPr lang="en-US"/>
          </a:p>
        </p:txBody>
      </p:sp>
      <p:sp>
        <p:nvSpPr>
          <p:cNvPr id="55" name="Shape 44">
            <a:extLst>
              <a:ext uri="{FF2B5EF4-FFF2-40B4-BE49-F238E27FC236}">
                <a16:creationId xmlns:a16="http://schemas.microsoft.com/office/drawing/2014/main" id="{F5296F0A-6FD7-4940-2236-F98F2874EDB0}"/>
              </a:ext>
            </a:extLst>
          </p:cNvPr>
          <p:cNvSpPr/>
          <p:nvPr/>
        </p:nvSpPr>
        <p:spPr>
          <a:xfrm>
            <a:off x="482311" y="3726209"/>
            <a:ext cx="3794760" cy="0"/>
          </a:xfrm>
          <a:prstGeom prst="line">
            <a:avLst/>
          </a:prstGeom>
          <a:noFill/>
          <a:ln w="7620">
            <a:solidFill>
              <a:srgbClr val="CCCCCC"/>
            </a:solidFill>
            <a:prstDash val="solid"/>
          </a:ln>
        </p:spPr>
        <p:txBody>
          <a:bodyPr/>
          <a:lstStyle/>
          <a:p>
            <a:endParaRPr lang="en-US"/>
          </a:p>
        </p:txBody>
      </p:sp>
      <p:sp>
        <p:nvSpPr>
          <p:cNvPr id="56" name="Shape 45">
            <a:extLst>
              <a:ext uri="{FF2B5EF4-FFF2-40B4-BE49-F238E27FC236}">
                <a16:creationId xmlns:a16="http://schemas.microsoft.com/office/drawing/2014/main" id="{D3D49E0E-9353-41F4-5420-F57AED027EE5}"/>
              </a:ext>
            </a:extLst>
          </p:cNvPr>
          <p:cNvSpPr/>
          <p:nvPr/>
        </p:nvSpPr>
        <p:spPr>
          <a:xfrm>
            <a:off x="2141572" y="2063401"/>
            <a:ext cx="585216" cy="585216"/>
          </a:xfrm>
          <a:prstGeom prst="ellipse">
            <a:avLst/>
          </a:prstGeom>
          <a:solidFill>
            <a:srgbClr val="2D6A4F">
              <a:alpha val="90000"/>
            </a:srgbClr>
          </a:solidFill>
          <a:ln w="12700">
            <a:solidFill>
              <a:srgbClr val="2D6A4F"/>
            </a:solidFill>
            <a:prstDash val="solid"/>
          </a:ln>
        </p:spPr>
        <p:txBody>
          <a:bodyPr/>
          <a:lstStyle/>
          <a:p>
            <a:endParaRPr lang="en-US"/>
          </a:p>
        </p:txBody>
      </p:sp>
      <p:sp>
        <p:nvSpPr>
          <p:cNvPr id="57" name="Text 46">
            <a:extLst>
              <a:ext uri="{FF2B5EF4-FFF2-40B4-BE49-F238E27FC236}">
                <a16:creationId xmlns:a16="http://schemas.microsoft.com/office/drawing/2014/main" id="{E7D4F4E4-771E-B9E3-FF57-FDA37E17F398}"/>
              </a:ext>
            </a:extLst>
          </p:cNvPr>
          <p:cNvSpPr/>
          <p:nvPr/>
        </p:nvSpPr>
        <p:spPr>
          <a:xfrm>
            <a:off x="1995268" y="2081689"/>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Ninja</a:t>
            </a:r>
            <a:endParaRPr lang="en-US" sz="800" dirty="0"/>
          </a:p>
        </p:txBody>
      </p:sp>
      <p:sp>
        <p:nvSpPr>
          <p:cNvPr id="58" name="Shape 47">
            <a:extLst>
              <a:ext uri="{FF2B5EF4-FFF2-40B4-BE49-F238E27FC236}">
                <a16:creationId xmlns:a16="http://schemas.microsoft.com/office/drawing/2014/main" id="{663F90A3-2E89-A5AF-08B7-5FB398A82BD2}"/>
              </a:ext>
            </a:extLst>
          </p:cNvPr>
          <p:cNvSpPr/>
          <p:nvPr/>
        </p:nvSpPr>
        <p:spPr>
          <a:xfrm>
            <a:off x="1368069" y="3578643"/>
            <a:ext cx="544260" cy="544260"/>
          </a:xfrm>
          <a:prstGeom prst="ellipse">
            <a:avLst/>
          </a:prstGeom>
          <a:solidFill>
            <a:srgbClr val="1B4332">
              <a:alpha val="90000"/>
            </a:srgbClr>
          </a:solidFill>
          <a:ln w="12700">
            <a:solidFill>
              <a:srgbClr val="1B4332"/>
            </a:solidFill>
            <a:prstDash val="solid"/>
          </a:ln>
        </p:spPr>
        <p:txBody>
          <a:bodyPr/>
          <a:lstStyle/>
          <a:p>
            <a:endParaRPr lang="en-US"/>
          </a:p>
        </p:txBody>
      </p:sp>
      <p:sp>
        <p:nvSpPr>
          <p:cNvPr id="59" name="Text 48">
            <a:extLst>
              <a:ext uri="{FF2B5EF4-FFF2-40B4-BE49-F238E27FC236}">
                <a16:creationId xmlns:a16="http://schemas.microsoft.com/office/drawing/2014/main" id="{9342A284-87B8-DB50-5745-A9E28E913AA0}"/>
              </a:ext>
            </a:extLst>
          </p:cNvPr>
          <p:cNvSpPr/>
          <p:nvPr/>
        </p:nvSpPr>
        <p:spPr>
          <a:xfrm>
            <a:off x="725799" y="3978789"/>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Instant Pot</a:t>
            </a:r>
            <a:endParaRPr lang="en-US" sz="800" dirty="0"/>
          </a:p>
        </p:txBody>
      </p:sp>
      <p:sp>
        <p:nvSpPr>
          <p:cNvPr id="60" name="Shape 49">
            <a:extLst>
              <a:ext uri="{FF2B5EF4-FFF2-40B4-BE49-F238E27FC236}">
                <a16:creationId xmlns:a16="http://schemas.microsoft.com/office/drawing/2014/main" id="{479541E3-93B4-830A-6BD6-720E0C09A119}"/>
              </a:ext>
            </a:extLst>
          </p:cNvPr>
          <p:cNvSpPr/>
          <p:nvPr/>
        </p:nvSpPr>
        <p:spPr>
          <a:xfrm>
            <a:off x="1081814" y="3457128"/>
            <a:ext cx="455119" cy="455119"/>
          </a:xfrm>
          <a:prstGeom prst="ellipse">
            <a:avLst/>
          </a:prstGeom>
          <a:solidFill>
            <a:srgbClr val="40916C">
              <a:alpha val="90000"/>
            </a:srgbClr>
          </a:solidFill>
          <a:ln w="12700">
            <a:solidFill>
              <a:srgbClr val="40916C"/>
            </a:solidFill>
            <a:prstDash val="solid"/>
          </a:ln>
        </p:spPr>
        <p:txBody>
          <a:bodyPr/>
          <a:lstStyle/>
          <a:p>
            <a:endParaRPr lang="en-US"/>
          </a:p>
        </p:txBody>
      </p:sp>
      <p:sp>
        <p:nvSpPr>
          <p:cNvPr id="61" name="Text 50">
            <a:extLst>
              <a:ext uri="{FF2B5EF4-FFF2-40B4-BE49-F238E27FC236}">
                <a16:creationId xmlns:a16="http://schemas.microsoft.com/office/drawing/2014/main" id="{F1CBC060-8504-198A-717F-28B07BC6797E}"/>
              </a:ext>
            </a:extLst>
          </p:cNvPr>
          <p:cNvSpPr/>
          <p:nvPr/>
        </p:nvSpPr>
        <p:spPr>
          <a:xfrm>
            <a:off x="321822" y="3446944"/>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GoWise USA</a:t>
            </a:r>
            <a:endParaRPr lang="en-US" sz="800" dirty="0"/>
          </a:p>
        </p:txBody>
      </p:sp>
      <p:sp>
        <p:nvSpPr>
          <p:cNvPr id="62" name="Shape 51">
            <a:extLst>
              <a:ext uri="{FF2B5EF4-FFF2-40B4-BE49-F238E27FC236}">
                <a16:creationId xmlns:a16="http://schemas.microsoft.com/office/drawing/2014/main" id="{6C5ED3A8-AC24-15C2-C108-58C9C2BCC8B5}"/>
              </a:ext>
            </a:extLst>
          </p:cNvPr>
          <p:cNvSpPr/>
          <p:nvPr/>
        </p:nvSpPr>
        <p:spPr>
          <a:xfrm>
            <a:off x="546189" y="4335737"/>
            <a:ext cx="358751" cy="358751"/>
          </a:xfrm>
          <a:prstGeom prst="ellipse">
            <a:avLst/>
          </a:prstGeom>
          <a:solidFill>
            <a:srgbClr val="74C69D">
              <a:alpha val="90000"/>
            </a:srgbClr>
          </a:solidFill>
          <a:ln w="12700">
            <a:solidFill>
              <a:srgbClr val="74C69D"/>
            </a:solidFill>
            <a:prstDash val="solid"/>
          </a:ln>
        </p:spPr>
        <p:txBody>
          <a:bodyPr/>
          <a:lstStyle/>
          <a:p>
            <a:endParaRPr lang="en-US"/>
          </a:p>
        </p:txBody>
      </p:sp>
      <p:sp>
        <p:nvSpPr>
          <p:cNvPr id="63" name="Text 52">
            <a:extLst>
              <a:ext uri="{FF2B5EF4-FFF2-40B4-BE49-F238E27FC236}">
                <a16:creationId xmlns:a16="http://schemas.microsoft.com/office/drawing/2014/main" id="{648E9FF4-02E9-9699-1C24-4B9CC8F1F335}"/>
              </a:ext>
            </a:extLst>
          </p:cNvPr>
          <p:cNvSpPr/>
          <p:nvPr/>
        </p:nvSpPr>
        <p:spPr>
          <a:xfrm>
            <a:off x="341517" y="4643128"/>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Dash</a:t>
            </a:r>
            <a:endParaRPr lang="en-US" sz="800" dirty="0"/>
          </a:p>
        </p:txBody>
      </p:sp>
      <p:sp>
        <p:nvSpPr>
          <p:cNvPr id="64" name="Shape 53">
            <a:extLst>
              <a:ext uri="{FF2B5EF4-FFF2-40B4-BE49-F238E27FC236}">
                <a16:creationId xmlns:a16="http://schemas.microsoft.com/office/drawing/2014/main" id="{3E5F4883-CC64-0126-7399-F41A10C7C9D8}"/>
              </a:ext>
            </a:extLst>
          </p:cNvPr>
          <p:cNvSpPr/>
          <p:nvPr/>
        </p:nvSpPr>
        <p:spPr>
          <a:xfrm>
            <a:off x="1199777" y="4754563"/>
            <a:ext cx="351524" cy="351524"/>
          </a:xfrm>
          <a:prstGeom prst="ellipse">
            <a:avLst/>
          </a:prstGeom>
          <a:solidFill>
            <a:srgbClr val="95D5B2">
              <a:alpha val="90000"/>
            </a:srgbClr>
          </a:solidFill>
          <a:ln w="12700">
            <a:solidFill>
              <a:srgbClr val="95D5B2"/>
            </a:solidFill>
            <a:prstDash val="solid"/>
          </a:ln>
        </p:spPr>
        <p:txBody>
          <a:bodyPr/>
          <a:lstStyle/>
          <a:p>
            <a:endParaRPr lang="en-US"/>
          </a:p>
        </p:txBody>
      </p:sp>
      <p:sp>
        <p:nvSpPr>
          <p:cNvPr id="65" name="Text 54">
            <a:extLst>
              <a:ext uri="{FF2B5EF4-FFF2-40B4-BE49-F238E27FC236}">
                <a16:creationId xmlns:a16="http://schemas.microsoft.com/office/drawing/2014/main" id="{D5B5A566-0E68-4694-5765-1A2B3647D32D}"/>
              </a:ext>
            </a:extLst>
          </p:cNvPr>
          <p:cNvSpPr/>
          <p:nvPr/>
        </p:nvSpPr>
        <p:spPr>
          <a:xfrm>
            <a:off x="991491" y="5058341"/>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Chefman</a:t>
            </a:r>
            <a:endParaRPr lang="en-US" sz="800" dirty="0"/>
          </a:p>
        </p:txBody>
      </p:sp>
      <p:sp>
        <p:nvSpPr>
          <p:cNvPr id="66" name="Shape 55">
            <a:extLst>
              <a:ext uri="{FF2B5EF4-FFF2-40B4-BE49-F238E27FC236}">
                <a16:creationId xmlns:a16="http://schemas.microsoft.com/office/drawing/2014/main" id="{8682DB0E-A481-1F94-5C3F-0F015DA21E7A}"/>
              </a:ext>
            </a:extLst>
          </p:cNvPr>
          <p:cNvSpPr/>
          <p:nvPr/>
        </p:nvSpPr>
        <p:spPr>
          <a:xfrm>
            <a:off x="954299" y="2765158"/>
            <a:ext cx="344296" cy="344296"/>
          </a:xfrm>
          <a:prstGeom prst="ellipse">
            <a:avLst/>
          </a:prstGeom>
          <a:solidFill>
            <a:srgbClr val="52B788">
              <a:alpha val="90000"/>
            </a:srgbClr>
          </a:solidFill>
          <a:ln w="12700">
            <a:solidFill>
              <a:srgbClr val="52B788"/>
            </a:solidFill>
            <a:prstDash val="solid"/>
          </a:ln>
        </p:spPr>
        <p:txBody>
          <a:bodyPr/>
          <a:lstStyle/>
          <a:p>
            <a:endParaRPr lang="en-US"/>
          </a:p>
        </p:txBody>
      </p:sp>
      <p:sp>
        <p:nvSpPr>
          <p:cNvPr id="67" name="Text 56">
            <a:extLst>
              <a:ext uri="{FF2B5EF4-FFF2-40B4-BE49-F238E27FC236}">
                <a16:creationId xmlns:a16="http://schemas.microsoft.com/office/drawing/2014/main" id="{5200452B-EB4F-6E68-3856-C3835F41872C}"/>
              </a:ext>
            </a:extLst>
          </p:cNvPr>
          <p:cNvSpPr/>
          <p:nvPr/>
        </p:nvSpPr>
        <p:spPr>
          <a:xfrm>
            <a:off x="212047" y="2699562"/>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Ultrean</a:t>
            </a:r>
            <a:endParaRPr lang="en-US" sz="800" dirty="0"/>
          </a:p>
        </p:txBody>
      </p:sp>
      <p:sp>
        <p:nvSpPr>
          <p:cNvPr id="68" name="Shape 57">
            <a:extLst>
              <a:ext uri="{FF2B5EF4-FFF2-40B4-BE49-F238E27FC236}">
                <a16:creationId xmlns:a16="http://schemas.microsoft.com/office/drawing/2014/main" id="{F085CCA3-C1C4-60C7-C9F1-3A6A822DB70A}"/>
              </a:ext>
            </a:extLst>
          </p:cNvPr>
          <p:cNvSpPr/>
          <p:nvPr/>
        </p:nvSpPr>
        <p:spPr>
          <a:xfrm>
            <a:off x="3798840" y="4682362"/>
            <a:ext cx="329841" cy="329841"/>
          </a:xfrm>
          <a:prstGeom prst="ellipse">
            <a:avLst/>
          </a:prstGeom>
          <a:solidFill>
            <a:srgbClr val="B7E4C7">
              <a:alpha val="90000"/>
            </a:srgbClr>
          </a:solidFill>
          <a:ln w="12700">
            <a:solidFill>
              <a:srgbClr val="B7E4C7"/>
            </a:solidFill>
            <a:prstDash val="solid"/>
          </a:ln>
        </p:spPr>
        <p:txBody>
          <a:bodyPr/>
          <a:lstStyle/>
          <a:p>
            <a:endParaRPr lang="en-US"/>
          </a:p>
        </p:txBody>
      </p:sp>
      <p:sp>
        <p:nvSpPr>
          <p:cNvPr id="69" name="Text 58">
            <a:extLst>
              <a:ext uri="{FF2B5EF4-FFF2-40B4-BE49-F238E27FC236}">
                <a16:creationId xmlns:a16="http://schemas.microsoft.com/office/drawing/2014/main" id="{D7A77A0C-5F7F-0899-B256-2260CE7DDE5B}"/>
              </a:ext>
            </a:extLst>
          </p:cNvPr>
          <p:cNvSpPr/>
          <p:nvPr/>
        </p:nvSpPr>
        <p:spPr>
          <a:xfrm>
            <a:off x="2866480" y="4975298"/>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Cuisinart</a:t>
            </a:r>
            <a:endParaRPr lang="en-US" sz="800" dirty="0"/>
          </a:p>
        </p:txBody>
      </p:sp>
      <p:sp>
        <p:nvSpPr>
          <p:cNvPr id="70" name="Shape 59">
            <a:extLst>
              <a:ext uri="{FF2B5EF4-FFF2-40B4-BE49-F238E27FC236}">
                <a16:creationId xmlns:a16="http://schemas.microsoft.com/office/drawing/2014/main" id="{7E852D83-1768-052C-ED8F-63828648BC63}"/>
              </a:ext>
            </a:extLst>
          </p:cNvPr>
          <p:cNvSpPr/>
          <p:nvPr/>
        </p:nvSpPr>
        <p:spPr>
          <a:xfrm>
            <a:off x="1710560" y="2899998"/>
            <a:ext cx="240701" cy="240701"/>
          </a:xfrm>
          <a:prstGeom prst="ellipse">
            <a:avLst/>
          </a:prstGeom>
          <a:solidFill>
            <a:srgbClr val="D8F3DC">
              <a:alpha val="90000"/>
            </a:srgbClr>
          </a:solidFill>
          <a:ln w="12700">
            <a:solidFill>
              <a:srgbClr val="D8F3DC"/>
            </a:solidFill>
            <a:prstDash val="solid"/>
          </a:ln>
        </p:spPr>
        <p:txBody>
          <a:bodyPr/>
          <a:lstStyle/>
          <a:p>
            <a:endParaRPr lang="en-US"/>
          </a:p>
        </p:txBody>
      </p:sp>
      <p:sp>
        <p:nvSpPr>
          <p:cNvPr id="71" name="Text 60">
            <a:extLst>
              <a:ext uri="{FF2B5EF4-FFF2-40B4-BE49-F238E27FC236}">
                <a16:creationId xmlns:a16="http://schemas.microsoft.com/office/drawing/2014/main" id="{95DFA675-DCFC-AFF8-1FA9-AECA7788309D}"/>
              </a:ext>
            </a:extLst>
          </p:cNvPr>
          <p:cNvSpPr/>
          <p:nvPr/>
        </p:nvSpPr>
        <p:spPr>
          <a:xfrm>
            <a:off x="1446862" y="2764316"/>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Cosori</a:t>
            </a:r>
            <a:endParaRPr lang="en-US" sz="800" dirty="0"/>
          </a:p>
        </p:txBody>
      </p:sp>
      <p:sp>
        <p:nvSpPr>
          <p:cNvPr id="72" name="Shape 61">
            <a:extLst>
              <a:ext uri="{FF2B5EF4-FFF2-40B4-BE49-F238E27FC236}">
                <a16:creationId xmlns:a16="http://schemas.microsoft.com/office/drawing/2014/main" id="{51599779-283E-A881-31AD-690D215809C0}"/>
              </a:ext>
            </a:extLst>
          </p:cNvPr>
          <p:cNvSpPr/>
          <p:nvPr/>
        </p:nvSpPr>
        <p:spPr>
          <a:xfrm>
            <a:off x="2149900" y="5139735"/>
            <a:ext cx="245519" cy="245519"/>
          </a:xfrm>
          <a:prstGeom prst="ellipse">
            <a:avLst/>
          </a:prstGeom>
          <a:solidFill>
            <a:srgbClr val="A0C4B8">
              <a:alpha val="90000"/>
            </a:srgbClr>
          </a:solidFill>
          <a:ln w="12700">
            <a:solidFill>
              <a:srgbClr val="A0C4B8"/>
            </a:solidFill>
            <a:prstDash val="solid"/>
          </a:ln>
        </p:spPr>
        <p:txBody>
          <a:bodyPr/>
          <a:lstStyle/>
          <a:p>
            <a:endParaRPr lang="en-US"/>
          </a:p>
        </p:txBody>
      </p:sp>
      <p:sp>
        <p:nvSpPr>
          <p:cNvPr id="73" name="Text 62">
            <a:extLst>
              <a:ext uri="{FF2B5EF4-FFF2-40B4-BE49-F238E27FC236}">
                <a16:creationId xmlns:a16="http://schemas.microsoft.com/office/drawing/2014/main" id="{3AFD32A3-C139-6779-5F23-96D1073930DB}"/>
              </a:ext>
            </a:extLst>
          </p:cNvPr>
          <p:cNvSpPr/>
          <p:nvPr/>
        </p:nvSpPr>
        <p:spPr>
          <a:xfrm>
            <a:off x="1888611" y="5390510"/>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NuWave</a:t>
            </a:r>
            <a:endParaRPr lang="en-US" sz="800" dirty="0"/>
          </a:p>
        </p:txBody>
      </p:sp>
      <p:sp>
        <p:nvSpPr>
          <p:cNvPr id="74" name="Shape 63">
            <a:extLst>
              <a:ext uri="{FF2B5EF4-FFF2-40B4-BE49-F238E27FC236}">
                <a16:creationId xmlns:a16="http://schemas.microsoft.com/office/drawing/2014/main" id="{FBBA3FFA-85A5-4098-6FD9-C1B2BB358C79}"/>
              </a:ext>
            </a:extLst>
          </p:cNvPr>
          <p:cNvSpPr/>
          <p:nvPr/>
        </p:nvSpPr>
        <p:spPr>
          <a:xfrm>
            <a:off x="3193155" y="5171054"/>
            <a:ext cx="182880" cy="182880"/>
          </a:xfrm>
          <a:prstGeom prst="ellipse">
            <a:avLst/>
          </a:prstGeom>
          <a:solidFill>
            <a:srgbClr val="C8D8D0">
              <a:alpha val="90000"/>
            </a:srgbClr>
          </a:solidFill>
          <a:ln w="12700">
            <a:solidFill>
              <a:srgbClr val="C8D8D0"/>
            </a:solidFill>
            <a:prstDash val="solid"/>
          </a:ln>
        </p:spPr>
        <p:txBody>
          <a:bodyPr/>
          <a:lstStyle/>
          <a:p>
            <a:endParaRPr lang="en-US"/>
          </a:p>
        </p:txBody>
      </p:sp>
      <p:sp>
        <p:nvSpPr>
          <p:cNvPr id="75" name="Text 64">
            <a:extLst>
              <a:ext uri="{FF2B5EF4-FFF2-40B4-BE49-F238E27FC236}">
                <a16:creationId xmlns:a16="http://schemas.microsoft.com/office/drawing/2014/main" id="{15F7F5E8-518C-EB6F-9926-755223DFEC05}"/>
              </a:ext>
            </a:extLst>
          </p:cNvPr>
          <p:cNvSpPr/>
          <p:nvPr/>
        </p:nvSpPr>
        <p:spPr>
          <a:xfrm>
            <a:off x="2297043" y="5390510"/>
            <a:ext cx="877824" cy="164592"/>
          </a:xfrm>
          <a:prstGeom prst="rect">
            <a:avLst/>
          </a:prstGeom>
          <a:noFill/>
          <a:ln/>
        </p:spPr>
        <p:txBody>
          <a:bodyPr wrap="square" lIns="0" tIns="0" rIns="0" bIns="0" rtlCol="0" anchor="ctr"/>
          <a:lstStyle/>
          <a:p>
            <a:pPr marL="0" indent="0" algn="ctr">
              <a:buNone/>
            </a:pPr>
            <a:r>
              <a:rPr lang="en-US" sz="800" b="1" dirty="0">
                <a:solidFill>
                  <a:srgbClr val="222222"/>
                </a:solidFill>
                <a:latin typeface="Calibri" pitchFamily="34" charset="0"/>
                <a:ea typeface="Calibri" pitchFamily="34" charset="-122"/>
                <a:cs typeface="Calibri" pitchFamily="34" charset="-120"/>
              </a:rPr>
              <a:t>Oster</a:t>
            </a:r>
            <a:endParaRPr lang="en-US" sz="800" dirty="0"/>
          </a:p>
        </p:txBody>
      </p:sp>
      <p:sp>
        <p:nvSpPr>
          <p:cNvPr id="76" name="Text 65">
            <a:extLst>
              <a:ext uri="{FF2B5EF4-FFF2-40B4-BE49-F238E27FC236}">
                <a16:creationId xmlns:a16="http://schemas.microsoft.com/office/drawing/2014/main" id="{91989BCB-462B-9E08-0358-1A2DF601B29B}"/>
              </a:ext>
            </a:extLst>
          </p:cNvPr>
          <p:cNvSpPr/>
          <p:nvPr/>
        </p:nvSpPr>
        <p:spPr>
          <a:xfrm>
            <a:off x="482311" y="1481357"/>
            <a:ext cx="3794760" cy="182880"/>
          </a:xfrm>
          <a:prstGeom prst="rect">
            <a:avLst/>
          </a:prstGeom>
          <a:noFill/>
          <a:ln/>
        </p:spPr>
        <p:txBody>
          <a:bodyPr wrap="square" rtlCol="0" anchor="ctr"/>
          <a:lstStyle/>
          <a:p>
            <a:pPr marL="0" indent="0" algn="ctr">
              <a:buNone/>
            </a:pPr>
            <a:r>
              <a:rPr lang="en-US" sz="1400" b="1" dirty="0">
                <a:solidFill>
                  <a:srgbClr val="444444"/>
                </a:solidFill>
                <a:latin typeface="Avenir Next LT Pro" panose="020B0504020202020204" pitchFamily="34" charset="77"/>
                <a:ea typeface="Calibri" pitchFamily="34" charset="-122"/>
                <a:cs typeface="Calibri" pitchFamily="34" charset="-120"/>
              </a:rPr>
              <a:t>Price vs. Rating</a:t>
            </a:r>
          </a:p>
          <a:p>
            <a:pPr marL="0" indent="0" algn="ctr">
              <a:buNone/>
            </a:pPr>
            <a:r>
              <a:rPr lang="en-US" sz="850" dirty="0">
                <a:solidFill>
                  <a:srgbClr val="444444"/>
                </a:solidFill>
                <a:latin typeface="Avenir Next LT Pro" panose="020B0504020202020204" pitchFamily="34" charset="77"/>
                <a:ea typeface="Calibri" pitchFamily="34" charset="-122"/>
                <a:cs typeface="Calibri" pitchFamily="34" charset="-120"/>
              </a:rPr>
              <a:t>Bubble size = market share</a:t>
            </a:r>
            <a:endParaRPr lang="en-US" sz="850" dirty="0">
              <a:latin typeface="Avenir Next LT Pro" panose="020B0504020202020204" pitchFamily="34" charset="77"/>
            </a:endParaRPr>
          </a:p>
        </p:txBody>
      </p:sp>
      <p:sp>
        <p:nvSpPr>
          <p:cNvPr id="77" name="Text 41">
            <a:extLst>
              <a:ext uri="{FF2B5EF4-FFF2-40B4-BE49-F238E27FC236}">
                <a16:creationId xmlns:a16="http://schemas.microsoft.com/office/drawing/2014/main" id="{C8E41A53-9F60-3ABC-722B-FFD4FC6F51DD}"/>
              </a:ext>
            </a:extLst>
          </p:cNvPr>
          <p:cNvSpPr/>
          <p:nvPr/>
        </p:nvSpPr>
        <p:spPr>
          <a:xfrm rot="16200000">
            <a:off x="-1805940" y="3605844"/>
            <a:ext cx="3794760" cy="182880"/>
          </a:xfrm>
          <a:prstGeom prst="rect">
            <a:avLst/>
          </a:prstGeom>
          <a:noFill/>
          <a:ln/>
        </p:spPr>
        <p:txBody>
          <a:bodyPr wrap="square" rtlCol="0" anchor="ctr"/>
          <a:lstStyle/>
          <a:p>
            <a:pPr marL="0" indent="0" algn="ctr">
              <a:buNone/>
            </a:pPr>
            <a:r>
              <a:rPr lang="en-US" sz="900" b="1" dirty="0">
                <a:solidFill>
                  <a:srgbClr val="555555"/>
                </a:solidFill>
                <a:latin typeface="Calibri" pitchFamily="34" charset="0"/>
                <a:ea typeface="Calibri" pitchFamily="34" charset="-122"/>
                <a:cs typeface="Calibri" pitchFamily="34" charset="-120"/>
              </a:rPr>
              <a:t>Average Rating</a:t>
            </a:r>
            <a:endParaRPr lang="en-US" sz="900" dirty="0"/>
          </a:p>
        </p:txBody>
      </p:sp>
      <p:sp>
        <p:nvSpPr>
          <p:cNvPr id="78" name="Text 41">
            <a:extLst>
              <a:ext uri="{FF2B5EF4-FFF2-40B4-BE49-F238E27FC236}">
                <a16:creationId xmlns:a16="http://schemas.microsoft.com/office/drawing/2014/main" id="{52B66684-7667-B192-57B1-092ECD175101}"/>
              </a:ext>
            </a:extLst>
          </p:cNvPr>
          <p:cNvSpPr/>
          <p:nvPr/>
        </p:nvSpPr>
        <p:spPr>
          <a:xfrm>
            <a:off x="399663" y="6021633"/>
            <a:ext cx="3794760" cy="182880"/>
          </a:xfrm>
          <a:prstGeom prst="rect">
            <a:avLst/>
          </a:prstGeom>
          <a:noFill/>
          <a:ln/>
        </p:spPr>
        <p:txBody>
          <a:bodyPr wrap="square" rtlCol="0" anchor="ctr"/>
          <a:lstStyle/>
          <a:p>
            <a:pPr marL="0" indent="0" algn="ctr">
              <a:buNone/>
            </a:pPr>
            <a:r>
              <a:rPr lang="en-US" sz="900" b="1" dirty="0">
                <a:solidFill>
                  <a:srgbClr val="555555"/>
                </a:solidFill>
                <a:latin typeface="Calibri" pitchFamily="34" charset="0"/>
                <a:ea typeface="Calibri" pitchFamily="34" charset="-122"/>
                <a:cs typeface="Calibri" pitchFamily="34" charset="-120"/>
              </a:rPr>
              <a:t>Average Price</a:t>
            </a:r>
            <a:endParaRPr lang="en-US" sz="900" dirty="0"/>
          </a:p>
        </p:txBody>
      </p:sp>
      <p:sp>
        <p:nvSpPr>
          <p:cNvPr id="79" name="Text 8">
            <a:extLst>
              <a:ext uri="{FF2B5EF4-FFF2-40B4-BE49-F238E27FC236}">
                <a16:creationId xmlns:a16="http://schemas.microsoft.com/office/drawing/2014/main" id="{D088BD5B-C018-7C56-1EBB-EC132FB8AF6E}"/>
              </a:ext>
            </a:extLst>
          </p:cNvPr>
          <p:cNvSpPr/>
          <p:nvPr/>
        </p:nvSpPr>
        <p:spPr>
          <a:xfrm>
            <a:off x="1325745" y="5810941"/>
            <a:ext cx="451495" cy="157504"/>
          </a:xfrm>
          <a:prstGeom prst="rect">
            <a:avLst/>
          </a:prstGeom>
          <a:noFill/>
          <a:ln/>
        </p:spPr>
        <p:txBody>
          <a:bodyPr wrap="square" rtlCol="0" anchor="ctr"/>
          <a:lstStyle/>
          <a:p>
            <a:pPr marL="0" indent="0" algn="ctr">
              <a:buNone/>
            </a:pPr>
            <a:r>
              <a:rPr lang="en-US" sz="700" dirty="0">
                <a:solidFill>
                  <a:srgbClr val="999999"/>
                </a:solidFill>
                <a:latin typeface="Calibri" pitchFamily="34" charset="0"/>
                <a:ea typeface="Calibri" pitchFamily="34" charset="-122"/>
                <a:cs typeface="Calibri" pitchFamily="34" charset="-120"/>
              </a:rPr>
              <a:t>$110</a:t>
            </a:r>
            <a:endParaRPr lang="en-US" sz="700" dirty="0"/>
          </a:p>
        </p:txBody>
      </p:sp>
    </p:spTree>
    <p:extLst>
      <p:ext uri="{BB962C8B-B14F-4D97-AF65-F5344CB8AC3E}">
        <p14:creationId xmlns:p14="http://schemas.microsoft.com/office/powerpoint/2010/main" val="22146000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4751</TotalTime>
  <Words>1338</Words>
  <Application>Microsoft Macintosh PowerPoint</Application>
  <PresentationFormat>Widescreen</PresentationFormat>
  <Paragraphs>189</Paragraphs>
  <Slides>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Aptos</vt:lpstr>
      <vt:lpstr>Aptos Display</vt:lpstr>
      <vt:lpstr>Arial</vt:lpstr>
      <vt:lpstr>Arial,Sans-Serif</vt:lpstr>
      <vt:lpstr>Avenir Next LT Pro</vt:lpstr>
      <vt:lpstr>Calibri</vt:lpstr>
      <vt:lpstr>Consolas</vt:lpstr>
      <vt:lpstr>Optima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Jagasia, Neha N (ftm9fy)</dc:creator>
  <cp:lastModifiedBy>Jagasia, Neha N (ftm9fy)</cp:lastModifiedBy>
  <cp:revision>4</cp:revision>
  <dcterms:created xsi:type="dcterms:W3CDTF">2026-04-23T17:25:14Z</dcterms:created>
  <dcterms:modified xsi:type="dcterms:W3CDTF">2026-04-29T21:28:08Z</dcterms:modified>
</cp:coreProperties>
</file>