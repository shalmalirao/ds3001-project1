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97" r:id="rId2"/>
    <p:sldId id="298" r:id="rId3"/>
    <p:sldId id="259" r:id="rId4"/>
    <p:sldId id="299" r:id="rId5"/>
    <p:sldId id="304" r:id="rId6"/>
    <p:sldId id="301" r:id="rId7"/>
    <p:sldId id="302" r:id="rId8"/>
    <p:sldId id="30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FF48F81-9A54-5A9B-EEE6-C981D0CA03FF}" name="Rao, Shalmali (kru3dg)" initials="RS" userId="S::kru3dg@virginia.edu::4ef33d58-69b1-4b72-b825-fc1e4ef3ae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DFDD"/>
    <a:srgbClr val="A9C861"/>
    <a:srgbClr val="7085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71"/>
    <p:restoredTop sz="96060"/>
  </p:normalViewPr>
  <p:slideViewPr>
    <p:cSldViewPr snapToGrid="0">
      <p:cViewPr>
        <p:scale>
          <a:sx n="97" d="100"/>
          <a:sy n="97" d="100"/>
        </p:scale>
        <p:origin x="-984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E8AFBC-BA5B-F444-ACAE-FE11352C6385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EEE2B7E-FEA8-2841-9330-D657670BA65A}">
      <dgm:prSet phldrT="[Text]"/>
      <dgm:spPr>
        <a:solidFill>
          <a:srgbClr val="A9C861"/>
        </a:solidFill>
      </dgm:spPr>
      <dgm:t>
        <a:bodyPr/>
        <a:lstStyle/>
        <a:p>
          <a:pPr algn="ctr"/>
          <a:r>
            <a:rPr lang="en-US" b="1">
              <a:latin typeface="Avenir Next LT Pro" panose="020B0504020202020204" pitchFamily="34" charset="77"/>
            </a:rPr>
            <a:t>Industry Background</a:t>
          </a:r>
        </a:p>
      </dgm:t>
    </dgm:pt>
    <dgm:pt modelId="{20DC5649-B805-BE49-A5B3-B2C19A5DCD2E}" type="parTrans" cxnId="{D9CEC529-92C5-6D4A-BF6E-36936BC6451C}">
      <dgm:prSet/>
      <dgm:spPr/>
      <dgm:t>
        <a:bodyPr/>
        <a:lstStyle/>
        <a:p>
          <a:endParaRPr lang="en-US"/>
        </a:p>
      </dgm:t>
    </dgm:pt>
    <dgm:pt modelId="{B11F1DC3-04B1-9A4A-AC4D-FE9A92ED77C2}" type="sibTrans" cxnId="{D9CEC529-92C5-6D4A-BF6E-36936BC6451C}">
      <dgm:prSet/>
      <dgm:spPr/>
      <dgm:t>
        <a:bodyPr/>
        <a:lstStyle/>
        <a:p>
          <a:endParaRPr lang="en-US"/>
        </a:p>
      </dgm:t>
    </dgm:pt>
    <dgm:pt modelId="{7603B473-DBD5-E145-8681-67EDBA9B6B4B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Demand Model</a:t>
          </a:r>
        </a:p>
      </dgm:t>
    </dgm:pt>
    <dgm:pt modelId="{EA094F26-ABD1-A746-808E-FF865DE2F039}" type="parTrans" cxnId="{48FFD7B5-374A-2B43-A78C-C2FF1C3E20D1}">
      <dgm:prSet/>
      <dgm:spPr/>
      <dgm:t>
        <a:bodyPr/>
        <a:lstStyle/>
        <a:p>
          <a:endParaRPr lang="en-US"/>
        </a:p>
      </dgm:t>
    </dgm:pt>
    <dgm:pt modelId="{6108CCC8-64CD-2642-9492-C5914C8FBAFD}" type="sibTrans" cxnId="{48FFD7B5-374A-2B43-A78C-C2FF1C3E20D1}">
      <dgm:prSet/>
      <dgm:spPr/>
      <dgm:t>
        <a:bodyPr/>
        <a:lstStyle/>
        <a:p>
          <a:endParaRPr lang="en-US"/>
        </a:p>
      </dgm:t>
    </dgm:pt>
    <dgm:pt modelId="{3BFDE67B-7FE9-0E4A-9F76-970A8D89C425}">
      <dgm:prSet phldrT="[Text]"/>
      <dgm:spPr>
        <a:solidFill>
          <a:schemeClr val="tx1"/>
        </a:solidFill>
      </dgm:spPr>
      <dgm:t>
        <a:bodyPr lIns="0" rIns="365760"/>
        <a:lstStyle/>
        <a:p>
          <a:pPr algn="ctr"/>
          <a:r>
            <a:rPr lang="en-US" b="0" i="0">
              <a:latin typeface="Avenir Next LT Pro" panose="020B0504020202020204" pitchFamily="34" charset="77"/>
            </a:rPr>
            <a:t>Product Features</a:t>
          </a:r>
        </a:p>
      </dgm:t>
    </dgm:pt>
    <dgm:pt modelId="{16068524-A248-BD45-9834-8DE9B8CA2E61}" type="parTrans" cxnId="{21122F98-9D00-0740-9514-19138D07000E}">
      <dgm:prSet/>
      <dgm:spPr/>
      <dgm:t>
        <a:bodyPr/>
        <a:lstStyle/>
        <a:p>
          <a:endParaRPr lang="en-US"/>
        </a:p>
      </dgm:t>
    </dgm:pt>
    <dgm:pt modelId="{55D0ECF1-3CA7-B540-9A2E-C4C752DC41E2}" type="sibTrans" cxnId="{21122F98-9D00-0740-9514-19138D07000E}">
      <dgm:prSet/>
      <dgm:spPr/>
      <dgm:t>
        <a:bodyPr/>
        <a:lstStyle/>
        <a:p>
          <a:endParaRPr lang="en-US"/>
        </a:p>
      </dgm:t>
    </dgm:pt>
    <dgm:pt modelId="{4082BFF7-60B1-8340-B9CA-E5DE81EF2D7F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Pricing Analysis</a:t>
          </a:r>
        </a:p>
      </dgm:t>
    </dgm:pt>
    <dgm:pt modelId="{B19E2420-F6A5-2D40-B4CA-5BF003B22A24}" type="parTrans" cxnId="{7902F54F-6874-3D4B-8356-E78F7E4FBDEA}">
      <dgm:prSet/>
      <dgm:spPr/>
      <dgm:t>
        <a:bodyPr/>
        <a:lstStyle/>
        <a:p>
          <a:endParaRPr lang="en-US"/>
        </a:p>
      </dgm:t>
    </dgm:pt>
    <dgm:pt modelId="{4C6FEC2A-FFAD-D140-8695-0F34C0997235}" type="sibTrans" cxnId="{7902F54F-6874-3D4B-8356-E78F7E4FBDEA}">
      <dgm:prSet/>
      <dgm:spPr/>
      <dgm:t>
        <a:bodyPr/>
        <a:lstStyle/>
        <a:p>
          <a:endParaRPr lang="en-US"/>
        </a:p>
      </dgm:t>
    </dgm:pt>
    <dgm:pt modelId="{15AD007E-50C9-3A41-B63C-9F1269A07150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Competitive Positioning</a:t>
          </a:r>
        </a:p>
      </dgm:t>
    </dgm:pt>
    <dgm:pt modelId="{FB720988-3BC0-BC40-AC19-A407023D3A3F}" type="parTrans" cxnId="{076651F1-3CBE-8B44-9EAF-3072FB514B00}">
      <dgm:prSet/>
      <dgm:spPr/>
      <dgm:t>
        <a:bodyPr/>
        <a:lstStyle/>
        <a:p>
          <a:endParaRPr lang="en-US"/>
        </a:p>
      </dgm:t>
    </dgm:pt>
    <dgm:pt modelId="{4312D9F1-C78C-6C40-BAE4-DCEB223E208D}" type="sibTrans" cxnId="{076651F1-3CBE-8B44-9EAF-3072FB514B00}">
      <dgm:prSet/>
      <dgm:spPr/>
      <dgm:t>
        <a:bodyPr/>
        <a:lstStyle/>
        <a:p>
          <a:endParaRPr lang="en-US"/>
        </a:p>
      </dgm:t>
    </dgm:pt>
    <dgm:pt modelId="{AFFECF99-DE3A-3E48-AD82-DE0C632542DC}" type="pres">
      <dgm:prSet presAssocID="{0BE8AFBC-BA5B-F444-ACAE-FE11352C6385}" presName="Name0" presStyleCnt="0">
        <dgm:presLayoutVars>
          <dgm:dir/>
          <dgm:resizeHandles val="exact"/>
        </dgm:presLayoutVars>
      </dgm:prSet>
      <dgm:spPr/>
    </dgm:pt>
    <dgm:pt modelId="{75FC1705-EFC2-DC49-974C-4082D5F688A4}" type="pres">
      <dgm:prSet presAssocID="{8EEE2B7E-FEA8-2841-9330-D657670BA65A}" presName="parTxOnly" presStyleLbl="node1" presStyleIdx="0" presStyleCnt="5" custScaleX="143173" custScaleY="86006">
        <dgm:presLayoutVars>
          <dgm:bulletEnabled val="1"/>
        </dgm:presLayoutVars>
      </dgm:prSet>
      <dgm:spPr/>
    </dgm:pt>
    <dgm:pt modelId="{2398453E-8F02-0146-8831-DA24307367AE}" type="pres">
      <dgm:prSet presAssocID="{B11F1DC3-04B1-9A4A-AC4D-FE9A92ED77C2}" presName="parSpace" presStyleCnt="0"/>
      <dgm:spPr/>
    </dgm:pt>
    <dgm:pt modelId="{A579A29D-F228-A346-A356-4129FDEB43D1}" type="pres">
      <dgm:prSet presAssocID="{7603B473-DBD5-E145-8681-67EDBA9B6B4B}" presName="parTxOnly" presStyleLbl="node1" presStyleIdx="1" presStyleCnt="5" custScaleX="141611" custLinFactNeighborX="42167" custLinFactNeighborY="-3443">
        <dgm:presLayoutVars>
          <dgm:bulletEnabled val="1"/>
        </dgm:presLayoutVars>
      </dgm:prSet>
      <dgm:spPr/>
    </dgm:pt>
    <dgm:pt modelId="{DB65CB43-07E1-4543-8C77-94A5F96A140B}" type="pres">
      <dgm:prSet presAssocID="{6108CCC8-64CD-2642-9492-C5914C8FBAFD}" presName="parSpace" presStyleCnt="0"/>
      <dgm:spPr/>
    </dgm:pt>
    <dgm:pt modelId="{038E0549-03A2-F141-8066-7E8027D67BD7}" type="pres">
      <dgm:prSet presAssocID="{3BFDE67B-7FE9-0E4A-9F76-970A8D89C425}" presName="parTxOnly" presStyleLbl="node1" presStyleIdx="2" presStyleCnt="5" custScaleX="147710" custLinFactNeighborX="86349" custLinFactNeighborY="10239">
        <dgm:presLayoutVars>
          <dgm:bulletEnabled val="1"/>
        </dgm:presLayoutVars>
      </dgm:prSet>
      <dgm:spPr/>
    </dgm:pt>
    <dgm:pt modelId="{0DB84E49-AAA6-D64E-BCD6-7A84EF50CA10}" type="pres">
      <dgm:prSet presAssocID="{55D0ECF1-3CA7-B540-9A2E-C4C752DC41E2}" presName="parSpace" presStyleCnt="0"/>
      <dgm:spPr/>
    </dgm:pt>
    <dgm:pt modelId="{24AB1D94-B983-3E4D-8325-3ECF8523D4B7}" type="pres">
      <dgm:prSet presAssocID="{4082BFF7-60B1-8340-B9CA-E5DE81EF2D7F}" presName="parTxOnly" presStyleLbl="node1" presStyleIdx="3" presStyleCnt="5" custScaleX="145793" custScaleY="81791">
        <dgm:presLayoutVars>
          <dgm:bulletEnabled val="1"/>
        </dgm:presLayoutVars>
      </dgm:prSet>
      <dgm:spPr/>
    </dgm:pt>
    <dgm:pt modelId="{69D94FB2-8235-364E-888B-BE0BA7925B18}" type="pres">
      <dgm:prSet presAssocID="{4C6FEC2A-FFAD-D140-8695-0F34C0997235}" presName="parSpace" presStyleCnt="0"/>
      <dgm:spPr/>
    </dgm:pt>
    <dgm:pt modelId="{56ACEC28-C922-6D47-8B9F-4D4130B130BD}" type="pres">
      <dgm:prSet presAssocID="{15AD007E-50C9-3A41-B63C-9F1269A07150}" presName="parTxOnly" presStyleLbl="node1" presStyleIdx="4" presStyleCnt="5" custScaleX="146721" custScaleY="95099">
        <dgm:presLayoutVars>
          <dgm:bulletEnabled val="1"/>
        </dgm:presLayoutVars>
      </dgm:prSet>
      <dgm:spPr/>
    </dgm:pt>
  </dgm:ptLst>
  <dgm:cxnLst>
    <dgm:cxn modelId="{489F4308-C2EA-AF49-A439-DB41AF134AA4}" type="presOf" srcId="{15AD007E-50C9-3A41-B63C-9F1269A07150}" destId="{56ACEC28-C922-6D47-8B9F-4D4130B130BD}" srcOrd="0" destOrd="0" presId="urn:microsoft.com/office/officeart/2005/8/layout/hChevron3"/>
    <dgm:cxn modelId="{AF587C1E-276E-F642-B989-2AEE7B81FA4C}" type="presOf" srcId="{0BE8AFBC-BA5B-F444-ACAE-FE11352C6385}" destId="{AFFECF99-DE3A-3E48-AD82-DE0C632542DC}" srcOrd="0" destOrd="0" presId="urn:microsoft.com/office/officeart/2005/8/layout/hChevron3"/>
    <dgm:cxn modelId="{D9CEC529-92C5-6D4A-BF6E-36936BC6451C}" srcId="{0BE8AFBC-BA5B-F444-ACAE-FE11352C6385}" destId="{8EEE2B7E-FEA8-2841-9330-D657670BA65A}" srcOrd="0" destOrd="0" parTransId="{20DC5649-B805-BE49-A5B3-B2C19A5DCD2E}" sibTransId="{B11F1DC3-04B1-9A4A-AC4D-FE9A92ED77C2}"/>
    <dgm:cxn modelId="{4F516336-8F35-CB41-B289-DA52B405732A}" type="presOf" srcId="{4082BFF7-60B1-8340-B9CA-E5DE81EF2D7F}" destId="{24AB1D94-B983-3E4D-8325-3ECF8523D4B7}" srcOrd="0" destOrd="0" presId="urn:microsoft.com/office/officeart/2005/8/layout/hChevron3"/>
    <dgm:cxn modelId="{6CE8F943-1439-F147-9F9B-03081E4E41DF}" type="presOf" srcId="{7603B473-DBD5-E145-8681-67EDBA9B6B4B}" destId="{A579A29D-F228-A346-A356-4129FDEB43D1}" srcOrd="0" destOrd="0" presId="urn:microsoft.com/office/officeart/2005/8/layout/hChevron3"/>
    <dgm:cxn modelId="{7902F54F-6874-3D4B-8356-E78F7E4FBDEA}" srcId="{0BE8AFBC-BA5B-F444-ACAE-FE11352C6385}" destId="{4082BFF7-60B1-8340-B9CA-E5DE81EF2D7F}" srcOrd="3" destOrd="0" parTransId="{B19E2420-F6A5-2D40-B4CA-5BF003B22A24}" sibTransId="{4C6FEC2A-FFAD-D140-8695-0F34C0997235}"/>
    <dgm:cxn modelId="{8D0F4674-0157-0A40-8A2B-15C64C2BBF2F}" type="presOf" srcId="{3BFDE67B-7FE9-0E4A-9F76-970A8D89C425}" destId="{038E0549-03A2-F141-8066-7E8027D67BD7}" srcOrd="0" destOrd="0" presId="urn:microsoft.com/office/officeart/2005/8/layout/hChevron3"/>
    <dgm:cxn modelId="{53D33E86-03E0-BA44-8C65-2735ADBF9B43}" type="presOf" srcId="{8EEE2B7E-FEA8-2841-9330-D657670BA65A}" destId="{75FC1705-EFC2-DC49-974C-4082D5F688A4}" srcOrd="0" destOrd="0" presId="urn:microsoft.com/office/officeart/2005/8/layout/hChevron3"/>
    <dgm:cxn modelId="{21122F98-9D00-0740-9514-19138D07000E}" srcId="{0BE8AFBC-BA5B-F444-ACAE-FE11352C6385}" destId="{3BFDE67B-7FE9-0E4A-9F76-970A8D89C425}" srcOrd="2" destOrd="0" parTransId="{16068524-A248-BD45-9834-8DE9B8CA2E61}" sibTransId="{55D0ECF1-3CA7-B540-9A2E-C4C752DC41E2}"/>
    <dgm:cxn modelId="{48FFD7B5-374A-2B43-A78C-C2FF1C3E20D1}" srcId="{0BE8AFBC-BA5B-F444-ACAE-FE11352C6385}" destId="{7603B473-DBD5-E145-8681-67EDBA9B6B4B}" srcOrd="1" destOrd="0" parTransId="{EA094F26-ABD1-A746-808E-FF865DE2F039}" sibTransId="{6108CCC8-64CD-2642-9492-C5914C8FBAFD}"/>
    <dgm:cxn modelId="{076651F1-3CBE-8B44-9EAF-3072FB514B00}" srcId="{0BE8AFBC-BA5B-F444-ACAE-FE11352C6385}" destId="{15AD007E-50C9-3A41-B63C-9F1269A07150}" srcOrd="4" destOrd="0" parTransId="{FB720988-3BC0-BC40-AC19-A407023D3A3F}" sibTransId="{4312D9F1-C78C-6C40-BAE4-DCEB223E208D}"/>
    <dgm:cxn modelId="{69264297-14AB-5845-A915-DFDDF79C8F67}" type="presParOf" srcId="{AFFECF99-DE3A-3E48-AD82-DE0C632542DC}" destId="{75FC1705-EFC2-DC49-974C-4082D5F688A4}" srcOrd="0" destOrd="0" presId="urn:microsoft.com/office/officeart/2005/8/layout/hChevron3"/>
    <dgm:cxn modelId="{BE304EB2-3A94-8148-9E3F-A59D7EBAE284}" type="presParOf" srcId="{AFFECF99-DE3A-3E48-AD82-DE0C632542DC}" destId="{2398453E-8F02-0146-8831-DA24307367AE}" srcOrd="1" destOrd="0" presId="urn:microsoft.com/office/officeart/2005/8/layout/hChevron3"/>
    <dgm:cxn modelId="{E40FC876-8DC9-0A4D-B904-9F098EDFEEAF}" type="presParOf" srcId="{AFFECF99-DE3A-3E48-AD82-DE0C632542DC}" destId="{A579A29D-F228-A346-A356-4129FDEB43D1}" srcOrd="2" destOrd="0" presId="urn:microsoft.com/office/officeart/2005/8/layout/hChevron3"/>
    <dgm:cxn modelId="{606C3D10-20C5-654B-B663-158B40BE97B7}" type="presParOf" srcId="{AFFECF99-DE3A-3E48-AD82-DE0C632542DC}" destId="{DB65CB43-07E1-4543-8C77-94A5F96A140B}" srcOrd="3" destOrd="0" presId="urn:microsoft.com/office/officeart/2005/8/layout/hChevron3"/>
    <dgm:cxn modelId="{39A7B751-01D7-8A43-A0C3-A6632CA84664}" type="presParOf" srcId="{AFFECF99-DE3A-3E48-AD82-DE0C632542DC}" destId="{038E0549-03A2-F141-8066-7E8027D67BD7}" srcOrd="4" destOrd="0" presId="urn:microsoft.com/office/officeart/2005/8/layout/hChevron3"/>
    <dgm:cxn modelId="{61EE2288-EFE7-1243-B521-9B5BDE197A82}" type="presParOf" srcId="{AFFECF99-DE3A-3E48-AD82-DE0C632542DC}" destId="{0DB84E49-AAA6-D64E-BCD6-7A84EF50CA10}" srcOrd="5" destOrd="0" presId="urn:microsoft.com/office/officeart/2005/8/layout/hChevron3"/>
    <dgm:cxn modelId="{2E4F581F-ADC7-6A46-B145-07E20692C400}" type="presParOf" srcId="{AFFECF99-DE3A-3E48-AD82-DE0C632542DC}" destId="{24AB1D94-B983-3E4D-8325-3ECF8523D4B7}" srcOrd="6" destOrd="0" presId="urn:microsoft.com/office/officeart/2005/8/layout/hChevron3"/>
    <dgm:cxn modelId="{7EAB5BFC-0641-E944-8444-6DF3103D886D}" type="presParOf" srcId="{AFFECF99-DE3A-3E48-AD82-DE0C632542DC}" destId="{69D94FB2-8235-364E-888B-BE0BA7925B18}" srcOrd="7" destOrd="0" presId="urn:microsoft.com/office/officeart/2005/8/layout/hChevron3"/>
    <dgm:cxn modelId="{188A5C24-3983-FD40-BDC0-5B86C28F08BB}" type="presParOf" srcId="{AFFECF99-DE3A-3E48-AD82-DE0C632542DC}" destId="{56ACEC28-C922-6D47-8B9F-4D4130B130BD}" srcOrd="8" destOrd="0" presId="urn:microsoft.com/office/officeart/2005/8/layout/hChevron3"/>
  </dgm:cxnLst>
  <dgm:bg>
    <a:solidFill>
      <a:schemeClr val="bg1"/>
    </a:solidFill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BE8AFBC-BA5B-F444-ACAE-FE11352C6385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EEE2B7E-FEA8-2841-9330-D657670BA65A}">
      <dgm:prSet phldrT="[Text]"/>
      <dgm:spPr>
        <a:solidFill>
          <a:srgbClr val="A9C861"/>
        </a:solidFill>
      </dgm:spPr>
      <dgm:t>
        <a:bodyPr/>
        <a:lstStyle/>
        <a:p>
          <a:pPr algn="ctr"/>
          <a:r>
            <a:rPr lang="en-US" b="1">
              <a:latin typeface="Avenir Next LT Pro" panose="020B0504020202020204" pitchFamily="34" charset="77"/>
            </a:rPr>
            <a:t>Industry Background</a:t>
          </a:r>
        </a:p>
      </dgm:t>
    </dgm:pt>
    <dgm:pt modelId="{20DC5649-B805-BE49-A5B3-B2C19A5DCD2E}" type="parTrans" cxnId="{D9CEC529-92C5-6D4A-BF6E-36936BC6451C}">
      <dgm:prSet/>
      <dgm:spPr/>
      <dgm:t>
        <a:bodyPr/>
        <a:lstStyle/>
        <a:p>
          <a:endParaRPr lang="en-US"/>
        </a:p>
      </dgm:t>
    </dgm:pt>
    <dgm:pt modelId="{B11F1DC3-04B1-9A4A-AC4D-FE9A92ED77C2}" type="sibTrans" cxnId="{D9CEC529-92C5-6D4A-BF6E-36936BC6451C}">
      <dgm:prSet/>
      <dgm:spPr/>
      <dgm:t>
        <a:bodyPr/>
        <a:lstStyle/>
        <a:p>
          <a:endParaRPr lang="en-US"/>
        </a:p>
      </dgm:t>
    </dgm:pt>
    <dgm:pt modelId="{7603B473-DBD5-E145-8681-67EDBA9B6B4B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Demand Model</a:t>
          </a:r>
        </a:p>
      </dgm:t>
    </dgm:pt>
    <dgm:pt modelId="{EA094F26-ABD1-A746-808E-FF865DE2F039}" type="parTrans" cxnId="{48FFD7B5-374A-2B43-A78C-C2FF1C3E20D1}">
      <dgm:prSet/>
      <dgm:spPr/>
      <dgm:t>
        <a:bodyPr/>
        <a:lstStyle/>
        <a:p>
          <a:endParaRPr lang="en-US"/>
        </a:p>
      </dgm:t>
    </dgm:pt>
    <dgm:pt modelId="{6108CCC8-64CD-2642-9492-C5914C8FBAFD}" type="sibTrans" cxnId="{48FFD7B5-374A-2B43-A78C-C2FF1C3E20D1}">
      <dgm:prSet/>
      <dgm:spPr/>
      <dgm:t>
        <a:bodyPr/>
        <a:lstStyle/>
        <a:p>
          <a:endParaRPr lang="en-US"/>
        </a:p>
      </dgm:t>
    </dgm:pt>
    <dgm:pt modelId="{3BFDE67B-7FE9-0E4A-9F76-970A8D89C425}">
      <dgm:prSet phldrT="[Text]"/>
      <dgm:spPr>
        <a:solidFill>
          <a:schemeClr val="tx1"/>
        </a:solidFill>
      </dgm:spPr>
      <dgm:t>
        <a:bodyPr lIns="0" rIns="365760"/>
        <a:lstStyle/>
        <a:p>
          <a:pPr algn="ctr"/>
          <a:r>
            <a:rPr lang="en-US" b="0" i="0">
              <a:latin typeface="Avenir Next LT Pro" panose="020B0504020202020204" pitchFamily="34" charset="77"/>
            </a:rPr>
            <a:t>Product Features</a:t>
          </a:r>
        </a:p>
      </dgm:t>
    </dgm:pt>
    <dgm:pt modelId="{16068524-A248-BD45-9834-8DE9B8CA2E61}" type="parTrans" cxnId="{21122F98-9D00-0740-9514-19138D07000E}">
      <dgm:prSet/>
      <dgm:spPr/>
      <dgm:t>
        <a:bodyPr/>
        <a:lstStyle/>
        <a:p>
          <a:endParaRPr lang="en-US"/>
        </a:p>
      </dgm:t>
    </dgm:pt>
    <dgm:pt modelId="{55D0ECF1-3CA7-B540-9A2E-C4C752DC41E2}" type="sibTrans" cxnId="{21122F98-9D00-0740-9514-19138D07000E}">
      <dgm:prSet/>
      <dgm:spPr/>
      <dgm:t>
        <a:bodyPr/>
        <a:lstStyle/>
        <a:p>
          <a:endParaRPr lang="en-US"/>
        </a:p>
      </dgm:t>
    </dgm:pt>
    <dgm:pt modelId="{4082BFF7-60B1-8340-B9CA-E5DE81EF2D7F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Pricing Analysis</a:t>
          </a:r>
        </a:p>
      </dgm:t>
    </dgm:pt>
    <dgm:pt modelId="{B19E2420-F6A5-2D40-B4CA-5BF003B22A24}" type="parTrans" cxnId="{7902F54F-6874-3D4B-8356-E78F7E4FBDEA}">
      <dgm:prSet/>
      <dgm:spPr/>
      <dgm:t>
        <a:bodyPr/>
        <a:lstStyle/>
        <a:p>
          <a:endParaRPr lang="en-US"/>
        </a:p>
      </dgm:t>
    </dgm:pt>
    <dgm:pt modelId="{4C6FEC2A-FFAD-D140-8695-0F34C0997235}" type="sibTrans" cxnId="{7902F54F-6874-3D4B-8356-E78F7E4FBDEA}">
      <dgm:prSet/>
      <dgm:spPr/>
      <dgm:t>
        <a:bodyPr/>
        <a:lstStyle/>
        <a:p>
          <a:endParaRPr lang="en-US"/>
        </a:p>
      </dgm:t>
    </dgm:pt>
    <dgm:pt modelId="{15AD007E-50C9-3A41-B63C-9F1269A07150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Competitive Positioning</a:t>
          </a:r>
        </a:p>
      </dgm:t>
    </dgm:pt>
    <dgm:pt modelId="{FB720988-3BC0-BC40-AC19-A407023D3A3F}" type="parTrans" cxnId="{076651F1-3CBE-8B44-9EAF-3072FB514B00}">
      <dgm:prSet/>
      <dgm:spPr/>
      <dgm:t>
        <a:bodyPr/>
        <a:lstStyle/>
        <a:p>
          <a:endParaRPr lang="en-US"/>
        </a:p>
      </dgm:t>
    </dgm:pt>
    <dgm:pt modelId="{4312D9F1-C78C-6C40-BAE4-DCEB223E208D}" type="sibTrans" cxnId="{076651F1-3CBE-8B44-9EAF-3072FB514B00}">
      <dgm:prSet/>
      <dgm:spPr/>
      <dgm:t>
        <a:bodyPr/>
        <a:lstStyle/>
        <a:p>
          <a:endParaRPr lang="en-US"/>
        </a:p>
      </dgm:t>
    </dgm:pt>
    <dgm:pt modelId="{AFFECF99-DE3A-3E48-AD82-DE0C632542DC}" type="pres">
      <dgm:prSet presAssocID="{0BE8AFBC-BA5B-F444-ACAE-FE11352C6385}" presName="Name0" presStyleCnt="0">
        <dgm:presLayoutVars>
          <dgm:dir/>
          <dgm:resizeHandles val="exact"/>
        </dgm:presLayoutVars>
      </dgm:prSet>
      <dgm:spPr/>
    </dgm:pt>
    <dgm:pt modelId="{75FC1705-EFC2-DC49-974C-4082D5F688A4}" type="pres">
      <dgm:prSet presAssocID="{8EEE2B7E-FEA8-2841-9330-D657670BA65A}" presName="parTxOnly" presStyleLbl="node1" presStyleIdx="0" presStyleCnt="5" custScaleX="143173" custScaleY="86006">
        <dgm:presLayoutVars>
          <dgm:bulletEnabled val="1"/>
        </dgm:presLayoutVars>
      </dgm:prSet>
      <dgm:spPr/>
    </dgm:pt>
    <dgm:pt modelId="{2398453E-8F02-0146-8831-DA24307367AE}" type="pres">
      <dgm:prSet presAssocID="{B11F1DC3-04B1-9A4A-AC4D-FE9A92ED77C2}" presName="parSpace" presStyleCnt="0"/>
      <dgm:spPr/>
    </dgm:pt>
    <dgm:pt modelId="{A579A29D-F228-A346-A356-4129FDEB43D1}" type="pres">
      <dgm:prSet presAssocID="{7603B473-DBD5-E145-8681-67EDBA9B6B4B}" presName="parTxOnly" presStyleLbl="node1" presStyleIdx="1" presStyleCnt="5" custScaleX="141611" custLinFactNeighborX="42167" custLinFactNeighborY="-3443">
        <dgm:presLayoutVars>
          <dgm:bulletEnabled val="1"/>
        </dgm:presLayoutVars>
      </dgm:prSet>
      <dgm:spPr/>
    </dgm:pt>
    <dgm:pt modelId="{DB65CB43-07E1-4543-8C77-94A5F96A140B}" type="pres">
      <dgm:prSet presAssocID="{6108CCC8-64CD-2642-9492-C5914C8FBAFD}" presName="parSpace" presStyleCnt="0"/>
      <dgm:spPr/>
    </dgm:pt>
    <dgm:pt modelId="{038E0549-03A2-F141-8066-7E8027D67BD7}" type="pres">
      <dgm:prSet presAssocID="{3BFDE67B-7FE9-0E4A-9F76-970A8D89C425}" presName="parTxOnly" presStyleLbl="node1" presStyleIdx="2" presStyleCnt="5" custScaleX="147710" custLinFactNeighborX="86349" custLinFactNeighborY="10239">
        <dgm:presLayoutVars>
          <dgm:bulletEnabled val="1"/>
        </dgm:presLayoutVars>
      </dgm:prSet>
      <dgm:spPr/>
    </dgm:pt>
    <dgm:pt modelId="{0DB84E49-AAA6-D64E-BCD6-7A84EF50CA10}" type="pres">
      <dgm:prSet presAssocID="{55D0ECF1-3CA7-B540-9A2E-C4C752DC41E2}" presName="parSpace" presStyleCnt="0"/>
      <dgm:spPr/>
    </dgm:pt>
    <dgm:pt modelId="{24AB1D94-B983-3E4D-8325-3ECF8523D4B7}" type="pres">
      <dgm:prSet presAssocID="{4082BFF7-60B1-8340-B9CA-E5DE81EF2D7F}" presName="parTxOnly" presStyleLbl="node1" presStyleIdx="3" presStyleCnt="5" custScaleX="145793" custScaleY="81791">
        <dgm:presLayoutVars>
          <dgm:bulletEnabled val="1"/>
        </dgm:presLayoutVars>
      </dgm:prSet>
      <dgm:spPr/>
    </dgm:pt>
    <dgm:pt modelId="{69D94FB2-8235-364E-888B-BE0BA7925B18}" type="pres">
      <dgm:prSet presAssocID="{4C6FEC2A-FFAD-D140-8695-0F34C0997235}" presName="parSpace" presStyleCnt="0"/>
      <dgm:spPr/>
    </dgm:pt>
    <dgm:pt modelId="{56ACEC28-C922-6D47-8B9F-4D4130B130BD}" type="pres">
      <dgm:prSet presAssocID="{15AD007E-50C9-3A41-B63C-9F1269A07150}" presName="parTxOnly" presStyleLbl="node1" presStyleIdx="4" presStyleCnt="5" custScaleX="146721" custScaleY="95099">
        <dgm:presLayoutVars>
          <dgm:bulletEnabled val="1"/>
        </dgm:presLayoutVars>
      </dgm:prSet>
      <dgm:spPr/>
    </dgm:pt>
  </dgm:ptLst>
  <dgm:cxnLst>
    <dgm:cxn modelId="{489F4308-C2EA-AF49-A439-DB41AF134AA4}" type="presOf" srcId="{15AD007E-50C9-3A41-B63C-9F1269A07150}" destId="{56ACEC28-C922-6D47-8B9F-4D4130B130BD}" srcOrd="0" destOrd="0" presId="urn:microsoft.com/office/officeart/2005/8/layout/hChevron3"/>
    <dgm:cxn modelId="{AF587C1E-276E-F642-B989-2AEE7B81FA4C}" type="presOf" srcId="{0BE8AFBC-BA5B-F444-ACAE-FE11352C6385}" destId="{AFFECF99-DE3A-3E48-AD82-DE0C632542DC}" srcOrd="0" destOrd="0" presId="urn:microsoft.com/office/officeart/2005/8/layout/hChevron3"/>
    <dgm:cxn modelId="{D9CEC529-92C5-6D4A-BF6E-36936BC6451C}" srcId="{0BE8AFBC-BA5B-F444-ACAE-FE11352C6385}" destId="{8EEE2B7E-FEA8-2841-9330-D657670BA65A}" srcOrd="0" destOrd="0" parTransId="{20DC5649-B805-BE49-A5B3-B2C19A5DCD2E}" sibTransId="{B11F1DC3-04B1-9A4A-AC4D-FE9A92ED77C2}"/>
    <dgm:cxn modelId="{4F516336-8F35-CB41-B289-DA52B405732A}" type="presOf" srcId="{4082BFF7-60B1-8340-B9CA-E5DE81EF2D7F}" destId="{24AB1D94-B983-3E4D-8325-3ECF8523D4B7}" srcOrd="0" destOrd="0" presId="urn:microsoft.com/office/officeart/2005/8/layout/hChevron3"/>
    <dgm:cxn modelId="{6CE8F943-1439-F147-9F9B-03081E4E41DF}" type="presOf" srcId="{7603B473-DBD5-E145-8681-67EDBA9B6B4B}" destId="{A579A29D-F228-A346-A356-4129FDEB43D1}" srcOrd="0" destOrd="0" presId="urn:microsoft.com/office/officeart/2005/8/layout/hChevron3"/>
    <dgm:cxn modelId="{7902F54F-6874-3D4B-8356-E78F7E4FBDEA}" srcId="{0BE8AFBC-BA5B-F444-ACAE-FE11352C6385}" destId="{4082BFF7-60B1-8340-B9CA-E5DE81EF2D7F}" srcOrd="3" destOrd="0" parTransId="{B19E2420-F6A5-2D40-B4CA-5BF003B22A24}" sibTransId="{4C6FEC2A-FFAD-D140-8695-0F34C0997235}"/>
    <dgm:cxn modelId="{8D0F4674-0157-0A40-8A2B-15C64C2BBF2F}" type="presOf" srcId="{3BFDE67B-7FE9-0E4A-9F76-970A8D89C425}" destId="{038E0549-03A2-F141-8066-7E8027D67BD7}" srcOrd="0" destOrd="0" presId="urn:microsoft.com/office/officeart/2005/8/layout/hChevron3"/>
    <dgm:cxn modelId="{53D33E86-03E0-BA44-8C65-2735ADBF9B43}" type="presOf" srcId="{8EEE2B7E-FEA8-2841-9330-D657670BA65A}" destId="{75FC1705-EFC2-DC49-974C-4082D5F688A4}" srcOrd="0" destOrd="0" presId="urn:microsoft.com/office/officeart/2005/8/layout/hChevron3"/>
    <dgm:cxn modelId="{21122F98-9D00-0740-9514-19138D07000E}" srcId="{0BE8AFBC-BA5B-F444-ACAE-FE11352C6385}" destId="{3BFDE67B-7FE9-0E4A-9F76-970A8D89C425}" srcOrd="2" destOrd="0" parTransId="{16068524-A248-BD45-9834-8DE9B8CA2E61}" sibTransId="{55D0ECF1-3CA7-B540-9A2E-C4C752DC41E2}"/>
    <dgm:cxn modelId="{48FFD7B5-374A-2B43-A78C-C2FF1C3E20D1}" srcId="{0BE8AFBC-BA5B-F444-ACAE-FE11352C6385}" destId="{7603B473-DBD5-E145-8681-67EDBA9B6B4B}" srcOrd="1" destOrd="0" parTransId="{EA094F26-ABD1-A746-808E-FF865DE2F039}" sibTransId="{6108CCC8-64CD-2642-9492-C5914C8FBAFD}"/>
    <dgm:cxn modelId="{076651F1-3CBE-8B44-9EAF-3072FB514B00}" srcId="{0BE8AFBC-BA5B-F444-ACAE-FE11352C6385}" destId="{15AD007E-50C9-3A41-B63C-9F1269A07150}" srcOrd="4" destOrd="0" parTransId="{FB720988-3BC0-BC40-AC19-A407023D3A3F}" sibTransId="{4312D9F1-C78C-6C40-BAE4-DCEB223E208D}"/>
    <dgm:cxn modelId="{69264297-14AB-5845-A915-DFDDF79C8F67}" type="presParOf" srcId="{AFFECF99-DE3A-3E48-AD82-DE0C632542DC}" destId="{75FC1705-EFC2-DC49-974C-4082D5F688A4}" srcOrd="0" destOrd="0" presId="urn:microsoft.com/office/officeart/2005/8/layout/hChevron3"/>
    <dgm:cxn modelId="{BE304EB2-3A94-8148-9E3F-A59D7EBAE284}" type="presParOf" srcId="{AFFECF99-DE3A-3E48-AD82-DE0C632542DC}" destId="{2398453E-8F02-0146-8831-DA24307367AE}" srcOrd="1" destOrd="0" presId="urn:microsoft.com/office/officeart/2005/8/layout/hChevron3"/>
    <dgm:cxn modelId="{E40FC876-8DC9-0A4D-B904-9F098EDFEEAF}" type="presParOf" srcId="{AFFECF99-DE3A-3E48-AD82-DE0C632542DC}" destId="{A579A29D-F228-A346-A356-4129FDEB43D1}" srcOrd="2" destOrd="0" presId="urn:microsoft.com/office/officeart/2005/8/layout/hChevron3"/>
    <dgm:cxn modelId="{606C3D10-20C5-654B-B663-158B40BE97B7}" type="presParOf" srcId="{AFFECF99-DE3A-3E48-AD82-DE0C632542DC}" destId="{DB65CB43-07E1-4543-8C77-94A5F96A140B}" srcOrd="3" destOrd="0" presId="urn:microsoft.com/office/officeart/2005/8/layout/hChevron3"/>
    <dgm:cxn modelId="{39A7B751-01D7-8A43-A0C3-A6632CA84664}" type="presParOf" srcId="{AFFECF99-DE3A-3E48-AD82-DE0C632542DC}" destId="{038E0549-03A2-F141-8066-7E8027D67BD7}" srcOrd="4" destOrd="0" presId="urn:microsoft.com/office/officeart/2005/8/layout/hChevron3"/>
    <dgm:cxn modelId="{61EE2288-EFE7-1243-B521-9B5BDE197A82}" type="presParOf" srcId="{AFFECF99-DE3A-3E48-AD82-DE0C632542DC}" destId="{0DB84E49-AAA6-D64E-BCD6-7A84EF50CA10}" srcOrd="5" destOrd="0" presId="urn:microsoft.com/office/officeart/2005/8/layout/hChevron3"/>
    <dgm:cxn modelId="{2E4F581F-ADC7-6A46-B145-07E20692C400}" type="presParOf" srcId="{AFFECF99-DE3A-3E48-AD82-DE0C632542DC}" destId="{24AB1D94-B983-3E4D-8325-3ECF8523D4B7}" srcOrd="6" destOrd="0" presId="urn:microsoft.com/office/officeart/2005/8/layout/hChevron3"/>
    <dgm:cxn modelId="{7EAB5BFC-0641-E944-8444-6DF3103D886D}" type="presParOf" srcId="{AFFECF99-DE3A-3E48-AD82-DE0C632542DC}" destId="{69D94FB2-8235-364E-888B-BE0BA7925B18}" srcOrd="7" destOrd="0" presId="urn:microsoft.com/office/officeart/2005/8/layout/hChevron3"/>
    <dgm:cxn modelId="{188A5C24-3983-FD40-BDC0-5B86C28F08BB}" type="presParOf" srcId="{AFFECF99-DE3A-3E48-AD82-DE0C632542DC}" destId="{56ACEC28-C922-6D47-8B9F-4D4130B130BD}" srcOrd="8" destOrd="0" presId="urn:microsoft.com/office/officeart/2005/8/layout/hChevron3"/>
  </dgm:cxnLst>
  <dgm:bg>
    <a:solidFill>
      <a:schemeClr val="bg1"/>
    </a:solidFill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BE8AFBC-BA5B-F444-ACAE-FE11352C6385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EEE2B7E-FEA8-2841-9330-D657670BA65A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Industry Background</a:t>
          </a:r>
        </a:p>
      </dgm:t>
    </dgm:pt>
    <dgm:pt modelId="{20DC5649-B805-BE49-A5B3-B2C19A5DCD2E}" type="parTrans" cxnId="{D9CEC529-92C5-6D4A-BF6E-36936BC6451C}">
      <dgm:prSet/>
      <dgm:spPr/>
      <dgm:t>
        <a:bodyPr/>
        <a:lstStyle/>
        <a:p>
          <a:endParaRPr lang="en-US"/>
        </a:p>
      </dgm:t>
    </dgm:pt>
    <dgm:pt modelId="{B11F1DC3-04B1-9A4A-AC4D-FE9A92ED77C2}" type="sibTrans" cxnId="{D9CEC529-92C5-6D4A-BF6E-36936BC6451C}">
      <dgm:prSet/>
      <dgm:spPr/>
      <dgm:t>
        <a:bodyPr/>
        <a:lstStyle/>
        <a:p>
          <a:endParaRPr lang="en-US"/>
        </a:p>
      </dgm:t>
    </dgm:pt>
    <dgm:pt modelId="{7603B473-DBD5-E145-8681-67EDBA9B6B4B}">
      <dgm:prSet phldrT="[Text]"/>
      <dgm:spPr>
        <a:solidFill>
          <a:srgbClr val="A9C861"/>
        </a:solidFill>
      </dgm:spPr>
      <dgm:t>
        <a:bodyPr/>
        <a:lstStyle/>
        <a:p>
          <a:pPr algn="ctr"/>
          <a:r>
            <a:rPr lang="en-US" b="1">
              <a:latin typeface="Avenir Next LT Pro" panose="020B0504020202020204" pitchFamily="34" charset="77"/>
            </a:rPr>
            <a:t>Demand Model</a:t>
          </a:r>
        </a:p>
      </dgm:t>
    </dgm:pt>
    <dgm:pt modelId="{EA094F26-ABD1-A746-808E-FF865DE2F039}" type="parTrans" cxnId="{48FFD7B5-374A-2B43-A78C-C2FF1C3E20D1}">
      <dgm:prSet/>
      <dgm:spPr/>
      <dgm:t>
        <a:bodyPr/>
        <a:lstStyle/>
        <a:p>
          <a:endParaRPr lang="en-US"/>
        </a:p>
      </dgm:t>
    </dgm:pt>
    <dgm:pt modelId="{6108CCC8-64CD-2642-9492-C5914C8FBAFD}" type="sibTrans" cxnId="{48FFD7B5-374A-2B43-A78C-C2FF1C3E20D1}">
      <dgm:prSet/>
      <dgm:spPr/>
      <dgm:t>
        <a:bodyPr/>
        <a:lstStyle/>
        <a:p>
          <a:endParaRPr lang="en-US"/>
        </a:p>
      </dgm:t>
    </dgm:pt>
    <dgm:pt modelId="{3BFDE67B-7FE9-0E4A-9F76-970A8D89C425}">
      <dgm:prSet phldrT="[Text]"/>
      <dgm:spPr>
        <a:solidFill>
          <a:schemeClr val="tx1"/>
        </a:solidFill>
      </dgm:spPr>
      <dgm:t>
        <a:bodyPr lIns="0" rIns="365760"/>
        <a:lstStyle/>
        <a:p>
          <a:pPr algn="ctr"/>
          <a:r>
            <a:rPr lang="en-US" b="0" i="0">
              <a:latin typeface="Avenir Next LT Pro" panose="020B0504020202020204" pitchFamily="34" charset="77"/>
            </a:rPr>
            <a:t>Product Features</a:t>
          </a:r>
        </a:p>
      </dgm:t>
    </dgm:pt>
    <dgm:pt modelId="{16068524-A248-BD45-9834-8DE9B8CA2E61}" type="parTrans" cxnId="{21122F98-9D00-0740-9514-19138D07000E}">
      <dgm:prSet/>
      <dgm:spPr/>
      <dgm:t>
        <a:bodyPr/>
        <a:lstStyle/>
        <a:p>
          <a:endParaRPr lang="en-US"/>
        </a:p>
      </dgm:t>
    </dgm:pt>
    <dgm:pt modelId="{55D0ECF1-3CA7-B540-9A2E-C4C752DC41E2}" type="sibTrans" cxnId="{21122F98-9D00-0740-9514-19138D07000E}">
      <dgm:prSet/>
      <dgm:spPr/>
      <dgm:t>
        <a:bodyPr/>
        <a:lstStyle/>
        <a:p>
          <a:endParaRPr lang="en-US"/>
        </a:p>
      </dgm:t>
    </dgm:pt>
    <dgm:pt modelId="{4082BFF7-60B1-8340-B9CA-E5DE81EF2D7F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Pricing Analysis</a:t>
          </a:r>
        </a:p>
      </dgm:t>
    </dgm:pt>
    <dgm:pt modelId="{B19E2420-F6A5-2D40-B4CA-5BF003B22A24}" type="parTrans" cxnId="{7902F54F-6874-3D4B-8356-E78F7E4FBDEA}">
      <dgm:prSet/>
      <dgm:spPr/>
      <dgm:t>
        <a:bodyPr/>
        <a:lstStyle/>
        <a:p>
          <a:endParaRPr lang="en-US"/>
        </a:p>
      </dgm:t>
    </dgm:pt>
    <dgm:pt modelId="{4C6FEC2A-FFAD-D140-8695-0F34C0997235}" type="sibTrans" cxnId="{7902F54F-6874-3D4B-8356-E78F7E4FBDEA}">
      <dgm:prSet/>
      <dgm:spPr/>
      <dgm:t>
        <a:bodyPr/>
        <a:lstStyle/>
        <a:p>
          <a:endParaRPr lang="en-US"/>
        </a:p>
      </dgm:t>
    </dgm:pt>
    <dgm:pt modelId="{15AD007E-50C9-3A41-B63C-9F1269A07150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Competitive Positioning</a:t>
          </a:r>
        </a:p>
      </dgm:t>
    </dgm:pt>
    <dgm:pt modelId="{FB720988-3BC0-BC40-AC19-A407023D3A3F}" type="parTrans" cxnId="{076651F1-3CBE-8B44-9EAF-3072FB514B00}">
      <dgm:prSet/>
      <dgm:spPr/>
      <dgm:t>
        <a:bodyPr/>
        <a:lstStyle/>
        <a:p>
          <a:endParaRPr lang="en-US"/>
        </a:p>
      </dgm:t>
    </dgm:pt>
    <dgm:pt modelId="{4312D9F1-C78C-6C40-BAE4-DCEB223E208D}" type="sibTrans" cxnId="{076651F1-3CBE-8B44-9EAF-3072FB514B00}">
      <dgm:prSet/>
      <dgm:spPr/>
      <dgm:t>
        <a:bodyPr/>
        <a:lstStyle/>
        <a:p>
          <a:endParaRPr lang="en-US"/>
        </a:p>
      </dgm:t>
    </dgm:pt>
    <dgm:pt modelId="{AFFECF99-DE3A-3E48-AD82-DE0C632542DC}" type="pres">
      <dgm:prSet presAssocID="{0BE8AFBC-BA5B-F444-ACAE-FE11352C6385}" presName="Name0" presStyleCnt="0">
        <dgm:presLayoutVars>
          <dgm:dir/>
          <dgm:resizeHandles val="exact"/>
        </dgm:presLayoutVars>
      </dgm:prSet>
      <dgm:spPr/>
    </dgm:pt>
    <dgm:pt modelId="{75FC1705-EFC2-DC49-974C-4082D5F688A4}" type="pres">
      <dgm:prSet presAssocID="{8EEE2B7E-FEA8-2841-9330-D657670BA65A}" presName="parTxOnly" presStyleLbl="node1" presStyleIdx="0" presStyleCnt="5" custScaleX="143173" custScaleY="86006">
        <dgm:presLayoutVars>
          <dgm:bulletEnabled val="1"/>
        </dgm:presLayoutVars>
      </dgm:prSet>
      <dgm:spPr/>
    </dgm:pt>
    <dgm:pt modelId="{2398453E-8F02-0146-8831-DA24307367AE}" type="pres">
      <dgm:prSet presAssocID="{B11F1DC3-04B1-9A4A-AC4D-FE9A92ED77C2}" presName="parSpace" presStyleCnt="0"/>
      <dgm:spPr/>
    </dgm:pt>
    <dgm:pt modelId="{A579A29D-F228-A346-A356-4129FDEB43D1}" type="pres">
      <dgm:prSet presAssocID="{7603B473-DBD5-E145-8681-67EDBA9B6B4B}" presName="parTxOnly" presStyleLbl="node1" presStyleIdx="1" presStyleCnt="5" custScaleX="141611" custLinFactNeighborX="42167" custLinFactNeighborY="-3443">
        <dgm:presLayoutVars>
          <dgm:bulletEnabled val="1"/>
        </dgm:presLayoutVars>
      </dgm:prSet>
      <dgm:spPr/>
    </dgm:pt>
    <dgm:pt modelId="{DB65CB43-07E1-4543-8C77-94A5F96A140B}" type="pres">
      <dgm:prSet presAssocID="{6108CCC8-64CD-2642-9492-C5914C8FBAFD}" presName="parSpace" presStyleCnt="0"/>
      <dgm:spPr/>
    </dgm:pt>
    <dgm:pt modelId="{038E0549-03A2-F141-8066-7E8027D67BD7}" type="pres">
      <dgm:prSet presAssocID="{3BFDE67B-7FE9-0E4A-9F76-970A8D89C425}" presName="parTxOnly" presStyleLbl="node1" presStyleIdx="2" presStyleCnt="5" custScaleX="147710" custLinFactNeighborX="86349" custLinFactNeighborY="10239">
        <dgm:presLayoutVars>
          <dgm:bulletEnabled val="1"/>
        </dgm:presLayoutVars>
      </dgm:prSet>
      <dgm:spPr/>
    </dgm:pt>
    <dgm:pt modelId="{0DB84E49-AAA6-D64E-BCD6-7A84EF50CA10}" type="pres">
      <dgm:prSet presAssocID="{55D0ECF1-3CA7-B540-9A2E-C4C752DC41E2}" presName="parSpace" presStyleCnt="0"/>
      <dgm:spPr/>
    </dgm:pt>
    <dgm:pt modelId="{24AB1D94-B983-3E4D-8325-3ECF8523D4B7}" type="pres">
      <dgm:prSet presAssocID="{4082BFF7-60B1-8340-B9CA-E5DE81EF2D7F}" presName="parTxOnly" presStyleLbl="node1" presStyleIdx="3" presStyleCnt="5" custScaleX="145793" custScaleY="81791">
        <dgm:presLayoutVars>
          <dgm:bulletEnabled val="1"/>
        </dgm:presLayoutVars>
      </dgm:prSet>
      <dgm:spPr/>
    </dgm:pt>
    <dgm:pt modelId="{69D94FB2-8235-364E-888B-BE0BA7925B18}" type="pres">
      <dgm:prSet presAssocID="{4C6FEC2A-FFAD-D140-8695-0F34C0997235}" presName="parSpace" presStyleCnt="0"/>
      <dgm:spPr/>
    </dgm:pt>
    <dgm:pt modelId="{56ACEC28-C922-6D47-8B9F-4D4130B130BD}" type="pres">
      <dgm:prSet presAssocID="{15AD007E-50C9-3A41-B63C-9F1269A07150}" presName="parTxOnly" presStyleLbl="node1" presStyleIdx="4" presStyleCnt="5" custScaleX="146721" custScaleY="95099">
        <dgm:presLayoutVars>
          <dgm:bulletEnabled val="1"/>
        </dgm:presLayoutVars>
      </dgm:prSet>
      <dgm:spPr/>
    </dgm:pt>
  </dgm:ptLst>
  <dgm:cxnLst>
    <dgm:cxn modelId="{489F4308-C2EA-AF49-A439-DB41AF134AA4}" type="presOf" srcId="{15AD007E-50C9-3A41-B63C-9F1269A07150}" destId="{56ACEC28-C922-6D47-8B9F-4D4130B130BD}" srcOrd="0" destOrd="0" presId="urn:microsoft.com/office/officeart/2005/8/layout/hChevron3"/>
    <dgm:cxn modelId="{AF587C1E-276E-F642-B989-2AEE7B81FA4C}" type="presOf" srcId="{0BE8AFBC-BA5B-F444-ACAE-FE11352C6385}" destId="{AFFECF99-DE3A-3E48-AD82-DE0C632542DC}" srcOrd="0" destOrd="0" presId="urn:microsoft.com/office/officeart/2005/8/layout/hChevron3"/>
    <dgm:cxn modelId="{D9CEC529-92C5-6D4A-BF6E-36936BC6451C}" srcId="{0BE8AFBC-BA5B-F444-ACAE-FE11352C6385}" destId="{8EEE2B7E-FEA8-2841-9330-D657670BA65A}" srcOrd="0" destOrd="0" parTransId="{20DC5649-B805-BE49-A5B3-B2C19A5DCD2E}" sibTransId="{B11F1DC3-04B1-9A4A-AC4D-FE9A92ED77C2}"/>
    <dgm:cxn modelId="{4F516336-8F35-CB41-B289-DA52B405732A}" type="presOf" srcId="{4082BFF7-60B1-8340-B9CA-E5DE81EF2D7F}" destId="{24AB1D94-B983-3E4D-8325-3ECF8523D4B7}" srcOrd="0" destOrd="0" presId="urn:microsoft.com/office/officeart/2005/8/layout/hChevron3"/>
    <dgm:cxn modelId="{6CE8F943-1439-F147-9F9B-03081E4E41DF}" type="presOf" srcId="{7603B473-DBD5-E145-8681-67EDBA9B6B4B}" destId="{A579A29D-F228-A346-A356-4129FDEB43D1}" srcOrd="0" destOrd="0" presId="urn:microsoft.com/office/officeart/2005/8/layout/hChevron3"/>
    <dgm:cxn modelId="{7902F54F-6874-3D4B-8356-E78F7E4FBDEA}" srcId="{0BE8AFBC-BA5B-F444-ACAE-FE11352C6385}" destId="{4082BFF7-60B1-8340-B9CA-E5DE81EF2D7F}" srcOrd="3" destOrd="0" parTransId="{B19E2420-F6A5-2D40-B4CA-5BF003B22A24}" sibTransId="{4C6FEC2A-FFAD-D140-8695-0F34C0997235}"/>
    <dgm:cxn modelId="{8D0F4674-0157-0A40-8A2B-15C64C2BBF2F}" type="presOf" srcId="{3BFDE67B-7FE9-0E4A-9F76-970A8D89C425}" destId="{038E0549-03A2-F141-8066-7E8027D67BD7}" srcOrd="0" destOrd="0" presId="urn:microsoft.com/office/officeart/2005/8/layout/hChevron3"/>
    <dgm:cxn modelId="{53D33E86-03E0-BA44-8C65-2735ADBF9B43}" type="presOf" srcId="{8EEE2B7E-FEA8-2841-9330-D657670BA65A}" destId="{75FC1705-EFC2-DC49-974C-4082D5F688A4}" srcOrd="0" destOrd="0" presId="urn:microsoft.com/office/officeart/2005/8/layout/hChevron3"/>
    <dgm:cxn modelId="{21122F98-9D00-0740-9514-19138D07000E}" srcId="{0BE8AFBC-BA5B-F444-ACAE-FE11352C6385}" destId="{3BFDE67B-7FE9-0E4A-9F76-970A8D89C425}" srcOrd="2" destOrd="0" parTransId="{16068524-A248-BD45-9834-8DE9B8CA2E61}" sibTransId="{55D0ECF1-3CA7-B540-9A2E-C4C752DC41E2}"/>
    <dgm:cxn modelId="{48FFD7B5-374A-2B43-A78C-C2FF1C3E20D1}" srcId="{0BE8AFBC-BA5B-F444-ACAE-FE11352C6385}" destId="{7603B473-DBD5-E145-8681-67EDBA9B6B4B}" srcOrd="1" destOrd="0" parTransId="{EA094F26-ABD1-A746-808E-FF865DE2F039}" sibTransId="{6108CCC8-64CD-2642-9492-C5914C8FBAFD}"/>
    <dgm:cxn modelId="{076651F1-3CBE-8B44-9EAF-3072FB514B00}" srcId="{0BE8AFBC-BA5B-F444-ACAE-FE11352C6385}" destId="{15AD007E-50C9-3A41-B63C-9F1269A07150}" srcOrd="4" destOrd="0" parTransId="{FB720988-3BC0-BC40-AC19-A407023D3A3F}" sibTransId="{4312D9F1-C78C-6C40-BAE4-DCEB223E208D}"/>
    <dgm:cxn modelId="{69264297-14AB-5845-A915-DFDDF79C8F67}" type="presParOf" srcId="{AFFECF99-DE3A-3E48-AD82-DE0C632542DC}" destId="{75FC1705-EFC2-DC49-974C-4082D5F688A4}" srcOrd="0" destOrd="0" presId="urn:microsoft.com/office/officeart/2005/8/layout/hChevron3"/>
    <dgm:cxn modelId="{BE304EB2-3A94-8148-9E3F-A59D7EBAE284}" type="presParOf" srcId="{AFFECF99-DE3A-3E48-AD82-DE0C632542DC}" destId="{2398453E-8F02-0146-8831-DA24307367AE}" srcOrd="1" destOrd="0" presId="urn:microsoft.com/office/officeart/2005/8/layout/hChevron3"/>
    <dgm:cxn modelId="{E40FC876-8DC9-0A4D-B904-9F098EDFEEAF}" type="presParOf" srcId="{AFFECF99-DE3A-3E48-AD82-DE0C632542DC}" destId="{A579A29D-F228-A346-A356-4129FDEB43D1}" srcOrd="2" destOrd="0" presId="urn:microsoft.com/office/officeart/2005/8/layout/hChevron3"/>
    <dgm:cxn modelId="{606C3D10-20C5-654B-B663-158B40BE97B7}" type="presParOf" srcId="{AFFECF99-DE3A-3E48-AD82-DE0C632542DC}" destId="{DB65CB43-07E1-4543-8C77-94A5F96A140B}" srcOrd="3" destOrd="0" presId="urn:microsoft.com/office/officeart/2005/8/layout/hChevron3"/>
    <dgm:cxn modelId="{39A7B751-01D7-8A43-A0C3-A6632CA84664}" type="presParOf" srcId="{AFFECF99-DE3A-3E48-AD82-DE0C632542DC}" destId="{038E0549-03A2-F141-8066-7E8027D67BD7}" srcOrd="4" destOrd="0" presId="urn:microsoft.com/office/officeart/2005/8/layout/hChevron3"/>
    <dgm:cxn modelId="{61EE2288-EFE7-1243-B521-9B5BDE197A82}" type="presParOf" srcId="{AFFECF99-DE3A-3E48-AD82-DE0C632542DC}" destId="{0DB84E49-AAA6-D64E-BCD6-7A84EF50CA10}" srcOrd="5" destOrd="0" presId="urn:microsoft.com/office/officeart/2005/8/layout/hChevron3"/>
    <dgm:cxn modelId="{2E4F581F-ADC7-6A46-B145-07E20692C400}" type="presParOf" srcId="{AFFECF99-DE3A-3E48-AD82-DE0C632542DC}" destId="{24AB1D94-B983-3E4D-8325-3ECF8523D4B7}" srcOrd="6" destOrd="0" presId="urn:microsoft.com/office/officeart/2005/8/layout/hChevron3"/>
    <dgm:cxn modelId="{7EAB5BFC-0641-E944-8444-6DF3103D886D}" type="presParOf" srcId="{AFFECF99-DE3A-3E48-AD82-DE0C632542DC}" destId="{69D94FB2-8235-364E-888B-BE0BA7925B18}" srcOrd="7" destOrd="0" presId="urn:microsoft.com/office/officeart/2005/8/layout/hChevron3"/>
    <dgm:cxn modelId="{188A5C24-3983-FD40-BDC0-5B86C28F08BB}" type="presParOf" srcId="{AFFECF99-DE3A-3E48-AD82-DE0C632542DC}" destId="{56ACEC28-C922-6D47-8B9F-4D4130B130BD}" srcOrd="8" destOrd="0" presId="urn:microsoft.com/office/officeart/2005/8/layout/hChevron3"/>
  </dgm:cxnLst>
  <dgm:bg>
    <a:solidFill>
      <a:schemeClr val="bg1"/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BE8AFBC-BA5B-F444-ACAE-FE11352C6385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EEE2B7E-FEA8-2841-9330-D657670BA65A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 dirty="0">
              <a:latin typeface="Avenir Next LT Pro" panose="020B0504020202020204" pitchFamily="34" charset="77"/>
            </a:rPr>
            <a:t>Industry Background</a:t>
          </a:r>
        </a:p>
      </dgm:t>
    </dgm:pt>
    <dgm:pt modelId="{20DC5649-B805-BE49-A5B3-B2C19A5DCD2E}" type="parTrans" cxnId="{D9CEC529-92C5-6D4A-BF6E-36936BC6451C}">
      <dgm:prSet/>
      <dgm:spPr/>
      <dgm:t>
        <a:bodyPr/>
        <a:lstStyle/>
        <a:p>
          <a:endParaRPr lang="en-US"/>
        </a:p>
      </dgm:t>
    </dgm:pt>
    <dgm:pt modelId="{B11F1DC3-04B1-9A4A-AC4D-FE9A92ED77C2}" type="sibTrans" cxnId="{D9CEC529-92C5-6D4A-BF6E-36936BC6451C}">
      <dgm:prSet/>
      <dgm:spPr/>
      <dgm:t>
        <a:bodyPr/>
        <a:lstStyle/>
        <a:p>
          <a:endParaRPr lang="en-US"/>
        </a:p>
      </dgm:t>
    </dgm:pt>
    <dgm:pt modelId="{7603B473-DBD5-E145-8681-67EDBA9B6B4B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 dirty="0">
              <a:latin typeface="Avenir Next LT Pro" panose="020B0504020202020204" pitchFamily="34" charset="77"/>
            </a:rPr>
            <a:t>Demand Model</a:t>
          </a:r>
        </a:p>
      </dgm:t>
    </dgm:pt>
    <dgm:pt modelId="{EA094F26-ABD1-A746-808E-FF865DE2F039}" type="parTrans" cxnId="{48FFD7B5-374A-2B43-A78C-C2FF1C3E20D1}">
      <dgm:prSet/>
      <dgm:spPr/>
      <dgm:t>
        <a:bodyPr/>
        <a:lstStyle/>
        <a:p>
          <a:endParaRPr lang="en-US"/>
        </a:p>
      </dgm:t>
    </dgm:pt>
    <dgm:pt modelId="{6108CCC8-64CD-2642-9492-C5914C8FBAFD}" type="sibTrans" cxnId="{48FFD7B5-374A-2B43-A78C-C2FF1C3E20D1}">
      <dgm:prSet/>
      <dgm:spPr/>
      <dgm:t>
        <a:bodyPr/>
        <a:lstStyle/>
        <a:p>
          <a:endParaRPr lang="en-US"/>
        </a:p>
      </dgm:t>
    </dgm:pt>
    <dgm:pt modelId="{3BFDE67B-7FE9-0E4A-9F76-970A8D89C425}">
      <dgm:prSet phldrT="[Text]"/>
      <dgm:spPr>
        <a:solidFill>
          <a:srgbClr val="A9C861"/>
        </a:solidFill>
      </dgm:spPr>
      <dgm:t>
        <a:bodyPr lIns="0" rIns="365760"/>
        <a:lstStyle/>
        <a:p>
          <a:pPr algn="ctr"/>
          <a:r>
            <a:rPr lang="en-US" b="1" i="0" dirty="0">
              <a:latin typeface="Avenir Next LT Pro" panose="020B0504020202020204" pitchFamily="34" charset="77"/>
            </a:rPr>
            <a:t>Product Features</a:t>
          </a:r>
        </a:p>
      </dgm:t>
    </dgm:pt>
    <dgm:pt modelId="{16068524-A248-BD45-9834-8DE9B8CA2E61}" type="parTrans" cxnId="{21122F98-9D00-0740-9514-19138D07000E}">
      <dgm:prSet/>
      <dgm:spPr/>
      <dgm:t>
        <a:bodyPr/>
        <a:lstStyle/>
        <a:p>
          <a:endParaRPr lang="en-US"/>
        </a:p>
      </dgm:t>
    </dgm:pt>
    <dgm:pt modelId="{55D0ECF1-3CA7-B540-9A2E-C4C752DC41E2}" type="sibTrans" cxnId="{21122F98-9D00-0740-9514-19138D07000E}">
      <dgm:prSet/>
      <dgm:spPr/>
      <dgm:t>
        <a:bodyPr/>
        <a:lstStyle/>
        <a:p>
          <a:endParaRPr lang="en-US"/>
        </a:p>
      </dgm:t>
    </dgm:pt>
    <dgm:pt modelId="{4082BFF7-60B1-8340-B9CA-E5DE81EF2D7F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 dirty="0">
              <a:latin typeface="Avenir Next LT Pro" panose="020B0504020202020204" pitchFamily="34" charset="77"/>
            </a:rPr>
            <a:t>Pricing Analysis</a:t>
          </a:r>
        </a:p>
      </dgm:t>
    </dgm:pt>
    <dgm:pt modelId="{B19E2420-F6A5-2D40-B4CA-5BF003B22A24}" type="parTrans" cxnId="{7902F54F-6874-3D4B-8356-E78F7E4FBDEA}">
      <dgm:prSet/>
      <dgm:spPr/>
      <dgm:t>
        <a:bodyPr/>
        <a:lstStyle/>
        <a:p>
          <a:endParaRPr lang="en-US"/>
        </a:p>
      </dgm:t>
    </dgm:pt>
    <dgm:pt modelId="{4C6FEC2A-FFAD-D140-8695-0F34C0997235}" type="sibTrans" cxnId="{7902F54F-6874-3D4B-8356-E78F7E4FBDEA}">
      <dgm:prSet/>
      <dgm:spPr/>
      <dgm:t>
        <a:bodyPr/>
        <a:lstStyle/>
        <a:p>
          <a:endParaRPr lang="en-US"/>
        </a:p>
      </dgm:t>
    </dgm:pt>
    <dgm:pt modelId="{15AD007E-50C9-3A41-B63C-9F1269A07150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 dirty="0">
              <a:latin typeface="Avenir Next LT Pro" panose="020B0504020202020204" pitchFamily="34" charset="77"/>
            </a:rPr>
            <a:t>Competitive Positioning</a:t>
          </a:r>
        </a:p>
      </dgm:t>
    </dgm:pt>
    <dgm:pt modelId="{FB720988-3BC0-BC40-AC19-A407023D3A3F}" type="parTrans" cxnId="{076651F1-3CBE-8B44-9EAF-3072FB514B00}">
      <dgm:prSet/>
      <dgm:spPr/>
      <dgm:t>
        <a:bodyPr/>
        <a:lstStyle/>
        <a:p>
          <a:endParaRPr lang="en-US"/>
        </a:p>
      </dgm:t>
    </dgm:pt>
    <dgm:pt modelId="{4312D9F1-C78C-6C40-BAE4-DCEB223E208D}" type="sibTrans" cxnId="{076651F1-3CBE-8B44-9EAF-3072FB514B00}">
      <dgm:prSet/>
      <dgm:spPr/>
      <dgm:t>
        <a:bodyPr/>
        <a:lstStyle/>
        <a:p>
          <a:endParaRPr lang="en-US"/>
        </a:p>
      </dgm:t>
    </dgm:pt>
    <dgm:pt modelId="{AFFECF99-DE3A-3E48-AD82-DE0C632542DC}" type="pres">
      <dgm:prSet presAssocID="{0BE8AFBC-BA5B-F444-ACAE-FE11352C6385}" presName="Name0" presStyleCnt="0">
        <dgm:presLayoutVars>
          <dgm:dir/>
          <dgm:resizeHandles val="exact"/>
        </dgm:presLayoutVars>
      </dgm:prSet>
      <dgm:spPr/>
    </dgm:pt>
    <dgm:pt modelId="{75FC1705-EFC2-DC49-974C-4082D5F688A4}" type="pres">
      <dgm:prSet presAssocID="{8EEE2B7E-FEA8-2841-9330-D657670BA65A}" presName="parTxOnly" presStyleLbl="node1" presStyleIdx="0" presStyleCnt="5" custScaleX="143173" custScaleY="86006">
        <dgm:presLayoutVars>
          <dgm:bulletEnabled val="1"/>
        </dgm:presLayoutVars>
      </dgm:prSet>
      <dgm:spPr/>
    </dgm:pt>
    <dgm:pt modelId="{2398453E-8F02-0146-8831-DA24307367AE}" type="pres">
      <dgm:prSet presAssocID="{B11F1DC3-04B1-9A4A-AC4D-FE9A92ED77C2}" presName="parSpace" presStyleCnt="0"/>
      <dgm:spPr/>
    </dgm:pt>
    <dgm:pt modelId="{A579A29D-F228-A346-A356-4129FDEB43D1}" type="pres">
      <dgm:prSet presAssocID="{7603B473-DBD5-E145-8681-67EDBA9B6B4B}" presName="parTxOnly" presStyleLbl="node1" presStyleIdx="1" presStyleCnt="5" custScaleX="141611" custLinFactNeighborX="42167" custLinFactNeighborY="-3443">
        <dgm:presLayoutVars>
          <dgm:bulletEnabled val="1"/>
        </dgm:presLayoutVars>
      </dgm:prSet>
      <dgm:spPr/>
    </dgm:pt>
    <dgm:pt modelId="{DB65CB43-07E1-4543-8C77-94A5F96A140B}" type="pres">
      <dgm:prSet presAssocID="{6108CCC8-64CD-2642-9492-C5914C8FBAFD}" presName="parSpace" presStyleCnt="0"/>
      <dgm:spPr/>
    </dgm:pt>
    <dgm:pt modelId="{038E0549-03A2-F141-8066-7E8027D67BD7}" type="pres">
      <dgm:prSet presAssocID="{3BFDE67B-7FE9-0E4A-9F76-970A8D89C425}" presName="parTxOnly" presStyleLbl="node1" presStyleIdx="2" presStyleCnt="5" custScaleX="147710" custLinFactNeighborX="86349" custLinFactNeighborY="10239">
        <dgm:presLayoutVars>
          <dgm:bulletEnabled val="1"/>
        </dgm:presLayoutVars>
      </dgm:prSet>
      <dgm:spPr/>
    </dgm:pt>
    <dgm:pt modelId="{0DB84E49-AAA6-D64E-BCD6-7A84EF50CA10}" type="pres">
      <dgm:prSet presAssocID="{55D0ECF1-3CA7-B540-9A2E-C4C752DC41E2}" presName="parSpace" presStyleCnt="0"/>
      <dgm:spPr/>
    </dgm:pt>
    <dgm:pt modelId="{24AB1D94-B983-3E4D-8325-3ECF8523D4B7}" type="pres">
      <dgm:prSet presAssocID="{4082BFF7-60B1-8340-B9CA-E5DE81EF2D7F}" presName="parTxOnly" presStyleLbl="node1" presStyleIdx="3" presStyleCnt="5" custScaleX="145793" custScaleY="81791">
        <dgm:presLayoutVars>
          <dgm:bulletEnabled val="1"/>
        </dgm:presLayoutVars>
      </dgm:prSet>
      <dgm:spPr/>
    </dgm:pt>
    <dgm:pt modelId="{69D94FB2-8235-364E-888B-BE0BA7925B18}" type="pres">
      <dgm:prSet presAssocID="{4C6FEC2A-FFAD-D140-8695-0F34C0997235}" presName="parSpace" presStyleCnt="0"/>
      <dgm:spPr/>
    </dgm:pt>
    <dgm:pt modelId="{56ACEC28-C922-6D47-8B9F-4D4130B130BD}" type="pres">
      <dgm:prSet presAssocID="{15AD007E-50C9-3A41-B63C-9F1269A07150}" presName="parTxOnly" presStyleLbl="node1" presStyleIdx="4" presStyleCnt="5" custScaleX="146721" custScaleY="95099">
        <dgm:presLayoutVars>
          <dgm:bulletEnabled val="1"/>
        </dgm:presLayoutVars>
      </dgm:prSet>
      <dgm:spPr/>
    </dgm:pt>
  </dgm:ptLst>
  <dgm:cxnLst>
    <dgm:cxn modelId="{489F4308-C2EA-AF49-A439-DB41AF134AA4}" type="presOf" srcId="{15AD007E-50C9-3A41-B63C-9F1269A07150}" destId="{56ACEC28-C922-6D47-8B9F-4D4130B130BD}" srcOrd="0" destOrd="0" presId="urn:microsoft.com/office/officeart/2005/8/layout/hChevron3"/>
    <dgm:cxn modelId="{AF587C1E-276E-F642-B989-2AEE7B81FA4C}" type="presOf" srcId="{0BE8AFBC-BA5B-F444-ACAE-FE11352C6385}" destId="{AFFECF99-DE3A-3E48-AD82-DE0C632542DC}" srcOrd="0" destOrd="0" presId="urn:microsoft.com/office/officeart/2005/8/layout/hChevron3"/>
    <dgm:cxn modelId="{D9CEC529-92C5-6D4A-BF6E-36936BC6451C}" srcId="{0BE8AFBC-BA5B-F444-ACAE-FE11352C6385}" destId="{8EEE2B7E-FEA8-2841-9330-D657670BA65A}" srcOrd="0" destOrd="0" parTransId="{20DC5649-B805-BE49-A5B3-B2C19A5DCD2E}" sibTransId="{B11F1DC3-04B1-9A4A-AC4D-FE9A92ED77C2}"/>
    <dgm:cxn modelId="{4F516336-8F35-CB41-B289-DA52B405732A}" type="presOf" srcId="{4082BFF7-60B1-8340-B9CA-E5DE81EF2D7F}" destId="{24AB1D94-B983-3E4D-8325-3ECF8523D4B7}" srcOrd="0" destOrd="0" presId="urn:microsoft.com/office/officeart/2005/8/layout/hChevron3"/>
    <dgm:cxn modelId="{6CE8F943-1439-F147-9F9B-03081E4E41DF}" type="presOf" srcId="{7603B473-DBD5-E145-8681-67EDBA9B6B4B}" destId="{A579A29D-F228-A346-A356-4129FDEB43D1}" srcOrd="0" destOrd="0" presId="urn:microsoft.com/office/officeart/2005/8/layout/hChevron3"/>
    <dgm:cxn modelId="{7902F54F-6874-3D4B-8356-E78F7E4FBDEA}" srcId="{0BE8AFBC-BA5B-F444-ACAE-FE11352C6385}" destId="{4082BFF7-60B1-8340-B9CA-E5DE81EF2D7F}" srcOrd="3" destOrd="0" parTransId="{B19E2420-F6A5-2D40-B4CA-5BF003B22A24}" sibTransId="{4C6FEC2A-FFAD-D140-8695-0F34C0997235}"/>
    <dgm:cxn modelId="{8D0F4674-0157-0A40-8A2B-15C64C2BBF2F}" type="presOf" srcId="{3BFDE67B-7FE9-0E4A-9F76-970A8D89C425}" destId="{038E0549-03A2-F141-8066-7E8027D67BD7}" srcOrd="0" destOrd="0" presId="urn:microsoft.com/office/officeart/2005/8/layout/hChevron3"/>
    <dgm:cxn modelId="{53D33E86-03E0-BA44-8C65-2735ADBF9B43}" type="presOf" srcId="{8EEE2B7E-FEA8-2841-9330-D657670BA65A}" destId="{75FC1705-EFC2-DC49-974C-4082D5F688A4}" srcOrd="0" destOrd="0" presId="urn:microsoft.com/office/officeart/2005/8/layout/hChevron3"/>
    <dgm:cxn modelId="{21122F98-9D00-0740-9514-19138D07000E}" srcId="{0BE8AFBC-BA5B-F444-ACAE-FE11352C6385}" destId="{3BFDE67B-7FE9-0E4A-9F76-970A8D89C425}" srcOrd="2" destOrd="0" parTransId="{16068524-A248-BD45-9834-8DE9B8CA2E61}" sibTransId="{55D0ECF1-3CA7-B540-9A2E-C4C752DC41E2}"/>
    <dgm:cxn modelId="{48FFD7B5-374A-2B43-A78C-C2FF1C3E20D1}" srcId="{0BE8AFBC-BA5B-F444-ACAE-FE11352C6385}" destId="{7603B473-DBD5-E145-8681-67EDBA9B6B4B}" srcOrd="1" destOrd="0" parTransId="{EA094F26-ABD1-A746-808E-FF865DE2F039}" sibTransId="{6108CCC8-64CD-2642-9492-C5914C8FBAFD}"/>
    <dgm:cxn modelId="{076651F1-3CBE-8B44-9EAF-3072FB514B00}" srcId="{0BE8AFBC-BA5B-F444-ACAE-FE11352C6385}" destId="{15AD007E-50C9-3A41-B63C-9F1269A07150}" srcOrd="4" destOrd="0" parTransId="{FB720988-3BC0-BC40-AC19-A407023D3A3F}" sibTransId="{4312D9F1-C78C-6C40-BAE4-DCEB223E208D}"/>
    <dgm:cxn modelId="{69264297-14AB-5845-A915-DFDDF79C8F67}" type="presParOf" srcId="{AFFECF99-DE3A-3E48-AD82-DE0C632542DC}" destId="{75FC1705-EFC2-DC49-974C-4082D5F688A4}" srcOrd="0" destOrd="0" presId="urn:microsoft.com/office/officeart/2005/8/layout/hChevron3"/>
    <dgm:cxn modelId="{BE304EB2-3A94-8148-9E3F-A59D7EBAE284}" type="presParOf" srcId="{AFFECF99-DE3A-3E48-AD82-DE0C632542DC}" destId="{2398453E-8F02-0146-8831-DA24307367AE}" srcOrd="1" destOrd="0" presId="urn:microsoft.com/office/officeart/2005/8/layout/hChevron3"/>
    <dgm:cxn modelId="{E40FC876-8DC9-0A4D-B904-9F098EDFEEAF}" type="presParOf" srcId="{AFFECF99-DE3A-3E48-AD82-DE0C632542DC}" destId="{A579A29D-F228-A346-A356-4129FDEB43D1}" srcOrd="2" destOrd="0" presId="urn:microsoft.com/office/officeart/2005/8/layout/hChevron3"/>
    <dgm:cxn modelId="{606C3D10-20C5-654B-B663-158B40BE97B7}" type="presParOf" srcId="{AFFECF99-DE3A-3E48-AD82-DE0C632542DC}" destId="{DB65CB43-07E1-4543-8C77-94A5F96A140B}" srcOrd="3" destOrd="0" presId="urn:microsoft.com/office/officeart/2005/8/layout/hChevron3"/>
    <dgm:cxn modelId="{39A7B751-01D7-8A43-A0C3-A6632CA84664}" type="presParOf" srcId="{AFFECF99-DE3A-3E48-AD82-DE0C632542DC}" destId="{038E0549-03A2-F141-8066-7E8027D67BD7}" srcOrd="4" destOrd="0" presId="urn:microsoft.com/office/officeart/2005/8/layout/hChevron3"/>
    <dgm:cxn modelId="{61EE2288-EFE7-1243-B521-9B5BDE197A82}" type="presParOf" srcId="{AFFECF99-DE3A-3E48-AD82-DE0C632542DC}" destId="{0DB84E49-AAA6-D64E-BCD6-7A84EF50CA10}" srcOrd="5" destOrd="0" presId="urn:microsoft.com/office/officeart/2005/8/layout/hChevron3"/>
    <dgm:cxn modelId="{2E4F581F-ADC7-6A46-B145-07E20692C400}" type="presParOf" srcId="{AFFECF99-DE3A-3E48-AD82-DE0C632542DC}" destId="{24AB1D94-B983-3E4D-8325-3ECF8523D4B7}" srcOrd="6" destOrd="0" presId="urn:microsoft.com/office/officeart/2005/8/layout/hChevron3"/>
    <dgm:cxn modelId="{7EAB5BFC-0641-E944-8444-6DF3103D886D}" type="presParOf" srcId="{AFFECF99-DE3A-3E48-AD82-DE0C632542DC}" destId="{69D94FB2-8235-364E-888B-BE0BA7925B18}" srcOrd="7" destOrd="0" presId="urn:microsoft.com/office/officeart/2005/8/layout/hChevron3"/>
    <dgm:cxn modelId="{188A5C24-3983-FD40-BDC0-5B86C28F08BB}" type="presParOf" srcId="{AFFECF99-DE3A-3E48-AD82-DE0C632542DC}" destId="{56ACEC28-C922-6D47-8B9F-4D4130B130BD}" srcOrd="8" destOrd="0" presId="urn:microsoft.com/office/officeart/2005/8/layout/hChevron3"/>
  </dgm:cxnLst>
  <dgm:bg>
    <a:solidFill>
      <a:schemeClr val="bg1"/>
    </a:solidFill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BE8AFBC-BA5B-F444-ACAE-FE11352C6385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EEE2B7E-FEA8-2841-9330-D657670BA65A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Industry Background</a:t>
          </a:r>
        </a:p>
      </dgm:t>
    </dgm:pt>
    <dgm:pt modelId="{20DC5649-B805-BE49-A5B3-B2C19A5DCD2E}" type="parTrans" cxnId="{D9CEC529-92C5-6D4A-BF6E-36936BC6451C}">
      <dgm:prSet/>
      <dgm:spPr/>
      <dgm:t>
        <a:bodyPr/>
        <a:lstStyle/>
        <a:p>
          <a:endParaRPr lang="en-US"/>
        </a:p>
      </dgm:t>
    </dgm:pt>
    <dgm:pt modelId="{B11F1DC3-04B1-9A4A-AC4D-FE9A92ED77C2}" type="sibTrans" cxnId="{D9CEC529-92C5-6D4A-BF6E-36936BC6451C}">
      <dgm:prSet/>
      <dgm:spPr/>
      <dgm:t>
        <a:bodyPr/>
        <a:lstStyle/>
        <a:p>
          <a:endParaRPr lang="en-US"/>
        </a:p>
      </dgm:t>
    </dgm:pt>
    <dgm:pt modelId="{7603B473-DBD5-E145-8681-67EDBA9B6B4B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Demand Model</a:t>
          </a:r>
        </a:p>
      </dgm:t>
    </dgm:pt>
    <dgm:pt modelId="{EA094F26-ABD1-A746-808E-FF865DE2F039}" type="parTrans" cxnId="{48FFD7B5-374A-2B43-A78C-C2FF1C3E20D1}">
      <dgm:prSet/>
      <dgm:spPr/>
      <dgm:t>
        <a:bodyPr/>
        <a:lstStyle/>
        <a:p>
          <a:endParaRPr lang="en-US"/>
        </a:p>
      </dgm:t>
    </dgm:pt>
    <dgm:pt modelId="{6108CCC8-64CD-2642-9492-C5914C8FBAFD}" type="sibTrans" cxnId="{48FFD7B5-374A-2B43-A78C-C2FF1C3E20D1}">
      <dgm:prSet/>
      <dgm:spPr/>
      <dgm:t>
        <a:bodyPr/>
        <a:lstStyle/>
        <a:p>
          <a:endParaRPr lang="en-US"/>
        </a:p>
      </dgm:t>
    </dgm:pt>
    <dgm:pt modelId="{3BFDE67B-7FE9-0E4A-9F76-970A8D89C425}">
      <dgm:prSet phldrT="[Text]"/>
      <dgm:spPr>
        <a:solidFill>
          <a:schemeClr val="tx1"/>
        </a:solidFill>
      </dgm:spPr>
      <dgm:t>
        <a:bodyPr lIns="0" rIns="365760"/>
        <a:lstStyle/>
        <a:p>
          <a:pPr algn="ctr"/>
          <a:r>
            <a:rPr lang="en-US" b="0" i="0">
              <a:latin typeface="Avenir Next LT Pro" panose="020B0504020202020204" pitchFamily="34" charset="77"/>
            </a:rPr>
            <a:t>Product Features</a:t>
          </a:r>
        </a:p>
      </dgm:t>
    </dgm:pt>
    <dgm:pt modelId="{16068524-A248-BD45-9834-8DE9B8CA2E61}" type="parTrans" cxnId="{21122F98-9D00-0740-9514-19138D07000E}">
      <dgm:prSet/>
      <dgm:spPr/>
      <dgm:t>
        <a:bodyPr/>
        <a:lstStyle/>
        <a:p>
          <a:endParaRPr lang="en-US"/>
        </a:p>
      </dgm:t>
    </dgm:pt>
    <dgm:pt modelId="{55D0ECF1-3CA7-B540-9A2E-C4C752DC41E2}" type="sibTrans" cxnId="{21122F98-9D00-0740-9514-19138D07000E}">
      <dgm:prSet/>
      <dgm:spPr/>
      <dgm:t>
        <a:bodyPr/>
        <a:lstStyle/>
        <a:p>
          <a:endParaRPr lang="en-US"/>
        </a:p>
      </dgm:t>
    </dgm:pt>
    <dgm:pt modelId="{4082BFF7-60B1-8340-B9CA-E5DE81EF2D7F}">
      <dgm:prSet phldrT="[Text]"/>
      <dgm:spPr>
        <a:solidFill>
          <a:srgbClr val="A9C861"/>
        </a:solidFill>
      </dgm:spPr>
      <dgm:t>
        <a:bodyPr/>
        <a:lstStyle/>
        <a:p>
          <a:pPr algn="ctr"/>
          <a:r>
            <a:rPr lang="en-US" b="1">
              <a:latin typeface="Avenir Next LT Pro" panose="020B0504020202020204" pitchFamily="34" charset="77"/>
            </a:rPr>
            <a:t>Pricing Analysis</a:t>
          </a:r>
        </a:p>
      </dgm:t>
    </dgm:pt>
    <dgm:pt modelId="{B19E2420-F6A5-2D40-B4CA-5BF003B22A24}" type="parTrans" cxnId="{7902F54F-6874-3D4B-8356-E78F7E4FBDEA}">
      <dgm:prSet/>
      <dgm:spPr/>
      <dgm:t>
        <a:bodyPr/>
        <a:lstStyle/>
        <a:p>
          <a:endParaRPr lang="en-US"/>
        </a:p>
      </dgm:t>
    </dgm:pt>
    <dgm:pt modelId="{4C6FEC2A-FFAD-D140-8695-0F34C0997235}" type="sibTrans" cxnId="{7902F54F-6874-3D4B-8356-E78F7E4FBDEA}">
      <dgm:prSet/>
      <dgm:spPr/>
      <dgm:t>
        <a:bodyPr/>
        <a:lstStyle/>
        <a:p>
          <a:endParaRPr lang="en-US"/>
        </a:p>
      </dgm:t>
    </dgm:pt>
    <dgm:pt modelId="{15AD007E-50C9-3A41-B63C-9F1269A07150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Competitive Positioning</a:t>
          </a:r>
        </a:p>
      </dgm:t>
    </dgm:pt>
    <dgm:pt modelId="{FB720988-3BC0-BC40-AC19-A407023D3A3F}" type="parTrans" cxnId="{076651F1-3CBE-8B44-9EAF-3072FB514B00}">
      <dgm:prSet/>
      <dgm:spPr/>
      <dgm:t>
        <a:bodyPr/>
        <a:lstStyle/>
        <a:p>
          <a:endParaRPr lang="en-US"/>
        </a:p>
      </dgm:t>
    </dgm:pt>
    <dgm:pt modelId="{4312D9F1-C78C-6C40-BAE4-DCEB223E208D}" type="sibTrans" cxnId="{076651F1-3CBE-8B44-9EAF-3072FB514B00}">
      <dgm:prSet/>
      <dgm:spPr/>
      <dgm:t>
        <a:bodyPr/>
        <a:lstStyle/>
        <a:p>
          <a:endParaRPr lang="en-US"/>
        </a:p>
      </dgm:t>
    </dgm:pt>
    <dgm:pt modelId="{AFFECF99-DE3A-3E48-AD82-DE0C632542DC}" type="pres">
      <dgm:prSet presAssocID="{0BE8AFBC-BA5B-F444-ACAE-FE11352C6385}" presName="Name0" presStyleCnt="0">
        <dgm:presLayoutVars>
          <dgm:dir/>
          <dgm:resizeHandles val="exact"/>
        </dgm:presLayoutVars>
      </dgm:prSet>
      <dgm:spPr/>
    </dgm:pt>
    <dgm:pt modelId="{75FC1705-EFC2-DC49-974C-4082D5F688A4}" type="pres">
      <dgm:prSet presAssocID="{8EEE2B7E-FEA8-2841-9330-D657670BA65A}" presName="parTxOnly" presStyleLbl="node1" presStyleIdx="0" presStyleCnt="5" custScaleX="143173" custScaleY="86006">
        <dgm:presLayoutVars>
          <dgm:bulletEnabled val="1"/>
        </dgm:presLayoutVars>
      </dgm:prSet>
      <dgm:spPr/>
    </dgm:pt>
    <dgm:pt modelId="{2398453E-8F02-0146-8831-DA24307367AE}" type="pres">
      <dgm:prSet presAssocID="{B11F1DC3-04B1-9A4A-AC4D-FE9A92ED77C2}" presName="parSpace" presStyleCnt="0"/>
      <dgm:spPr/>
    </dgm:pt>
    <dgm:pt modelId="{A579A29D-F228-A346-A356-4129FDEB43D1}" type="pres">
      <dgm:prSet presAssocID="{7603B473-DBD5-E145-8681-67EDBA9B6B4B}" presName="parTxOnly" presStyleLbl="node1" presStyleIdx="1" presStyleCnt="5" custScaleX="141611" custLinFactNeighborX="42167" custLinFactNeighborY="-3443">
        <dgm:presLayoutVars>
          <dgm:bulletEnabled val="1"/>
        </dgm:presLayoutVars>
      </dgm:prSet>
      <dgm:spPr/>
    </dgm:pt>
    <dgm:pt modelId="{DB65CB43-07E1-4543-8C77-94A5F96A140B}" type="pres">
      <dgm:prSet presAssocID="{6108CCC8-64CD-2642-9492-C5914C8FBAFD}" presName="parSpace" presStyleCnt="0"/>
      <dgm:spPr/>
    </dgm:pt>
    <dgm:pt modelId="{038E0549-03A2-F141-8066-7E8027D67BD7}" type="pres">
      <dgm:prSet presAssocID="{3BFDE67B-7FE9-0E4A-9F76-970A8D89C425}" presName="parTxOnly" presStyleLbl="node1" presStyleIdx="2" presStyleCnt="5" custScaleX="147710" custLinFactNeighborX="86349" custLinFactNeighborY="10239">
        <dgm:presLayoutVars>
          <dgm:bulletEnabled val="1"/>
        </dgm:presLayoutVars>
      </dgm:prSet>
      <dgm:spPr/>
    </dgm:pt>
    <dgm:pt modelId="{0DB84E49-AAA6-D64E-BCD6-7A84EF50CA10}" type="pres">
      <dgm:prSet presAssocID="{55D0ECF1-3CA7-B540-9A2E-C4C752DC41E2}" presName="parSpace" presStyleCnt="0"/>
      <dgm:spPr/>
    </dgm:pt>
    <dgm:pt modelId="{24AB1D94-B983-3E4D-8325-3ECF8523D4B7}" type="pres">
      <dgm:prSet presAssocID="{4082BFF7-60B1-8340-B9CA-E5DE81EF2D7F}" presName="parTxOnly" presStyleLbl="node1" presStyleIdx="3" presStyleCnt="5" custScaleX="145793" custScaleY="81791">
        <dgm:presLayoutVars>
          <dgm:bulletEnabled val="1"/>
        </dgm:presLayoutVars>
      </dgm:prSet>
      <dgm:spPr/>
    </dgm:pt>
    <dgm:pt modelId="{69D94FB2-8235-364E-888B-BE0BA7925B18}" type="pres">
      <dgm:prSet presAssocID="{4C6FEC2A-FFAD-D140-8695-0F34C0997235}" presName="parSpace" presStyleCnt="0"/>
      <dgm:spPr/>
    </dgm:pt>
    <dgm:pt modelId="{56ACEC28-C922-6D47-8B9F-4D4130B130BD}" type="pres">
      <dgm:prSet presAssocID="{15AD007E-50C9-3A41-B63C-9F1269A07150}" presName="parTxOnly" presStyleLbl="node1" presStyleIdx="4" presStyleCnt="5" custScaleX="146721" custScaleY="95099">
        <dgm:presLayoutVars>
          <dgm:bulletEnabled val="1"/>
        </dgm:presLayoutVars>
      </dgm:prSet>
      <dgm:spPr/>
    </dgm:pt>
  </dgm:ptLst>
  <dgm:cxnLst>
    <dgm:cxn modelId="{489F4308-C2EA-AF49-A439-DB41AF134AA4}" type="presOf" srcId="{15AD007E-50C9-3A41-B63C-9F1269A07150}" destId="{56ACEC28-C922-6D47-8B9F-4D4130B130BD}" srcOrd="0" destOrd="0" presId="urn:microsoft.com/office/officeart/2005/8/layout/hChevron3"/>
    <dgm:cxn modelId="{AF587C1E-276E-F642-B989-2AEE7B81FA4C}" type="presOf" srcId="{0BE8AFBC-BA5B-F444-ACAE-FE11352C6385}" destId="{AFFECF99-DE3A-3E48-AD82-DE0C632542DC}" srcOrd="0" destOrd="0" presId="urn:microsoft.com/office/officeart/2005/8/layout/hChevron3"/>
    <dgm:cxn modelId="{D9CEC529-92C5-6D4A-BF6E-36936BC6451C}" srcId="{0BE8AFBC-BA5B-F444-ACAE-FE11352C6385}" destId="{8EEE2B7E-FEA8-2841-9330-D657670BA65A}" srcOrd="0" destOrd="0" parTransId="{20DC5649-B805-BE49-A5B3-B2C19A5DCD2E}" sibTransId="{B11F1DC3-04B1-9A4A-AC4D-FE9A92ED77C2}"/>
    <dgm:cxn modelId="{4F516336-8F35-CB41-B289-DA52B405732A}" type="presOf" srcId="{4082BFF7-60B1-8340-B9CA-E5DE81EF2D7F}" destId="{24AB1D94-B983-3E4D-8325-3ECF8523D4B7}" srcOrd="0" destOrd="0" presId="urn:microsoft.com/office/officeart/2005/8/layout/hChevron3"/>
    <dgm:cxn modelId="{6CE8F943-1439-F147-9F9B-03081E4E41DF}" type="presOf" srcId="{7603B473-DBD5-E145-8681-67EDBA9B6B4B}" destId="{A579A29D-F228-A346-A356-4129FDEB43D1}" srcOrd="0" destOrd="0" presId="urn:microsoft.com/office/officeart/2005/8/layout/hChevron3"/>
    <dgm:cxn modelId="{7902F54F-6874-3D4B-8356-E78F7E4FBDEA}" srcId="{0BE8AFBC-BA5B-F444-ACAE-FE11352C6385}" destId="{4082BFF7-60B1-8340-B9CA-E5DE81EF2D7F}" srcOrd="3" destOrd="0" parTransId="{B19E2420-F6A5-2D40-B4CA-5BF003B22A24}" sibTransId="{4C6FEC2A-FFAD-D140-8695-0F34C0997235}"/>
    <dgm:cxn modelId="{8D0F4674-0157-0A40-8A2B-15C64C2BBF2F}" type="presOf" srcId="{3BFDE67B-7FE9-0E4A-9F76-970A8D89C425}" destId="{038E0549-03A2-F141-8066-7E8027D67BD7}" srcOrd="0" destOrd="0" presId="urn:microsoft.com/office/officeart/2005/8/layout/hChevron3"/>
    <dgm:cxn modelId="{53D33E86-03E0-BA44-8C65-2735ADBF9B43}" type="presOf" srcId="{8EEE2B7E-FEA8-2841-9330-D657670BA65A}" destId="{75FC1705-EFC2-DC49-974C-4082D5F688A4}" srcOrd="0" destOrd="0" presId="urn:microsoft.com/office/officeart/2005/8/layout/hChevron3"/>
    <dgm:cxn modelId="{21122F98-9D00-0740-9514-19138D07000E}" srcId="{0BE8AFBC-BA5B-F444-ACAE-FE11352C6385}" destId="{3BFDE67B-7FE9-0E4A-9F76-970A8D89C425}" srcOrd="2" destOrd="0" parTransId="{16068524-A248-BD45-9834-8DE9B8CA2E61}" sibTransId="{55D0ECF1-3CA7-B540-9A2E-C4C752DC41E2}"/>
    <dgm:cxn modelId="{48FFD7B5-374A-2B43-A78C-C2FF1C3E20D1}" srcId="{0BE8AFBC-BA5B-F444-ACAE-FE11352C6385}" destId="{7603B473-DBD5-E145-8681-67EDBA9B6B4B}" srcOrd="1" destOrd="0" parTransId="{EA094F26-ABD1-A746-808E-FF865DE2F039}" sibTransId="{6108CCC8-64CD-2642-9492-C5914C8FBAFD}"/>
    <dgm:cxn modelId="{076651F1-3CBE-8B44-9EAF-3072FB514B00}" srcId="{0BE8AFBC-BA5B-F444-ACAE-FE11352C6385}" destId="{15AD007E-50C9-3A41-B63C-9F1269A07150}" srcOrd="4" destOrd="0" parTransId="{FB720988-3BC0-BC40-AC19-A407023D3A3F}" sibTransId="{4312D9F1-C78C-6C40-BAE4-DCEB223E208D}"/>
    <dgm:cxn modelId="{69264297-14AB-5845-A915-DFDDF79C8F67}" type="presParOf" srcId="{AFFECF99-DE3A-3E48-AD82-DE0C632542DC}" destId="{75FC1705-EFC2-DC49-974C-4082D5F688A4}" srcOrd="0" destOrd="0" presId="urn:microsoft.com/office/officeart/2005/8/layout/hChevron3"/>
    <dgm:cxn modelId="{BE304EB2-3A94-8148-9E3F-A59D7EBAE284}" type="presParOf" srcId="{AFFECF99-DE3A-3E48-AD82-DE0C632542DC}" destId="{2398453E-8F02-0146-8831-DA24307367AE}" srcOrd="1" destOrd="0" presId="urn:microsoft.com/office/officeart/2005/8/layout/hChevron3"/>
    <dgm:cxn modelId="{E40FC876-8DC9-0A4D-B904-9F098EDFEEAF}" type="presParOf" srcId="{AFFECF99-DE3A-3E48-AD82-DE0C632542DC}" destId="{A579A29D-F228-A346-A356-4129FDEB43D1}" srcOrd="2" destOrd="0" presId="urn:microsoft.com/office/officeart/2005/8/layout/hChevron3"/>
    <dgm:cxn modelId="{606C3D10-20C5-654B-B663-158B40BE97B7}" type="presParOf" srcId="{AFFECF99-DE3A-3E48-AD82-DE0C632542DC}" destId="{DB65CB43-07E1-4543-8C77-94A5F96A140B}" srcOrd="3" destOrd="0" presId="urn:microsoft.com/office/officeart/2005/8/layout/hChevron3"/>
    <dgm:cxn modelId="{39A7B751-01D7-8A43-A0C3-A6632CA84664}" type="presParOf" srcId="{AFFECF99-DE3A-3E48-AD82-DE0C632542DC}" destId="{038E0549-03A2-F141-8066-7E8027D67BD7}" srcOrd="4" destOrd="0" presId="urn:microsoft.com/office/officeart/2005/8/layout/hChevron3"/>
    <dgm:cxn modelId="{61EE2288-EFE7-1243-B521-9B5BDE197A82}" type="presParOf" srcId="{AFFECF99-DE3A-3E48-AD82-DE0C632542DC}" destId="{0DB84E49-AAA6-D64E-BCD6-7A84EF50CA10}" srcOrd="5" destOrd="0" presId="urn:microsoft.com/office/officeart/2005/8/layout/hChevron3"/>
    <dgm:cxn modelId="{2E4F581F-ADC7-6A46-B145-07E20692C400}" type="presParOf" srcId="{AFFECF99-DE3A-3E48-AD82-DE0C632542DC}" destId="{24AB1D94-B983-3E4D-8325-3ECF8523D4B7}" srcOrd="6" destOrd="0" presId="urn:microsoft.com/office/officeart/2005/8/layout/hChevron3"/>
    <dgm:cxn modelId="{7EAB5BFC-0641-E944-8444-6DF3103D886D}" type="presParOf" srcId="{AFFECF99-DE3A-3E48-AD82-DE0C632542DC}" destId="{69D94FB2-8235-364E-888B-BE0BA7925B18}" srcOrd="7" destOrd="0" presId="urn:microsoft.com/office/officeart/2005/8/layout/hChevron3"/>
    <dgm:cxn modelId="{188A5C24-3983-FD40-BDC0-5B86C28F08BB}" type="presParOf" srcId="{AFFECF99-DE3A-3E48-AD82-DE0C632542DC}" destId="{56ACEC28-C922-6D47-8B9F-4D4130B130BD}" srcOrd="8" destOrd="0" presId="urn:microsoft.com/office/officeart/2005/8/layout/hChevron3"/>
  </dgm:cxnLst>
  <dgm:bg>
    <a:solidFill>
      <a:schemeClr val="bg1"/>
    </a:soli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BE8AFBC-BA5B-F444-ACAE-FE11352C6385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EEE2B7E-FEA8-2841-9330-D657670BA65A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Industry Background</a:t>
          </a:r>
        </a:p>
      </dgm:t>
    </dgm:pt>
    <dgm:pt modelId="{20DC5649-B805-BE49-A5B3-B2C19A5DCD2E}" type="parTrans" cxnId="{D9CEC529-92C5-6D4A-BF6E-36936BC6451C}">
      <dgm:prSet/>
      <dgm:spPr/>
      <dgm:t>
        <a:bodyPr/>
        <a:lstStyle/>
        <a:p>
          <a:endParaRPr lang="en-US"/>
        </a:p>
      </dgm:t>
    </dgm:pt>
    <dgm:pt modelId="{B11F1DC3-04B1-9A4A-AC4D-FE9A92ED77C2}" type="sibTrans" cxnId="{D9CEC529-92C5-6D4A-BF6E-36936BC6451C}">
      <dgm:prSet/>
      <dgm:spPr/>
      <dgm:t>
        <a:bodyPr/>
        <a:lstStyle/>
        <a:p>
          <a:endParaRPr lang="en-US"/>
        </a:p>
      </dgm:t>
    </dgm:pt>
    <dgm:pt modelId="{7603B473-DBD5-E145-8681-67EDBA9B6B4B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Demand Model</a:t>
          </a:r>
        </a:p>
      </dgm:t>
    </dgm:pt>
    <dgm:pt modelId="{EA094F26-ABD1-A746-808E-FF865DE2F039}" type="parTrans" cxnId="{48FFD7B5-374A-2B43-A78C-C2FF1C3E20D1}">
      <dgm:prSet/>
      <dgm:spPr/>
      <dgm:t>
        <a:bodyPr/>
        <a:lstStyle/>
        <a:p>
          <a:endParaRPr lang="en-US"/>
        </a:p>
      </dgm:t>
    </dgm:pt>
    <dgm:pt modelId="{6108CCC8-64CD-2642-9492-C5914C8FBAFD}" type="sibTrans" cxnId="{48FFD7B5-374A-2B43-A78C-C2FF1C3E20D1}">
      <dgm:prSet/>
      <dgm:spPr/>
      <dgm:t>
        <a:bodyPr/>
        <a:lstStyle/>
        <a:p>
          <a:endParaRPr lang="en-US"/>
        </a:p>
      </dgm:t>
    </dgm:pt>
    <dgm:pt modelId="{3BFDE67B-7FE9-0E4A-9F76-970A8D89C425}">
      <dgm:prSet phldrT="[Text]"/>
      <dgm:spPr>
        <a:solidFill>
          <a:schemeClr val="tx1"/>
        </a:solidFill>
      </dgm:spPr>
      <dgm:t>
        <a:bodyPr lIns="0" rIns="365760"/>
        <a:lstStyle/>
        <a:p>
          <a:pPr algn="ctr"/>
          <a:r>
            <a:rPr lang="en-US" b="0" i="0">
              <a:latin typeface="Avenir Next LT Pro" panose="020B0504020202020204" pitchFamily="34" charset="77"/>
            </a:rPr>
            <a:t>Product Features</a:t>
          </a:r>
        </a:p>
      </dgm:t>
    </dgm:pt>
    <dgm:pt modelId="{16068524-A248-BD45-9834-8DE9B8CA2E61}" type="parTrans" cxnId="{21122F98-9D00-0740-9514-19138D07000E}">
      <dgm:prSet/>
      <dgm:spPr/>
      <dgm:t>
        <a:bodyPr/>
        <a:lstStyle/>
        <a:p>
          <a:endParaRPr lang="en-US"/>
        </a:p>
      </dgm:t>
    </dgm:pt>
    <dgm:pt modelId="{55D0ECF1-3CA7-B540-9A2E-C4C752DC41E2}" type="sibTrans" cxnId="{21122F98-9D00-0740-9514-19138D07000E}">
      <dgm:prSet/>
      <dgm:spPr/>
      <dgm:t>
        <a:bodyPr/>
        <a:lstStyle/>
        <a:p>
          <a:endParaRPr lang="en-US"/>
        </a:p>
      </dgm:t>
    </dgm:pt>
    <dgm:pt modelId="{4082BFF7-60B1-8340-B9CA-E5DE81EF2D7F}">
      <dgm:prSet phldrT="[Text]"/>
      <dgm:spPr>
        <a:solidFill>
          <a:schemeClr val="tx1"/>
        </a:solidFill>
      </dgm:spPr>
      <dgm:t>
        <a:bodyPr/>
        <a:lstStyle/>
        <a:p>
          <a:pPr algn="ctr"/>
          <a:r>
            <a:rPr lang="en-US" b="0">
              <a:latin typeface="Avenir Next LT Pro" panose="020B0504020202020204" pitchFamily="34" charset="77"/>
            </a:rPr>
            <a:t>Pricing Analysis</a:t>
          </a:r>
        </a:p>
      </dgm:t>
    </dgm:pt>
    <dgm:pt modelId="{B19E2420-F6A5-2D40-B4CA-5BF003B22A24}" type="parTrans" cxnId="{7902F54F-6874-3D4B-8356-E78F7E4FBDEA}">
      <dgm:prSet/>
      <dgm:spPr/>
      <dgm:t>
        <a:bodyPr/>
        <a:lstStyle/>
        <a:p>
          <a:endParaRPr lang="en-US"/>
        </a:p>
      </dgm:t>
    </dgm:pt>
    <dgm:pt modelId="{4C6FEC2A-FFAD-D140-8695-0F34C0997235}" type="sibTrans" cxnId="{7902F54F-6874-3D4B-8356-E78F7E4FBDEA}">
      <dgm:prSet/>
      <dgm:spPr/>
      <dgm:t>
        <a:bodyPr/>
        <a:lstStyle/>
        <a:p>
          <a:endParaRPr lang="en-US"/>
        </a:p>
      </dgm:t>
    </dgm:pt>
    <dgm:pt modelId="{15AD007E-50C9-3A41-B63C-9F1269A07150}">
      <dgm:prSet phldrT="[Text]"/>
      <dgm:spPr>
        <a:solidFill>
          <a:srgbClr val="A9C861"/>
        </a:solidFill>
      </dgm:spPr>
      <dgm:t>
        <a:bodyPr/>
        <a:lstStyle/>
        <a:p>
          <a:pPr algn="ctr"/>
          <a:r>
            <a:rPr lang="en-US" b="1">
              <a:latin typeface="Avenir Next LT Pro" panose="020B0504020202020204" pitchFamily="34" charset="77"/>
            </a:rPr>
            <a:t>Competitive Positioning</a:t>
          </a:r>
        </a:p>
      </dgm:t>
    </dgm:pt>
    <dgm:pt modelId="{FB720988-3BC0-BC40-AC19-A407023D3A3F}" type="parTrans" cxnId="{076651F1-3CBE-8B44-9EAF-3072FB514B00}">
      <dgm:prSet/>
      <dgm:spPr/>
      <dgm:t>
        <a:bodyPr/>
        <a:lstStyle/>
        <a:p>
          <a:endParaRPr lang="en-US"/>
        </a:p>
      </dgm:t>
    </dgm:pt>
    <dgm:pt modelId="{4312D9F1-C78C-6C40-BAE4-DCEB223E208D}" type="sibTrans" cxnId="{076651F1-3CBE-8B44-9EAF-3072FB514B00}">
      <dgm:prSet/>
      <dgm:spPr/>
      <dgm:t>
        <a:bodyPr/>
        <a:lstStyle/>
        <a:p>
          <a:endParaRPr lang="en-US"/>
        </a:p>
      </dgm:t>
    </dgm:pt>
    <dgm:pt modelId="{AFFECF99-DE3A-3E48-AD82-DE0C632542DC}" type="pres">
      <dgm:prSet presAssocID="{0BE8AFBC-BA5B-F444-ACAE-FE11352C6385}" presName="Name0" presStyleCnt="0">
        <dgm:presLayoutVars>
          <dgm:dir/>
          <dgm:resizeHandles val="exact"/>
        </dgm:presLayoutVars>
      </dgm:prSet>
      <dgm:spPr/>
    </dgm:pt>
    <dgm:pt modelId="{75FC1705-EFC2-DC49-974C-4082D5F688A4}" type="pres">
      <dgm:prSet presAssocID="{8EEE2B7E-FEA8-2841-9330-D657670BA65A}" presName="parTxOnly" presStyleLbl="node1" presStyleIdx="0" presStyleCnt="5" custScaleX="143173" custScaleY="86006">
        <dgm:presLayoutVars>
          <dgm:bulletEnabled val="1"/>
        </dgm:presLayoutVars>
      </dgm:prSet>
      <dgm:spPr/>
    </dgm:pt>
    <dgm:pt modelId="{2398453E-8F02-0146-8831-DA24307367AE}" type="pres">
      <dgm:prSet presAssocID="{B11F1DC3-04B1-9A4A-AC4D-FE9A92ED77C2}" presName="parSpace" presStyleCnt="0"/>
      <dgm:spPr/>
    </dgm:pt>
    <dgm:pt modelId="{A579A29D-F228-A346-A356-4129FDEB43D1}" type="pres">
      <dgm:prSet presAssocID="{7603B473-DBD5-E145-8681-67EDBA9B6B4B}" presName="parTxOnly" presStyleLbl="node1" presStyleIdx="1" presStyleCnt="5" custScaleX="141611" custLinFactNeighborX="42167" custLinFactNeighborY="-3443">
        <dgm:presLayoutVars>
          <dgm:bulletEnabled val="1"/>
        </dgm:presLayoutVars>
      </dgm:prSet>
      <dgm:spPr/>
    </dgm:pt>
    <dgm:pt modelId="{DB65CB43-07E1-4543-8C77-94A5F96A140B}" type="pres">
      <dgm:prSet presAssocID="{6108CCC8-64CD-2642-9492-C5914C8FBAFD}" presName="parSpace" presStyleCnt="0"/>
      <dgm:spPr/>
    </dgm:pt>
    <dgm:pt modelId="{038E0549-03A2-F141-8066-7E8027D67BD7}" type="pres">
      <dgm:prSet presAssocID="{3BFDE67B-7FE9-0E4A-9F76-970A8D89C425}" presName="parTxOnly" presStyleLbl="node1" presStyleIdx="2" presStyleCnt="5" custScaleX="147710" custLinFactNeighborX="86349" custLinFactNeighborY="10239">
        <dgm:presLayoutVars>
          <dgm:bulletEnabled val="1"/>
        </dgm:presLayoutVars>
      </dgm:prSet>
      <dgm:spPr/>
    </dgm:pt>
    <dgm:pt modelId="{0DB84E49-AAA6-D64E-BCD6-7A84EF50CA10}" type="pres">
      <dgm:prSet presAssocID="{55D0ECF1-3CA7-B540-9A2E-C4C752DC41E2}" presName="parSpace" presStyleCnt="0"/>
      <dgm:spPr/>
    </dgm:pt>
    <dgm:pt modelId="{24AB1D94-B983-3E4D-8325-3ECF8523D4B7}" type="pres">
      <dgm:prSet presAssocID="{4082BFF7-60B1-8340-B9CA-E5DE81EF2D7F}" presName="parTxOnly" presStyleLbl="node1" presStyleIdx="3" presStyleCnt="5" custScaleX="145793" custScaleY="81791">
        <dgm:presLayoutVars>
          <dgm:bulletEnabled val="1"/>
        </dgm:presLayoutVars>
      </dgm:prSet>
      <dgm:spPr/>
    </dgm:pt>
    <dgm:pt modelId="{69D94FB2-8235-364E-888B-BE0BA7925B18}" type="pres">
      <dgm:prSet presAssocID="{4C6FEC2A-FFAD-D140-8695-0F34C0997235}" presName="parSpace" presStyleCnt="0"/>
      <dgm:spPr/>
    </dgm:pt>
    <dgm:pt modelId="{56ACEC28-C922-6D47-8B9F-4D4130B130BD}" type="pres">
      <dgm:prSet presAssocID="{15AD007E-50C9-3A41-B63C-9F1269A07150}" presName="parTxOnly" presStyleLbl="node1" presStyleIdx="4" presStyleCnt="5" custScaleX="171661" custScaleY="95099">
        <dgm:presLayoutVars>
          <dgm:bulletEnabled val="1"/>
        </dgm:presLayoutVars>
      </dgm:prSet>
      <dgm:spPr/>
    </dgm:pt>
  </dgm:ptLst>
  <dgm:cxnLst>
    <dgm:cxn modelId="{489F4308-C2EA-AF49-A439-DB41AF134AA4}" type="presOf" srcId="{15AD007E-50C9-3A41-B63C-9F1269A07150}" destId="{56ACEC28-C922-6D47-8B9F-4D4130B130BD}" srcOrd="0" destOrd="0" presId="urn:microsoft.com/office/officeart/2005/8/layout/hChevron3"/>
    <dgm:cxn modelId="{AF587C1E-276E-F642-B989-2AEE7B81FA4C}" type="presOf" srcId="{0BE8AFBC-BA5B-F444-ACAE-FE11352C6385}" destId="{AFFECF99-DE3A-3E48-AD82-DE0C632542DC}" srcOrd="0" destOrd="0" presId="urn:microsoft.com/office/officeart/2005/8/layout/hChevron3"/>
    <dgm:cxn modelId="{D9CEC529-92C5-6D4A-BF6E-36936BC6451C}" srcId="{0BE8AFBC-BA5B-F444-ACAE-FE11352C6385}" destId="{8EEE2B7E-FEA8-2841-9330-D657670BA65A}" srcOrd="0" destOrd="0" parTransId="{20DC5649-B805-BE49-A5B3-B2C19A5DCD2E}" sibTransId="{B11F1DC3-04B1-9A4A-AC4D-FE9A92ED77C2}"/>
    <dgm:cxn modelId="{4F516336-8F35-CB41-B289-DA52B405732A}" type="presOf" srcId="{4082BFF7-60B1-8340-B9CA-E5DE81EF2D7F}" destId="{24AB1D94-B983-3E4D-8325-3ECF8523D4B7}" srcOrd="0" destOrd="0" presId="urn:microsoft.com/office/officeart/2005/8/layout/hChevron3"/>
    <dgm:cxn modelId="{6CE8F943-1439-F147-9F9B-03081E4E41DF}" type="presOf" srcId="{7603B473-DBD5-E145-8681-67EDBA9B6B4B}" destId="{A579A29D-F228-A346-A356-4129FDEB43D1}" srcOrd="0" destOrd="0" presId="urn:microsoft.com/office/officeart/2005/8/layout/hChevron3"/>
    <dgm:cxn modelId="{7902F54F-6874-3D4B-8356-E78F7E4FBDEA}" srcId="{0BE8AFBC-BA5B-F444-ACAE-FE11352C6385}" destId="{4082BFF7-60B1-8340-B9CA-E5DE81EF2D7F}" srcOrd="3" destOrd="0" parTransId="{B19E2420-F6A5-2D40-B4CA-5BF003B22A24}" sibTransId="{4C6FEC2A-FFAD-D140-8695-0F34C0997235}"/>
    <dgm:cxn modelId="{8D0F4674-0157-0A40-8A2B-15C64C2BBF2F}" type="presOf" srcId="{3BFDE67B-7FE9-0E4A-9F76-970A8D89C425}" destId="{038E0549-03A2-F141-8066-7E8027D67BD7}" srcOrd="0" destOrd="0" presId="urn:microsoft.com/office/officeart/2005/8/layout/hChevron3"/>
    <dgm:cxn modelId="{53D33E86-03E0-BA44-8C65-2735ADBF9B43}" type="presOf" srcId="{8EEE2B7E-FEA8-2841-9330-D657670BA65A}" destId="{75FC1705-EFC2-DC49-974C-4082D5F688A4}" srcOrd="0" destOrd="0" presId="urn:microsoft.com/office/officeart/2005/8/layout/hChevron3"/>
    <dgm:cxn modelId="{21122F98-9D00-0740-9514-19138D07000E}" srcId="{0BE8AFBC-BA5B-F444-ACAE-FE11352C6385}" destId="{3BFDE67B-7FE9-0E4A-9F76-970A8D89C425}" srcOrd="2" destOrd="0" parTransId="{16068524-A248-BD45-9834-8DE9B8CA2E61}" sibTransId="{55D0ECF1-3CA7-B540-9A2E-C4C752DC41E2}"/>
    <dgm:cxn modelId="{48FFD7B5-374A-2B43-A78C-C2FF1C3E20D1}" srcId="{0BE8AFBC-BA5B-F444-ACAE-FE11352C6385}" destId="{7603B473-DBD5-E145-8681-67EDBA9B6B4B}" srcOrd="1" destOrd="0" parTransId="{EA094F26-ABD1-A746-808E-FF865DE2F039}" sibTransId="{6108CCC8-64CD-2642-9492-C5914C8FBAFD}"/>
    <dgm:cxn modelId="{076651F1-3CBE-8B44-9EAF-3072FB514B00}" srcId="{0BE8AFBC-BA5B-F444-ACAE-FE11352C6385}" destId="{15AD007E-50C9-3A41-B63C-9F1269A07150}" srcOrd="4" destOrd="0" parTransId="{FB720988-3BC0-BC40-AC19-A407023D3A3F}" sibTransId="{4312D9F1-C78C-6C40-BAE4-DCEB223E208D}"/>
    <dgm:cxn modelId="{69264297-14AB-5845-A915-DFDDF79C8F67}" type="presParOf" srcId="{AFFECF99-DE3A-3E48-AD82-DE0C632542DC}" destId="{75FC1705-EFC2-DC49-974C-4082D5F688A4}" srcOrd="0" destOrd="0" presId="urn:microsoft.com/office/officeart/2005/8/layout/hChevron3"/>
    <dgm:cxn modelId="{BE304EB2-3A94-8148-9E3F-A59D7EBAE284}" type="presParOf" srcId="{AFFECF99-DE3A-3E48-AD82-DE0C632542DC}" destId="{2398453E-8F02-0146-8831-DA24307367AE}" srcOrd="1" destOrd="0" presId="urn:microsoft.com/office/officeart/2005/8/layout/hChevron3"/>
    <dgm:cxn modelId="{E40FC876-8DC9-0A4D-B904-9F098EDFEEAF}" type="presParOf" srcId="{AFFECF99-DE3A-3E48-AD82-DE0C632542DC}" destId="{A579A29D-F228-A346-A356-4129FDEB43D1}" srcOrd="2" destOrd="0" presId="urn:microsoft.com/office/officeart/2005/8/layout/hChevron3"/>
    <dgm:cxn modelId="{606C3D10-20C5-654B-B663-158B40BE97B7}" type="presParOf" srcId="{AFFECF99-DE3A-3E48-AD82-DE0C632542DC}" destId="{DB65CB43-07E1-4543-8C77-94A5F96A140B}" srcOrd="3" destOrd="0" presId="urn:microsoft.com/office/officeart/2005/8/layout/hChevron3"/>
    <dgm:cxn modelId="{39A7B751-01D7-8A43-A0C3-A6632CA84664}" type="presParOf" srcId="{AFFECF99-DE3A-3E48-AD82-DE0C632542DC}" destId="{038E0549-03A2-F141-8066-7E8027D67BD7}" srcOrd="4" destOrd="0" presId="urn:microsoft.com/office/officeart/2005/8/layout/hChevron3"/>
    <dgm:cxn modelId="{61EE2288-EFE7-1243-B521-9B5BDE197A82}" type="presParOf" srcId="{AFFECF99-DE3A-3E48-AD82-DE0C632542DC}" destId="{0DB84E49-AAA6-D64E-BCD6-7A84EF50CA10}" srcOrd="5" destOrd="0" presId="urn:microsoft.com/office/officeart/2005/8/layout/hChevron3"/>
    <dgm:cxn modelId="{2E4F581F-ADC7-6A46-B145-07E20692C400}" type="presParOf" srcId="{AFFECF99-DE3A-3E48-AD82-DE0C632542DC}" destId="{24AB1D94-B983-3E4D-8325-3ECF8523D4B7}" srcOrd="6" destOrd="0" presId="urn:microsoft.com/office/officeart/2005/8/layout/hChevron3"/>
    <dgm:cxn modelId="{7EAB5BFC-0641-E944-8444-6DF3103D886D}" type="presParOf" srcId="{AFFECF99-DE3A-3E48-AD82-DE0C632542DC}" destId="{69D94FB2-8235-364E-888B-BE0BA7925B18}" srcOrd="7" destOrd="0" presId="urn:microsoft.com/office/officeart/2005/8/layout/hChevron3"/>
    <dgm:cxn modelId="{188A5C24-3983-FD40-BDC0-5B86C28F08BB}" type="presParOf" srcId="{AFFECF99-DE3A-3E48-AD82-DE0C632542DC}" destId="{56ACEC28-C922-6D47-8B9F-4D4130B130BD}" srcOrd="8" destOrd="0" presId="urn:microsoft.com/office/officeart/2005/8/layout/hChevron3"/>
  </dgm:cxnLst>
  <dgm:bg>
    <a:solidFill>
      <a:schemeClr val="bg1"/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C1705-EFC2-DC49-974C-4082D5F688A4}">
      <dsp:nvSpPr>
        <dsp:cNvPr id="0" name=""/>
        <dsp:cNvSpPr/>
      </dsp:nvSpPr>
      <dsp:spPr>
        <a:xfrm>
          <a:off x="268" y="0"/>
          <a:ext cx="2448281" cy="298215"/>
        </a:xfrm>
        <a:prstGeom prst="homePlate">
          <a:avLst/>
        </a:prstGeom>
        <a:solidFill>
          <a:srgbClr val="A9C86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>
              <a:latin typeface="Avenir Next LT Pro" panose="020B0504020202020204" pitchFamily="34" charset="77"/>
            </a:rPr>
            <a:t>Industry Background</a:t>
          </a:r>
        </a:p>
      </dsp:txBody>
      <dsp:txXfrm>
        <a:off x="268" y="0"/>
        <a:ext cx="2373727" cy="298215"/>
      </dsp:txXfrm>
    </dsp:sp>
    <dsp:sp modelId="{A579A29D-F228-A346-A356-4129FDEB43D1}">
      <dsp:nvSpPr>
        <dsp:cNvPr id="0" name=""/>
        <dsp:cNvSpPr/>
      </dsp:nvSpPr>
      <dsp:spPr>
        <a:xfrm>
          <a:off x="2250759" y="0"/>
          <a:ext cx="2421571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Demand Model</a:t>
          </a:r>
        </a:p>
      </dsp:txBody>
      <dsp:txXfrm>
        <a:off x="2399867" y="0"/>
        <a:ext cx="2123356" cy="298215"/>
      </dsp:txXfrm>
    </dsp:sp>
    <dsp:sp modelId="{038E0549-03A2-F141-8066-7E8027D67BD7}">
      <dsp:nvSpPr>
        <dsp:cNvPr id="0" name=""/>
        <dsp:cNvSpPr/>
      </dsp:nvSpPr>
      <dsp:spPr>
        <a:xfrm>
          <a:off x="4481431" y="0"/>
          <a:ext cx="2525865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40005" rIns="365760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>
              <a:latin typeface="Avenir Next LT Pro" panose="020B0504020202020204" pitchFamily="34" charset="77"/>
            </a:rPr>
            <a:t>Product Features</a:t>
          </a:r>
        </a:p>
      </dsp:txBody>
      <dsp:txXfrm>
        <a:off x="4630539" y="0"/>
        <a:ext cx="2227650" cy="298215"/>
      </dsp:txXfrm>
    </dsp:sp>
    <dsp:sp modelId="{24AB1D94-B983-3E4D-8325-3ECF8523D4B7}">
      <dsp:nvSpPr>
        <dsp:cNvPr id="0" name=""/>
        <dsp:cNvSpPr/>
      </dsp:nvSpPr>
      <dsp:spPr>
        <a:xfrm>
          <a:off x="6369976" y="0"/>
          <a:ext cx="2493084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Pricing Analysis</a:t>
          </a:r>
        </a:p>
      </dsp:txBody>
      <dsp:txXfrm>
        <a:off x="6519084" y="0"/>
        <a:ext cx="2194869" cy="298215"/>
      </dsp:txXfrm>
    </dsp:sp>
    <dsp:sp modelId="{56ACEC28-C922-6D47-8B9F-4D4130B130BD}">
      <dsp:nvSpPr>
        <dsp:cNvPr id="0" name=""/>
        <dsp:cNvSpPr/>
      </dsp:nvSpPr>
      <dsp:spPr>
        <a:xfrm>
          <a:off x="8521057" y="0"/>
          <a:ext cx="2508953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Competitive Positioning</a:t>
          </a:r>
        </a:p>
      </dsp:txBody>
      <dsp:txXfrm>
        <a:off x="8670165" y="0"/>
        <a:ext cx="2210738" cy="2982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C1705-EFC2-DC49-974C-4082D5F688A4}">
      <dsp:nvSpPr>
        <dsp:cNvPr id="0" name=""/>
        <dsp:cNvSpPr/>
      </dsp:nvSpPr>
      <dsp:spPr>
        <a:xfrm>
          <a:off x="268" y="0"/>
          <a:ext cx="2448281" cy="298215"/>
        </a:xfrm>
        <a:prstGeom prst="homePlate">
          <a:avLst/>
        </a:prstGeom>
        <a:solidFill>
          <a:srgbClr val="A9C86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>
              <a:latin typeface="Avenir Next LT Pro" panose="020B0504020202020204" pitchFamily="34" charset="77"/>
            </a:rPr>
            <a:t>Industry Background</a:t>
          </a:r>
        </a:p>
      </dsp:txBody>
      <dsp:txXfrm>
        <a:off x="268" y="0"/>
        <a:ext cx="2373727" cy="298215"/>
      </dsp:txXfrm>
    </dsp:sp>
    <dsp:sp modelId="{A579A29D-F228-A346-A356-4129FDEB43D1}">
      <dsp:nvSpPr>
        <dsp:cNvPr id="0" name=""/>
        <dsp:cNvSpPr/>
      </dsp:nvSpPr>
      <dsp:spPr>
        <a:xfrm>
          <a:off x="2250759" y="0"/>
          <a:ext cx="2421571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Demand Model</a:t>
          </a:r>
        </a:p>
      </dsp:txBody>
      <dsp:txXfrm>
        <a:off x="2399867" y="0"/>
        <a:ext cx="2123356" cy="298215"/>
      </dsp:txXfrm>
    </dsp:sp>
    <dsp:sp modelId="{038E0549-03A2-F141-8066-7E8027D67BD7}">
      <dsp:nvSpPr>
        <dsp:cNvPr id="0" name=""/>
        <dsp:cNvSpPr/>
      </dsp:nvSpPr>
      <dsp:spPr>
        <a:xfrm>
          <a:off x="4481431" y="0"/>
          <a:ext cx="2525865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40005" rIns="365760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>
              <a:latin typeface="Avenir Next LT Pro" panose="020B0504020202020204" pitchFamily="34" charset="77"/>
            </a:rPr>
            <a:t>Product Features</a:t>
          </a:r>
        </a:p>
      </dsp:txBody>
      <dsp:txXfrm>
        <a:off x="4630539" y="0"/>
        <a:ext cx="2227650" cy="298215"/>
      </dsp:txXfrm>
    </dsp:sp>
    <dsp:sp modelId="{24AB1D94-B983-3E4D-8325-3ECF8523D4B7}">
      <dsp:nvSpPr>
        <dsp:cNvPr id="0" name=""/>
        <dsp:cNvSpPr/>
      </dsp:nvSpPr>
      <dsp:spPr>
        <a:xfrm>
          <a:off x="6369976" y="0"/>
          <a:ext cx="2493084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Pricing Analysis</a:t>
          </a:r>
        </a:p>
      </dsp:txBody>
      <dsp:txXfrm>
        <a:off x="6519084" y="0"/>
        <a:ext cx="2194869" cy="298215"/>
      </dsp:txXfrm>
    </dsp:sp>
    <dsp:sp modelId="{56ACEC28-C922-6D47-8B9F-4D4130B130BD}">
      <dsp:nvSpPr>
        <dsp:cNvPr id="0" name=""/>
        <dsp:cNvSpPr/>
      </dsp:nvSpPr>
      <dsp:spPr>
        <a:xfrm>
          <a:off x="8521057" y="0"/>
          <a:ext cx="2508953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Competitive Positioning</a:t>
          </a:r>
        </a:p>
      </dsp:txBody>
      <dsp:txXfrm>
        <a:off x="8670165" y="0"/>
        <a:ext cx="2210738" cy="2982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C1705-EFC2-DC49-974C-4082D5F688A4}">
      <dsp:nvSpPr>
        <dsp:cNvPr id="0" name=""/>
        <dsp:cNvSpPr/>
      </dsp:nvSpPr>
      <dsp:spPr>
        <a:xfrm>
          <a:off x="268" y="0"/>
          <a:ext cx="2448281" cy="298215"/>
        </a:xfrm>
        <a:prstGeom prst="homePlate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Industry Background</a:t>
          </a:r>
        </a:p>
      </dsp:txBody>
      <dsp:txXfrm>
        <a:off x="268" y="0"/>
        <a:ext cx="2373727" cy="298215"/>
      </dsp:txXfrm>
    </dsp:sp>
    <dsp:sp modelId="{A579A29D-F228-A346-A356-4129FDEB43D1}">
      <dsp:nvSpPr>
        <dsp:cNvPr id="0" name=""/>
        <dsp:cNvSpPr/>
      </dsp:nvSpPr>
      <dsp:spPr>
        <a:xfrm>
          <a:off x="2250759" y="0"/>
          <a:ext cx="2421571" cy="298215"/>
        </a:xfrm>
        <a:prstGeom prst="chevron">
          <a:avLst/>
        </a:prstGeom>
        <a:solidFill>
          <a:srgbClr val="A9C86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>
              <a:latin typeface="Avenir Next LT Pro" panose="020B0504020202020204" pitchFamily="34" charset="77"/>
            </a:rPr>
            <a:t>Demand Model</a:t>
          </a:r>
        </a:p>
      </dsp:txBody>
      <dsp:txXfrm>
        <a:off x="2399867" y="0"/>
        <a:ext cx="2123356" cy="298215"/>
      </dsp:txXfrm>
    </dsp:sp>
    <dsp:sp modelId="{038E0549-03A2-F141-8066-7E8027D67BD7}">
      <dsp:nvSpPr>
        <dsp:cNvPr id="0" name=""/>
        <dsp:cNvSpPr/>
      </dsp:nvSpPr>
      <dsp:spPr>
        <a:xfrm>
          <a:off x="4481431" y="0"/>
          <a:ext cx="2525865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40005" rIns="365760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>
              <a:latin typeface="Avenir Next LT Pro" panose="020B0504020202020204" pitchFamily="34" charset="77"/>
            </a:rPr>
            <a:t>Product Features</a:t>
          </a:r>
        </a:p>
      </dsp:txBody>
      <dsp:txXfrm>
        <a:off x="4630539" y="0"/>
        <a:ext cx="2227650" cy="298215"/>
      </dsp:txXfrm>
    </dsp:sp>
    <dsp:sp modelId="{24AB1D94-B983-3E4D-8325-3ECF8523D4B7}">
      <dsp:nvSpPr>
        <dsp:cNvPr id="0" name=""/>
        <dsp:cNvSpPr/>
      </dsp:nvSpPr>
      <dsp:spPr>
        <a:xfrm>
          <a:off x="6369976" y="0"/>
          <a:ext cx="2493084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Pricing Analysis</a:t>
          </a:r>
        </a:p>
      </dsp:txBody>
      <dsp:txXfrm>
        <a:off x="6519084" y="0"/>
        <a:ext cx="2194869" cy="298215"/>
      </dsp:txXfrm>
    </dsp:sp>
    <dsp:sp modelId="{56ACEC28-C922-6D47-8B9F-4D4130B130BD}">
      <dsp:nvSpPr>
        <dsp:cNvPr id="0" name=""/>
        <dsp:cNvSpPr/>
      </dsp:nvSpPr>
      <dsp:spPr>
        <a:xfrm>
          <a:off x="8521057" y="0"/>
          <a:ext cx="2508953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Competitive Positioning</a:t>
          </a:r>
        </a:p>
      </dsp:txBody>
      <dsp:txXfrm>
        <a:off x="8670165" y="0"/>
        <a:ext cx="2210738" cy="2982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C1705-EFC2-DC49-974C-4082D5F688A4}">
      <dsp:nvSpPr>
        <dsp:cNvPr id="0" name=""/>
        <dsp:cNvSpPr/>
      </dsp:nvSpPr>
      <dsp:spPr>
        <a:xfrm>
          <a:off x="268" y="0"/>
          <a:ext cx="2448281" cy="298215"/>
        </a:xfrm>
        <a:prstGeom prst="homePlate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latin typeface="Avenir Next LT Pro" panose="020B0504020202020204" pitchFamily="34" charset="77"/>
            </a:rPr>
            <a:t>Industry Background</a:t>
          </a:r>
        </a:p>
      </dsp:txBody>
      <dsp:txXfrm>
        <a:off x="268" y="0"/>
        <a:ext cx="2373727" cy="298215"/>
      </dsp:txXfrm>
    </dsp:sp>
    <dsp:sp modelId="{A579A29D-F228-A346-A356-4129FDEB43D1}">
      <dsp:nvSpPr>
        <dsp:cNvPr id="0" name=""/>
        <dsp:cNvSpPr/>
      </dsp:nvSpPr>
      <dsp:spPr>
        <a:xfrm>
          <a:off x="2250759" y="0"/>
          <a:ext cx="2421571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latin typeface="Avenir Next LT Pro" panose="020B0504020202020204" pitchFamily="34" charset="77"/>
            </a:rPr>
            <a:t>Demand Model</a:t>
          </a:r>
        </a:p>
      </dsp:txBody>
      <dsp:txXfrm>
        <a:off x="2399867" y="0"/>
        <a:ext cx="2123356" cy="298215"/>
      </dsp:txXfrm>
    </dsp:sp>
    <dsp:sp modelId="{038E0549-03A2-F141-8066-7E8027D67BD7}">
      <dsp:nvSpPr>
        <dsp:cNvPr id="0" name=""/>
        <dsp:cNvSpPr/>
      </dsp:nvSpPr>
      <dsp:spPr>
        <a:xfrm>
          <a:off x="4481431" y="0"/>
          <a:ext cx="2525865" cy="298215"/>
        </a:xfrm>
        <a:prstGeom prst="chevron">
          <a:avLst/>
        </a:prstGeom>
        <a:solidFill>
          <a:srgbClr val="A9C86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40005" rIns="365760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dirty="0">
              <a:latin typeface="Avenir Next LT Pro" panose="020B0504020202020204" pitchFamily="34" charset="77"/>
            </a:rPr>
            <a:t>Product Features</a:t>
          </a:r>
        </a:p>
      </dsp:txBody>
      <dsp:txXfrm>
        <a:off x="4630539" y="0"/>
        <a:ext cx="2227650" cy="298215"/>
      </dsp:txXfrm>
    </dsp:sp>
    <dsp:sp modelId="{24AB1D94-B983-3E4D-8325-3ECF8523D4B7}">
      <dsp:nvSpPr>
        <dsp:cNvPr id="0" name=""/>
        <dsp:cNvSpPr/>
      </dsp:nvSpPr>
      <dsp:spPr>
        <a:xfrm>
          <a:off x="6369976" y="0"/>
          <a:ext cx="2493084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latin typeface="Avenir Next LT Pro" panose="020B0504020202020204" pitchFamily="34" charset="77"/>
            </a:rPr>
            <a:t>Pricing Analysis</a:t>
          </a:r>
        </a:p>
      </dsp:txBody>
      <dsp:txXfrm>
        <a:off x="6519084" y="0"/>
        <a:ext cx="2194869" cy="298215"/>
      </dsp:txXfrm>
    </dsp:sp>
    <dsp:sp modelId="{56ACEC28-C922-6D47-8B9F-4D4130B130BD}">
      <dsp:nvSpPr>
        <dsp:cNvPr id="0" name=""/>
        <dsp:cNvSpPr/>
      </dsp:nvSpPr>
      <dsp:spPr>
        <a:xfrm>
          <a:off x="8521057" y="0"/>
          <a:ext cx="2508953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latin typeface="Avenir Next LT Pro" panose="020B0504020202020204" pitchFamily="34" charset="77"/>
            </a:rPr>
            <a:t>Competitive Positioning</a:t>
          </a:r>
        </a:p>
      </dsp:txBody>
      <dsp:txXfrm>
        <a:off x="8670165" y="0"/>
        <a:ext cx="2210738" cy="2982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C1705-EFC2-DC49-974C-4082D5F688A4}">
      <dsp:nvSpPr>
        <dsp:cNvPr id="0" name=""/>
        <dsp:cNvSpPr/>
      </dsp:nvSpPr>
      <dsp:spPr>
        <a:xfrm>
          <a:off x="268" y="0"/>
          <a:ext cx="2448281" cy="298215"/>
        </a:xfrm>
        <a:prstGeom prst="homePlate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Industry Background</a:t>
          </a:r>
        </a:p>
      </dsp:txBody>
      <dsp:txXfrm>
        <a:off x="268" y="0"/>
        <a:ext cx="2373727" cy="298215"/>
      </dsp:txXfrm>
    </dsp:sp>
    <dsp:sp modelId="{A579A29D-F228-A346-A356-4129FDEB43D1}">
      <dsp:nvSpPr>
        <dsp:cNvPr id="0" name=""/>
        <dsp:cNvSpPr/>
      </dsp:nvSpPr>
      <dsp:spPr>
        <a:xfrm>
          <a:off x="2250759" y="0"/>
          <a:ext cx="2421571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Demand Model</a:t>
          </a:r>
        </a:p>
      </dsp:txBody>
      <dsp:txXfrm>
        <a:off x="2399867" y="0"/>
        <a:ext cx="2123356" cy="298215"/>
      </dsp:txXfrm>
    </dsp:sp>
    <dsp:sp modelId="{038E0549-03A2-F141-8066-7E8027D67BD7}">
      <dsp:nvSpPr>
        <dsp:cNvPr id="0" name=""/>
        <dsp:cNvSpPr/>
      </dsp:nvSpPr>
      <dsp:spPr>
        <a:xfrm>
          <a:off x="4481431" y="0"/>
          <a:ext cx="2525865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40005" rIns="365760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>
              <a:latin typeface="Avenir Next LT Pro" panose="020B0504020202020204" pitchFamily="34" charset="77"/>
            </a:rPr>
            <a:t>Product Features</a:t>
          </a:r>
        </a:p>
      </dsp:txBody>
      <dsp:txXfrm>
        <a:off x="4630539" y="0"/>
        <a:ext cx="2227650" cy="298215"/>
      </dsp:txXfrm>
    </dsp:sp>
    <dsp:sp modelId="{24AB1D94-B983-3E4D-8325-3ECF8523D4B7}">
      <dsp:nvSpPr>
        <dsp:cNvPr id="0" name=""/>
        <dsp:cNvSpPr/>
      </dsp:nvSpPr>
      <dsp:spPr>
        <a:xfrm>
          <a:off x="6369976" y="0"/>
          <a:ext cx="2493084" cy="298215"/>
        </a:xfrm>
        <a:prstGeom prst="chevron">
          <a:avLst/>
        </a:prstGeom>
        <a:solidFill>
          <a:srgbClr val="A9C86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>
              <a:latin typeface="Avenir Next LT Pro" panose="020B0504020202020204" pitchFamily="34" charset="77"/>
            </a:rPr>
            <a:t>Pricing Analysis</a:t>
          </a:r>
        </a:p>
      </dsp:txBody>
      <dsp:txXfrm>
        <a:off x="6519084" y="0"/>
        <a:ext cx="2194869" cy="298215"/>
      </dsp:txXfrm>
    </dsp:sp>
    <dsp:sp modelId="{56ACEC28-C922-6D47-8B9F-4D4130B130BD}">
      <dsp:nvSpPr>
        <dsp:cNvPr id="0" name=""/>
        <dsp:cNvSpPr/>
      </dsp:nvSpPr>
      <dsp:spPr>
        <a:xfrm>
          <a:off x="8521057" y="0"/>
          <a:ext cx="2508953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Competitive Positioning</a:t>
          </a:r>
        </a:p>
      </dsp:txBody>
      <dsp:txXfrm>
        <a:off x="8670165" y="0"/>
        <a:ext cx="2210738" cy="29821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C1705-EFC2-DC49-974C-4082D5F688A4}">
      <dsp:nvSpPr>
        <dsp:cNvPr id="0" name=""/>
        <dsp:cNvSpPr/>
      </dsp:nvSpPr>
      <dsp:spPr>
        <a:xfrm>
          <a:off x="3524" y="0"/>
          <a:ext cx="2355748" cy="298215"/>
        </a:xfrm>
        <a:prstGeom prst="homePlate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Industry Background</a:t>
          </a:r>
        </a:p>
      </dsp:txBody>
      <dsp:txXfrm>
        <a:off x="3524" y="0"/>
        <a:ext cx="2281194" cy="298215"/>
      </dsp:txXfrm>
    </dsp:sp>
    <dsp:sp modelId="{A579A29D-F228-A346-A356-4129FDEB43D1}">
      <dsp:nvSpPr>
        <dsp:cNvPr id="0" name=""/>
        <dsp:cNvSpPr/>
      </dsp:nvSpPr>
      <dsp:spPr>
        <a:xfrm>
          <a:off x="2168957" y="0"/>
          <a:ext cx="2330047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Demand Model</a:t>
          </a:r>
        </a:p>
      </dsp:txBody>
      <dsp:txXfrm>
        <a:off x="2318065" y="0"/>
        <a:ext cx="2031832" cy="298215"/>
      </dsp:txXfrm>
    </dsp:sp>
    <dsp:sp modelId="{038E0549-03A2-F141-8066-7E8027D67BD7}">
      <dsp:nvSpPr>
        <dsp:cNvPr id="0" name=""/>
        <dsp:cNvSpPr/>
      </dsp:nvSpPr>
      <dsp:spPr>
        <a:xfrm>
          <a:off x="4315320" y="0"/>
          <a:ext cx="2430399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40005" rIns="365760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>
              <a:latin typeface="Avenir Next LT Pro" panose="020B0504020202020204" pitchFamily="34" charset="77"/>
            </a:rPr>
            <a:t>Product Features</a:t>
          </a:r>
        </a:p>
      </dsp:txBody>
      <dsp:txXfrm>
        <a:off x="4464428" y="0"/>
        <a:ext cx="2132184" cy="298215"/>
      </dsp:txXfrm>
    </dsp:sp>
    <dsp:sp modelId="{24AB1D94-B983-3E4D-8325-3ECF8523D4B7}">
      <dsp:nvSpPr>
        <dsp:cNvPr id="0" name=""/>
        <dsp:cNvSpPr/>
      </dsp:nvSpPr>
      <dsp:spPr>
        <a:xfrm>
          <a:off x="6132488" y="0"/>
          <a:ext cx="2398857" cy="298215"/>
        </a:xfrm>
        <a:prstGeom prst="chevron">
          <a:avLst/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>
              <a:latin typeface="Avenir Next LT Pro" panose="020B0504020202020204" pitchFamily="34" charset="77"/>
            </a:rPr>
            <a:t>Pricing Analysis</a:t>
          </a:r>
        </a:p>
      </dsp:txBody>
      <dsp:txXfrm>
        <a:off x="6281596" y="0"/>
        <a:ext cx="2100642" cy="298215"/>
      </dsp:txXfrm>
    </dsp:sp>
    <dsp:sp modelId="{56ACEC28-C922-6D47-8B9F-4D4130B130BD}">
      <dsp:nvSpPr>
        <dsp:cNvPr id="0" name=""/>
        <dsp:cNvSpPr/>
      </dsp:nvSpPr>
      <dsp:spPr>
        <a:xfrm>
          <a:off x="8202268" y="0"/>
          <a:ext cx="2824485" cy="298215"/>
        </a:xfrm>
        <a:prstGeom prst="chevron">
          <a:avLst/>
        </a:prstGeom>
        <a:solidFill>
          <a:srgbClr val="A9C86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7" tIns="40005" rIns="20003" bIns="4000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>
              <a:latin typeface="Avenir Next LT Pro" panose="020B0504020202020204" pitchFamily="34" charset="77"/>
            </a:rPr>
            <a:t>Competitive Positioning</a:t>
          </a:r>
        </a:p>
      </dsp:txBody>
      <dsp:txXfrm>
        <a:off x="8351376" y="0"/>
        <a:ext cx="2526270" cy="2982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1B355-F843-7942-9205-1B493E6AC2A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429E05-DE76-C340-A769-D6D22C825F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09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E9F86-370A-2D43-83D7-D6B65A98661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1363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3F8639-5BB9-AA47-BFCE-C6D17BAA8BE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0797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63888-AD03-6293-4ED8-B24D80DBD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DA64E-B345-7F83-1D4E-255B3314C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273828-83D2-6673-355F-594B466CA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FD74C-5809-C803-8EE5-29B2C3794A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3F8639-5BB9-AA47-BFCE-C6D17BAA8BE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964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13A3-06B0-5575-4010-E213D84E0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AB8DF-0148-815C-AFA0-382FFB779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E2DDA-FC25-DD7F-4B25-0BB14650F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7477-9829-2CFF-F87F-EA5E5FDDA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D6C27-9F8A-2800-0E07-E3BCBD8EF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163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1982-F5A2-1624-22FD-96336D45C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18E09-DCC5-7466-251B-102ED2B56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AFF27-4D4D-6754-A246-7FB6D3CD9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FFA23C-91D8-A064-1CEE-DC48C898B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5523F0-CFC8-F984-4B88-43F9FA7F8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12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7834-7F3C-2DA1-8E7B-113FAD98E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46CCA-2AD3-8519-B2F4-A6703E35E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0432D-84BE-CCB0-14A1-BC3F70B78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C7DEC-4BFF-D5FB-C60E-F452F168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E5DE6-7DB9-6ABE-E98D-9AA8742B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532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6CAFC-F063-7D53-7430-2B82AA85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5CAD0-A4DC-0ED7-739F-4F254FCAE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5E0199-DA0A-0BAB-F03E-4B7CCDA14A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05DCA3-5A47-CE0D-D466-D2FD6838E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54E5D4-206B-4598-91A8-F1561843D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43A083-89DC-9575-AF42-46FD86332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88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F74DE-435D-BD09-FB4A-69815B699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FCA580-EE84-1EF6-A661-60BD3D4D3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7109-5895-8D28-17A0-7D21710613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ACA197-ABCD-A486-4244-E8F9797764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9A1089-B287-E347-4A87-9DA1D11832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0CE449-48BB-136D-FD9E-23FC3B8A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C1E79E-563A-2D3B-A3AA-C1C028FDC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8A8A83-4FA7-502B-64A9-1E9CEBABE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832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B84B8-6DFF-FE0E-5F11-C92A75874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7B067C-38C9-2696-4492-B0FB956CC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CD70BE-AE02-BB06-0363-5FD6A8E21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BCDAC4-DE1C-13DB-1F2F-0E91889DB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483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2A1DF-0D33-6289-25E3-6CEF48CA5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9F38C-BC02-0A7C-BD50-CC66D1E3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14620-50F4-4D92-6C6F-8A83DDADE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62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02985-3F1C-4F9F-69CF-A2FFE652E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567AA-0563-A78D-952A-2390CC894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21DDBF-6560-90FD-DCC5-58720EE3C7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0AAF35-8E85-74B9-97F2-C1A58A99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853454-EC83-C374-ABF4-B12C73D4C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074D3-3D0D-DBE5-0209-8D072B453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44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7E777-4343-8F08-9B4C-18D15CF1C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0FCE97-1BC5-FA81-CEFE-D84144EC09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FF4F46-FC46-406A-682F-FF02E854C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6241D4-064E-F1ED-765C-090D0EC06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59B4DC-1D48-BBD7-BB23-D419C83A3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49E65-7E71-A763-AA60-396C21780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58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79C78-FEC9-32F9-90A4-CA274749A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554E0A-0F7E-3C50-E873-0FABE93FC6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F6364-DAB4-6074-818D-1BBBF5766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275A8-6408-0C25-1B78-A5E09200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55ED-F7F6-DF7E-63E7-2357D3798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203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B63346-F4D2-F70D-C524-B9E1E691FF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691732-812D-BAD6-2542-CDF26D19A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83C41-16A8-A607-D6C7-F093D0F32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AEC78-C304-5035-79B4-C3FD336E0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F2B58-241A-E480-B754-8570CA825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097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F05B97-96ED-998E-2259-334EB484E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2084B-1E3D-DB76-D9FB-688C49B18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3EEF-7E9C-B6C8-B711-944B5C4118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93EA45-4E45-9841-B715-EB303D77A5F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966EA-FB0E-B834-B9A4-3CBBBDF1F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6F43D-4582-1F07-40C3-DFADA3F541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094CE3-6ED3-7448-9573-3B1A5646B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609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10" Type="http://schemas.openxmlformats.org/officeDocument/2006/relationships/image" Target="../media/image12.png"/><Relationship Id="rId4" Type="http://schemas.openxmlformats.org/officeDocument/2006/relationships/diagramData" Target="../diagrams/data2.xml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1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5.xml"/><Relationship Id="rId3" Type="http://schemas.openxmlformats.org/officeDocument/2006/relationships/image" Target="../media/image13.png"/><Relationship Id="rId7" Type="http://schemas.openxmlformats.org/officeDocument/2006/relationships/diagramLayout" Target="../diagrams/layout5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5.xml"/><Relationship Id="rId5" Type="http://schemas.openxmlformats.org/officeDocument/2006/relationships/image" Target="../media/image15.png"/><Relationship Id="rId10" Type="http://schemas.microsoft.com/office/2007/relationships/diagramDrawing" Target="../diagrams/drawing5.xml"/><Relationship Id="rId4" Type="http://schemas.openxmlformats.org/officeDocument/2006/relationships/image" Target="../media/image14.png"/><Relationship Id="rId9" Type="http://schemas.openxmlformats.org/officeDocument/2006/relationships/diagramColors" Target="../diagrams/colors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C87C2-B929-705D-752F-242ED1216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79BE7A7-0DBD-E557-F38B-0AA7DB837D4A}"/>
              </a:ext>
            </a:extLst>
          </p:cNvPr>
          <p:cNvSpPr txBox="1"/>
          <p:nvPr/>
        </p:nvSpPr>
        <p:spPr>
          <a:xfrm>
            <a:off x="871870" y="3429000"/>
            <a:ext cx="10448260" cy="14465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Optima" panose="02000503060000020004" pitchFamily="2" charset="0"/>
              </a:rPr>
              <a:t>Business Intelligence Presentation to Ninja Executives</a:t>
            </a:r>
          </a:p>
        </p:txBody>
      </p:sp>
      <p:pic>
        <p:nvPicPr>
          <p:cNvPr id="1028" name="Picture 4" descr="What's the Ninja logo supposed to be? Seems intentional : r/logodesign">
            <a:extLst>
              <a:ext uri="{FF2B5EF4-FFF2-40B4-BE49-F238E27FC236}">
                <a16:creationId xmlns:a16="http://schemas.microsoft.com/office/drawing/2014/main" id="{A6D86D9E-B9B6-883C-E1ED-F617A3595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1085" y="1016090"/>
            <a:ext cx="3889829" cy="2412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9805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D9B0-9DA7-74D5-7AEC-35CDE056A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43A575E-0FCE-252F-C1CF-483A392DB16D}"/>
              </a:ext>
            </a:extLst>
          </p:cNvPr>
          <p:cNvSpPr/>
          <p:nvPr/>
        </p:nvSpPr>
        <p:spPr>
          <a:xfrm>
            <a:off x="8354881" y="1246834"/>
            <a:ext cx="1622149" cy="5316058"/>
          </a:xfrm>
          <a:prstGeom prst="rect">
            <a:avLst/>
          </a:prstGeom>
          <a:noFill/>
          <a:ln w="165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8540D0-628D-8E94-923F-0DF082E30CE3}"/>
              </a:ext>
            </a:extLst>
          </p:cNvPr>
          <p:cNvSpPr/>
          <p:nvPr/>
        </p:nvSpPr>
        <p:spPr>
          <a:xfrm>
            <a:off x="10322433" y="1246834"/>
            <a:ext cx="1622149" cy="5316058"/>
          </a:xfrm>
          <a:prstGeom prst="rect">
            <a:avLst/>
          </a:prstGeom>
          <a:noFill/>
          <a:ln w="165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7BB3700-D1C3-D494-17DC-99435A9A9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6384" y="-5497039"/>
            <a:ext cx="154921" cy="575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8A1E3AD-9026-71C1-BC3D-3283EDB1B748}"/>
              </a:ext>
            </a:extLst>
          </p:cNvPr>
          <p:cNvSpPr txBox="1"/>
          <p:nvPr/>
        </p:nvSpPr>
        <p:spPr>
          <a:xfrm>
            <a:off x="126565" y="4128994"/>
            <a:ext cx="1835629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/>
              </a:rPr>
              <a:t>Role</a:t>
            </a:r>
          </a:p>
          <a:p>
            <a:pPr algn="ctr"/>
            <a:r>
              <a:rPr lang="en-US">
                <a:latin typeface="Avenir Next LT Pro"/>
              </a:rPr>
              <a:t>Data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Analyst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 b="1">
                <a:latin typeface="Avenir Next LT Pro" panose="020B0504020202020204" pitchFamily="34" charset="77"/>
              </a:rPr>
              <a:t>Year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4th</a:t>
            </a:r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2B97487-76F8-AF9D-822C-06FB900F47D9}"/>
              </a:ext>
            </a:extLst>
          </p:cNvPr>
          <p:cNvSpPr/>
          <p:nvPr/>
        </p:nvSpPr>
        <p:spPr>
          <a:xfrm>
            <a:off x="256051" y="1246834"/>
            <a:ext cx="1622149" cy="5316058"/>
          </a:xfrm>
          <a:prstGeom prst="rect">
            <a:avLst/>
          </a:prstGeom>
          <a:noFill/>
          <a:ln w="165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D631BAD-A518-5AED-5D28-337BB528C0B5}"/>
              </a:ext>
            </a:extLst>
          </p:cNvPr>
          <p:cNvSpPr/>
          <p:nvPr/>
        </p:nvSpPr>
        <p:spPr>
          <a:xfrm>
            <a:off x="2270677" y="1246834"/>
            <a:ext cx="1622149" cy="5316058"/>
          </a:xfrm>
          <a:prstGeom prst="rect">
            <a:avLst/>
          </a:prstGeom>
          <a:noFill/>
          <a:ln w="165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9FB958D-5C54-E0D2-E084-52EC78AA76D8}"/>
              </a:ext>
            </a:extLst>
          </p:cNvPr>
          <p:cNvSpPr/>
          <p:nvPr/>
        </p:nvSpPr>
        <p:spPr>
          <a:xfrm>
            <a:off x="4313909" y="1246834"/>
            <a:ext cx="1622149" cy="5316058"/>
          </a:xfrm>
          <a:prstGeom prst="rect">
            <a:avLst/>
          </a:prstGeom>
          <a:noFill/>
          <a:ln w="165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4C032D-31F0-4983-1D28-05AF2431AC65}"/>
              </a:ext>
            </a:extLst>
          </p:cNvPr>
          <p:cNvSpPr/>
          <p:nvPr/>
        </p:nvSpPr>
        <p:spPr>
          <a:xfrm>
            <a:off x="6323022" y="1246834"/>
            <a:ext cx="1622149" cy="5316058"/>
          </a:xfrm>
          <a:prstGeom prst="rect">
            <a:avLst/>
          </a:prstGeom>
          <a:noFill/>
          <a:ln w="165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42" name="Arrow: Notched Right 41">
            <a:extLst>
              <a:ext uri="{FF2B5EF4-FFF2-40B4-BE49-F238E27FC236}">
                <a16:creationId xmlns:a16="http://schemas.microsoft.com/office/drawing/2014/main" id="{CD9CB298-36A8-11E6-08D6-51F3AC380B1C}"/>
              </a:ext>
            </a:extLst>
          </p:cNvPr>
          <p:cNvSpPr/>
          <p:nvPr/>
        </p:nvSpPr>
        <p:spPr>
          <a:xfrm rot="10800000">
            <a:off x="-105067" y="3217552"/>
            <a:ext cx="12424631" cy="911442"/>
          </a:xfrm>
          <a:prstGeom prst="notchedRightArrow">
            <a:avLst>
              <a:gd name="adj1" fmla="val 77869"/>
              <a:gd name="adj2" fmla="val 55738"/>
            </a:avLst>
          </a:prstGeom>
          <a:solidFill>
            <a:srgbClr val="A9C86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8714E9-1114-A692-51DA-D97BE513A18E}"/>
              </a:ext>
            </a:extLst>
          </p:cNvPr>
          <p:cNvSpPr txBox="1"/>
          <p:nvPr/>
        </p:nvSpPr>
        <p:spPr>
          <a:xfrm>
            <a:off x="2198056" y="4108353"/>
            <a:ext cx="1835629" cy="203132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 panose="020B0504020202020204" pitchFamily="34" charset="77"/>
              </a:rPr>
              <a:t>Role</a:t>
            </a:r>
          </a:p>
          <a:p>
            <a:pPr algn="ctr"/>
            <a:r>
              <a:rPr lang="en-US">
                <a:latin typeface="Avenir Next LT Pro" panose="020B0504020202020204" pitchFamily="34" charset="77"/>
              </a:rPr>
              <a:t>Pricing </a:t>
            </a:r>
          </a:p>
          <a:p>
            <a:pPr algn="ctr"/>
            <a:r>
              <a:rPr lang="en-US">
                <a:latin typeface="Avenir Next LT Pro" panose="020B0504020202020204" pitchFamily="34" charset="77"/>
              </a:rPr>
              <a:t>Analyst</a:t>
            </a:r>
          </a:p>
          <a:p>
            <a:pPr algn="ctr"/>
            <a:endParaRPr lang="en-US" b="1">
              <a:latin typeface="Avenir Next LT Pro" panose="020B0504020202020204" pitchFamily="34" charset="77"/>
            </a:endParaRPr>
          </a:p>
          <a:p>
            <a:pPr algn="ctr"/>
            <a:r>
              <a:rPr lang="en-US" b="1">
                <a:latin typeface="Avenir Next LT Pro" panose="020B0504020202020204" pitchFamily="34" charset="77"/>
              </a:rPr>
              <a:t>Year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 panose="020B0504020202020204" pitchFamily="34" charset="77"/>
              </a:rPr>
              <a:t>4th</a:t>
            </a:r>
          </a:p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A89B134-808E-75AC-B6D7-D8EB953A1D2F}"/>
              </a:ext>
            </a:extLst>
          </p:cNvPr>
          <p:cNvSpPr txBox="1"/>
          <p:nvPr/>
        </p:nvSpPr>
        <p:spPr>
          <a:xfrm>
            <a:off x="4264034" y="4108351"/>
            <a:ext cx="1835629" cy="203132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/>
              </a:rPr>
              <a:t>Role</a:t>
            </a:r>
            <a:endParaRPr lang="en-US" b="1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Data 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Scientist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 b="1">
                <a:latin typeface="Avenir Next LT Pro"/>
              </a:rPr>
              <a:t>Year</a:t>
            </a:r>
            <a:endParaRPr lang="en-US">
              <a:latin typeface="Avenir Next LT Pro"/>
            </a:endParaRPr>
          </a:p>
          <a:p>
            <a:pPr algn="ctr"/>
            <a:r>
              <a:rPr lang="en-US">
                <a:latin typeface="Avenir Next LT Pro"/>
              </a:rPr>
              <a:t>3rd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30C755-DCE6-BCFC-E181-390D49BA8EC1}"/>
              </a:ext>
            </a:extLst>
          </p:cNvPr>
          <p:cNvSpPr txBox="1"/>
          <p:nvPr/>
        </p:nvSpPr>
        <p:spPr>
          <a:xfrm>
            <a:off x="6267461" y="4081813"/>
            <a:ext cx="1807196" cy="200054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/>
              </a:rPr>
              <a:t>Role</a:t>
            </a:r>
            <a:endParaRPr lang="en-US" b="1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Data </a:t>
            </a:r>
          </a:p>
          <a:p>
            <a:pPr algn="ctr"/>
            <a:r>
              <a:rPr lang="en-US">
                <a:latin typeface="Avenir Next LT Pro"/>
              </a:rPr>
              <a:t>Analyst</a:t>
            </a:r>
          </a:p>
          <a:p>
            <a:pPr algn="ctr"/>
            <a:endParaRPr lang="en-US" sz="1600">
              <a:latin typeface="Avenir Next LT Pro"/>
            </a:endParaRPr>
          </a:p>
          <a:p>
            <a:pPr algn="ctr"/>
            <a:r>
              <a:rPr lang="en-US" b="1">
                <a:latin typeface="Avenir Next LT Pro"/>
              </a:rPr>
              <a:t>Year</a:t>
            </a:r>
            <a:endParaRPr lang="en-US">
              <a:latin typeface="Avenir Next LT Pro"/>
            </a:endParaRPr>
          </a:p>
          <a:p>
            <a:pPr algn="ctr"/>
            <a:r>
              <a:rPr lang="en-US">
                <a:latin typeface="Avenir Next LT Pro" panose="020B0504020202020204" pitchFamily="34" charset="77"/>
              </a:rPr>
              <a:t>3rd</a:t>
            </a:r>
          </a:p>
          <a:p>
            <a:pPr algn="ctr"/>
            <a:endParaRPr lang="en-US">
              <a:latin typeface="Avenir Next L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1F0621A-A022-115C-E127-5D4499319D93}"/>
              </a:ext>
            </a:extLst>
          </p:cNvPr>
          <p:cNvSpPr txBox="1"/>
          <p:nvPr/>
        </p:nvSpPr>
        <p:spPr>
          <a:xfrm>
            <a:off x="8235561" y="4085193"/>
            <a:ext cx="1835629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/>
              </a:rPr>
              <a:t>Role</a:t>
            </a:r>
            <a:endParaRPr lang="en-US" b="1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Data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 Scientist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 b="1">
                <a:latin typeface="Avenir Next LT Pro"/>
              </a:rPr>
              <a:t>Year</a:t>
            </a:r>
            <a:endParaRPr lang="en-US">
              <a:latin typeface="Avenir Next LT Pro"/>
            </a:endParaRPr>
          </a:p>
          <a:p>
            <a:pPr algn="ctr"/>
            <a:r>
              <a:rPr lang="en-US">
                <a:latin typeface="Avenir Next LT Pro" panose="020B0504020202020204" pitchFamily="34" charset="77"/>
              </a:rPr>
              <a:t>3rd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9A81BCA-3D98-5C23-EE3B-1C15357A1284}"/>
              </a:ext>
            </a:extLst>
          </p:cNvPr>
          <p:cNvSpPr txBox="1"/>
          <p:nvPr/>
        </p:nvSpPr>
        <p:spPr>
          <a:xfrm>
            <a:off x="414115" y="3443706"/>
            <a:ext cx="163906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>
                <a:latin typeface="Avenir Next LT Pro"/>
              </a:rPr>
              <a:t>Eshal Farooq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DBB371-543D-DA0E-558D-F0AAABBE0320}"/>
              </a:ext>
            </a:extLst>
          </p:cNvPr>
          <p:cNvSpPr txBox="1"/>
          <p:nvPr/>
        </p:nvSpPr>
        <p:spPr>
          <a:xfrm>
            <a:off x="2376772" y="3438019"/>
            <a:ext cx="1821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latin typeface="Avenir Next LT Pro" panose="020B0504020202020204" pitchFamily="34" charset="77"/>
              </a:rPr>
              <a:t>Neha Jagasia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54528CF-43F4-E847-EFAA-5FED086A13AE}"/>
              </a:ext>
            </a:extLst>
          </p:cNvPr>
          <p:cNvSpPr txBox="1"/>
          <p:nvPr/>
        </p:nvSpPr>
        <p:spPr>
          <a:xfrm>
            <a:off x="4445415" y="3435482"/>
            <a:ext cx="181534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>
                <a:latin typeface="Avenir Next LT Pro"/>
              </a:rPr>
              <a:t>Heer Patel</a:t>
            </a:r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3C45C0-8248-FE17-9E25-56C6C2699D94}"/>
              </a:ext>
            </a:extLst>
          </p:cNvPr>
          <p:cNvSpPr txBox="1"/>
          <p:nvPr/>
        </p:nvSpPr>
        <p:spPr>
          <a:xfrm>
            <a:off x="6226194" y="3464615"/>
            <a:ext cx="182103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/>
              </a:rPr>
              <a:t>Arya Rajesh</a:t>
            </a:r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330FD8-E034-373E-BFAB-56564B87D46F}"/>
              </a:ext>
            </a:extLst>
          </p:cNvPr>
          <p:cNvSpPr txBox="1"/>
          <p:nvPr/>
        </p:nvSpPr>
        <p:spPr>
          <a:xfrm>
            <a:off x="10151836" y="3435539"/>
            <a:ext cx="172450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/>
              </a:rPr>
              <a:t>Arya Suram</a:t>
            </a:r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38271A-B4A6-09FE-CC13-CB5E66ACFD37}"/>
              </a:ext>
            </a:extLst>
          </p:cNvPr>
          <p:cNvCxnSpPr>
            <a:cxnSpLocks/>
          </p:cNvCxnSpPr>
          <p:nvPr/>
        </p:nvCxnSpPr>
        <p:spPr>
          <a:xfrm>
            <a:off x="520227" y="5095702"/>
            <a:ext cx="1182207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15B526-9A20-BE6C-18C9-DCC97A37068B}"/>
              </a:ext>
            </a:extLst>
          </p:cNvPr>
          <p:cNvCxnSpPr>
            <a:cxnSpLocks/>
          </p:cNvCxnSpPr>
          <p:nvPr/>
        </p:nvCxnSpPr>
        <p:spPr>
          <a:xfrm>
            <a:off x="2523801" y="5095702"/>
            <a:ext cx="1182207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A34C282-B56E-30D9-A7E3-167AF44C2CB3}"/>
              </a:ext>
            </a:extLst>
          </p:cNvPr>
          <p:cNvCxnSpPr>
            <a:cxnSpLocks/>
          </p:cNvCxnSpPr>
          <p:nvPr/>
        </p:nvCxnSpPr>
        <p:spPr>
          <a:xfrm>
            <a:off x="4576218" y="5095702"/>
            <a:ext cx="1182207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229EF72-9CE0-B79B-5915-3C5F0EE56E35}"/>
              </a:ext>
            </a:extLst>
          </p:cNvPr>
          <p:cNvCxnSpPr>
            <a:cxnSpLocks/>
          </p:cNvCxnSpPr>
          <p:nvPr/>
        </p:nvCxnSpPr>
        <p:spPr>
          <a:xfrm>
            <a:off x="6565649" y="5095702"/>
            <a:ext cx="1182207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72EBBD8-6D46-CD66-BF59-93C5BFF0640C}"/>
              </a:ext>
            </a:extLst>
          </p:cNvPr>
          <p:cNvCxnSpPr>
            <a:cxnSpLocks/>
          </p:cNvCxnSpPr>
          <p:nvPr/>
        </p:nvCxnSpPr>
        <p:spPr>
          <a:xfrm>
            <a:off x="8588330" y="5095702"/>
            <a:ext cx="1182207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A32C083-A585-C24F-FB60-2CF30FD53B15}"/>
              </a:ext>
            </a:extLst>
          </p:cNvPr>
          <p:cNvSpPr/>
          <p:nvPr/>
        </p:nvSpPr>
        <p:spPr>
          <a:xfrm>
            <a:off x="0" y="-15054"/>
            <a:ext cx="12192000" cy="841764"/>
          </a:xfrm>
          <a:prstGeom prst="rect">
            <a:avLst/>
          </a:prstGeom>
          <a:solidFill>
            <a:schemeClr val="tx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04BCA8-366F-106A-CD09-D842E197B6B3}"/>
              </a:ext>
            </a:extLst>
          </p:cNvPr>
          <p:cNvSpPr/>
          <p:nvPr/>
        </p:nvSpPr>
        <p:spPr>
          <a:xfrm flipV="1">
            <a:off x="0" y="723672"/>
            <a:ext cx="12192000" cy="103037"/>
          </a:xfrm>
          <a:prstGeom prst="rect">
            <a:avLst/>
          </a:prstGeom>
          <a:solidFill>
            <a:srgbClr val="A9C86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6610CD-EB4F-B5D5-03DA-0CABB8FD3DEF}"/>
              </a:ext>
            </a:extLst>
          </p:cNvPr>
          <p:cNvSpPr txBox="1"/>
          <p:nvPr/>
        </p:nvSpPr>
        <p:spPr>
          <a:xfrm>
            <a:off x="255618" y="114629"/>
            <a:ext cx="11729109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Avenir Next LT Pro"/>
              </a:rPr>
              <a:t>Meet the Team</a:t>
            </a:r>
            <a:endParaRPr lang="en-US" sz="3200" b="1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2050" name="Picture 2" descr="What's the Ninja logo supposed to be? Seems intentional : r/logodesign">
            <a:extLst>
              <a:ext uri="{FF2B5EF4-FFF2-40B4-BE49-F238E27FC236}">
                <a16:creationId xmlns:a16="http://schemas.microsoft.com/office/drawing/2014/main" id="{21D6FC50-499B-E7E0-C507-A6D0478F50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5" b="27727"/>
          <a:stretch/>
        </p:blipFill>
        <p:spPr bwMode="auto">
          <a:xfrm>
            <a:off x="10871200" y="114629"/>
            <a:ext cx="1217163" cy="40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236A0AF-B143-FF34-D496-9593FEBACAF4}"/>
              </a:ext>
            </a:extLst>
          </p:cNvPr>
          <p:cNvSpPr txBox="1"/>
          <p:nvPr/>
        </p:nvSpPr>
        <p:spPr>
          <a:xfrm>
            <a:off x="10237232" y="4090879"/>
            <a:ext cx="1835629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/>
              </a:rPr>
              <a:t>Role</a:t>
            </a:r>
            <a:endParaRPr lang="en-US" b="1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Pricing 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/>
              </a:rPr>
              <a:t>Analyst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endParaRPr lang="en-US">
              <a:latin typeface="Avenir Next LT Pro"/>
            </a:endParaRPr>
          </a:p>
          <a:p>
            <a:pPr algn="ctr"/>
            <a:r>
              <a:rPr lang="en-US" b="1">
                <a:latin typeface="Avenir Next LT Pro" panose="020B0504020202020204" pitchFamily="34" charset="77"/>
              </a:rPr>
              <a:t>Year</a:t>
            </a:r>
            <a:endParaRPr lang="en-US">
              <a:latin typeface="Avenir Next LT Pro" panose="020B0504020202020204" pitchFamily="34" charset="77"/>
            </a:endParaRPr>
          </a:p>
          <a:p>
            <a:pPr algn="ctr"/>
            <a:r>
              <a:rPr lang="en-US">
                <a:latin typeface="Avenir Next LT Pro" panose="020B0504020202020204" pitchFamily="34" charset="77"/>
              </a:rPr>
              <a:t>3rd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7460A9-EBE6-2DAB-B53F-DACC99AB4A58}"/>
              </a:ext>
            </a:extLst>
          </p:cNvPr>
          <p:cNvSpPr txBox="1"/>
          <p:nvPr/>
        </p:nvSpPr>
        <p:spPr>
          <a:xfrm>
            <a:off x="8354880" y="3429853"/>
            <a:ext cx="172450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>
                <a:latin typeface="Avenir Next LT Pro"/>
              </a:rPr>
              <a:t>Shalmali Rao</a:t>
            </a:r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7FC44F6-2E47-55F6-09E6-0CA632183DEF}"/>
              </a:ext>
            </a:extLst>
          </p:cNvPr>
          <p:cNvCxnSpPr>
            <a:cxnSpLocks/>
          </p:cNvCxnSpPr>
          <p:nvPr/>
        </p:nvCxnSpPr>
        <p:spPr>
          <a:xfrm>
            <a:off x="10555882" y="5124135"/>
            <a:ext cx="1182207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33" name="Picture 32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C826A82D-558A-3DF7-144E-DA91CEE2B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4070" y="1626898"/>
            <a:ext cx="1435362" cy="14097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CBA04B-B40C-1078-8A43-FEB01EA956C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79" t="28486" r="7475" b="14571"/>
          <a:stretch>
            <a:fillRect/>
          </a:stretch>
        </p:blipFill>
        <p:spPr>
          <a:xfrm>
            <a:off x="333608" y="1639206"/>
            <a:ext cx="1459039" cy="1412341"/>
          </a:xfrm>
          <a:prstGeom prst="ellipse">
            <a:avLst/>
          </a:prstGeom>
        </p:spPr>
      </p:pic>
      <p:pic>
        <p:nvPicPr>
          <p:cNvPr id="18" name="Picture 17" descr="A person smiling at camera&#10;&#10;AI-generated content may be incorrect.">
            <a:extLst>
              <a:ext uri="{FF2B5EF4-FFF2-40B4-BE49-F238E27FC236}">
                <a16:creationId xmlns:a16="http://schemas.microsoft.com/office/drawing/2014/main" id="{44CBDECD-F7CE-FFA6-1677-D5BC63C67F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3" r="83"/>
          <a:stretch/>
        </p:blipFill>
        <p:spPr>
          <a:xfrm>
            <a:off x="8438798" y="1651393"/>
            <a:ext cx="1469726" cy="1406926"/>
          </a:xfrm>
          <a:prstGeom prst="ellipse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" name="Picture 3" descr="A person wearing glasses and a necklace&#10;&#10;AI-generated content may be incorrect.">
            <a:extLst>
              <a:ext uri="{FF2B5EF4-FFF2-40B4-BE49-F238E27FC236}">
                <a16:creationId xmlns:a16="http://schemas.microsoft.com/office/drawing/2014/main" id="{250D3603-BF69-5930-6ACB-6F8669C28DA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7240" t="3504" r="2124" b="22727"/>
          <a:stretch>
            <a:fillRect/>
          </a:stretch>
        </p:blipFill>
        <p:spPr>
          <a:xfrm>
            <a:off x="10420026" y="1645214"/>
            <a:ext cx="1442975" cy="1437823"/>
          </a:xfrm>
          <a:prstGeom prst="ellipse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F71FEF-D521-F8ED-D83F-99E27ACF5F6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93" b="-498"/>
          <a:stretch>
            <a:fillRect/>
          </a:stretch>
        </p:blipFill>
        <p:spPr>
          <a:xfrm>
            <a:off x="6410894" y="1599133"/>
            <a:ext cx="1489950" cy="1471778"/>
          </a:xfrm>
          <a:prstGeom prst="ellipse">
            <a:avLst/>
          </a:prstGeom>
        </p:spPr>
      </p:pic>
      <p:pic>
        <p:nvPicPr>
          <p:cNvPr id="10" name="Picture 9" descr="A person smiling at camera&#10;&#10;AI-generated content may be incorrect.">
            <a:extLst>
              <a:ext uri="{FF2B5EF4-FFF2-40B4-BE49-F238E27FC236}">
                <a16:creationId xmlns:a16="http://schemas.microsoft.com/office/drawing/2014/main" id="{FA6369D8-45B9-2EAE-0274-2EACC32BADA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7076" b="17076"/>
          <a:stretch>
            <a:fillRect/>
          </a:stretch>
        </p:blipFill>
        <p:spPr>
          <a:xfrm>
            <a:off x="4378894" y="1612270"/>
            <a:ext cx="1489950" cy="1471778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9201040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177"/>
    </mc:Choice>
    <mc:Fallback>
      <p:transition spd="slow" advTm="8177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7F18510-8D60-8FA9-4483-5F494C8300F8}"/>
              </a:ext>
            </a:extLst>
          </p:cNvPr>
          <p:cNvSpPr/>
          <p:nvPr/>
        </p:nvSpPr>
        <p:spPr>
          <a:xfrm>
            <a:off x="155208" y="928254"/>
            <a:ext cx="6033648" cy="380453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 Next LT Pro"/>
              </a:rPr>
              <a:t>Popular Air Fryer Features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87B71C-4201-4725-34AD-B66FD1E60029}"/>
              </a:ext>
            </a:extLst>
          </p:cNvPr>
          <p:cNvSpPr/>
          <p:nvPr/>
        </p:nvSpPr>
        <p:spPr>
          <a:xfrm>
            <a:off x="162998" y="1305805"/>
            <a:ext cx="6025305" cy="1069317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Compact design is the industry standard</a:t>
            </a:r>
            <a:endParaRPr lang="en-US" dirty="0">
              <a:solidFill>
                <a:schemeClr val="tx1"/>
              </a:solidFill>
              <a:latin typeface="Avenir Next LT Pro" panose="020B0504020202020204" pitchFamily="34" charset="77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Oven-style models 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are the </a:t>
            </a: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secondary dominant format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, particularly for premium brands.</a:t>
            </a:r>
            <a:endParaRPr lang="en-US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7E52F9-3E04-7CCC-4337-C88A3A3EA290}"/>
              </a:ext>
            </a:extLst>
          </p:cNvPr>
          <p:cNvSpPr/>
          <p:nvPr/>
        </p:nvSpPr>
        <p:spPr>
          <a:xfrm>
            <a:off x="150057" y="2490016"/>
            <a:ext cx="6038246" cy="357007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 Next LT Pro"/>
              </a:rPr>
              <a:t>Rare Air Fryer Features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543D95-72D7-9CFB-D43B-7526C87258D9}"/>
              </a:ext>
            </a:extLst>
          </p:cNvPr>
          <p:cNvSpPr/>
          <p:nvPr/>
        </p:nvSpPr>
        <p:spPr>
          <a:xfrm>
            <a:off x="157845" y="2849983"/>
            <a:ext cx="6029895" cy="1070818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Dual-basket models 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are nearly nonexistent currently</a:t>
            </a:r>
          </a:p>
          <a:p>
            <a:pPr marL="285750" indent="-285750"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Rotisserie and Window features are highly niche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, appearing primarily in a </a:t>
            </a: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small subset of models 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from brands like </a:t>
            </a:r>
            <a:r>
              <a:rPr lang="en-US" sz="1500" dirty="0" err="1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Chefman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and </a:t>
            </a:r>
            <a:r>
              <a:rPr lang="en-US" sz="1500" dirty="0" err="1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GoWise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USA.</a:t>
            </a:r>
            <a:endParaRPr lang="en-US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4F2235-F2B9-A035-523D-F68A6DBFFA58}"/>
              </a:ext>
            </a:extLst>
          </p:cNvPr>
          <p:cNvSpPr/>
          <p:nvPr/>
        </p:nvSpPr>
        <p:spPr>
          <a:xfrm>
            <a:off x="0" y="-15054"/>
            <a:ext cx="12192000" cy="841764"/>
          </a:xfrm>
          <a:prstGeom prst="rect">
            <a:avLst/>
          </a:prstGeom>
          <a:solidFill>
            <a:schemeClr val="tx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696F1E-B6DD-2760-D8D8-331B7AE9A374}"/>
              </a:ext>
            </a:extLst>
          </p:cNvPr>
          <p:cNvSpPr/>
          <p:nvPr/>
        </p:nvSpPr>
        <p:spPr>
          <a:xfrm flipV="1">
            <a:off x="0" y="723672"/>
            <a:ext cx="12192000" cy="103037"/>
          </a:xfrm>
          <a:prstGeom prst="rect">
            <a:avLst/>
          </a:prstGeom>
          <a:solidFill>
            <a:srgbClr val="A9C86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5E6FAB-EE65-35D9-BAA0-37C14FE643B6}"/>
              </a:ext>
            </a:extLst>
          </p:cNvPr>
          <p:cNvSpPr txBox="1"/>
          <p:nvPr/>
        </p:nvSpPr>
        <p:spPr>
          <a:xfrm>
            <a:off x="255618" y="114629"/>
            <a:ext cx="11729109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Avenir Next LT Pro"/>
              </a:rPr>
              <a:t>Air Fryer Market Overview</a:t>
            </a:r>
            <a:endParaRPr lang="en-US" sz="3200" b="1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12" name="Picture 2" descr="What's the Ninja logo supposed to be? Seems intentional : r/logodesign">
            <a:extLst>
              <a:ext uri="{FF2B5EF4-FFF2-40B4-BE49-F238E27FC236}">
                <a16:creationId xmlns:a16="http://schemas.microsoft.com/office/drawing/2014/main" id="{0B938DD8-6E1D-4CBF-B426-5E10F36C30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5" b="27727"/>
          <a:stretch/>
        </p:blipFill>
        <p:spPr bwMode="auto">
          <a:xfrm>
            <a:off x="10871200" y="114629"/>
            <a:ext cx="1217163" cy="40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7BE8644-AF11-E78E-1180-507C34EB73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96337498"/>
              </p:ext>
            </p:extLst>
          </p:nvPr>
        </p:nvGraphicFramePr>
        <p:xfrm>
          <a:off x="630809" y="6463837"/>
          <a:ext cx="11030279" cy="298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178" name="Rectangle 1177">
            <a:extLst>
              <a:ext uri="{FF2B5EF4-FFF2-40B4-BE49-F238E27FC236}">
                <a16:creationId xmlns:a16="http://schemas.microsoft.com/office/drawing/2014/main" id="{D02491CD-3D58-7E98-867D-3959AD163210}"/>
              </a:ext>
            </a:extLst>
          </p:cNvPr>
          <p:cNvSpPr/>
          <p:nvPr/>
        </p:nvSpPr>
        <p:spPr>
          <a:xfrm>
            <a:off x="150056" y="4019877"/>
            <a:ext cx="6020661" cy="398038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 Next LT Pro"/>
              </a:rPr>
              <a:t>Competitive Analysis</a:t>
            </a:r>
            <a:endParaRPr lang="en-US" dirty="0"/>
          </a:p>
        </p:txBody>
      </p:sp>
      <p:sp>
        <p:nvSpPr>
          <p:cNvPr id="1179" name="Rectangle 1178">
            <a:extLst>
              <a:ext uri="{FF2B5EF4-FFF2-40B4-BE49-F238E27FC236}">
                <a16:creationId xmlns:a16="http://schemas.microsoft.com/office/drawing/2014/main" id="{DDC2D5F4-DB55-5E27-63FD-5D1C0A8C165C}"/>
              </a:ext>
            </a:extLst>
          </p:cNvPr>
          <p:cNvSpPr/>
          <p:nvPr/>
        </p:nvSpPr>
        <p:spPr>
          <a:xfrm>
            <a:off x="163705" y="4415012"/>
            <a:ext cx="6000589" cy="1832818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Premium/Oven Specialists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: Cuisinart and Oster focus on high-priced, oven-style units.</a:t>
            </a:r>
            <a:endParaRPr lang="en-US" dirty="0">
              <a:latin typeface="Avenir Next LT Pro" panose="020B0504020202020204" pitchFamily="34" charset="77"/>
            </a:endParaRPr>
          </a:p>
          <a:p>
            <a:pPr marL="285750" indent="-285750"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Value Specialists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: Dash and </a:t>
            </a:r>
            <a:r>
              <a:rPr lang="en-US" sz="1500" dirty="0" err="1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Ultrean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focus almost exclusively on low-cost, compact models.</a:t>
            </a:r>
            <a:endParaRPr lang="en-US" dirty="0">
              <a:solidFill>
                <a:schemeClr val="tx1"/>
              </a:solidFill>
              <a:latin typeface="Avenir Next LT Pro" panose="020B0504020202020204" pitchFamily="34" charset="77"/>
            </a:endParaRPr>
          </a:p>
          <a:p>
            <a:pPr marL="285750" indent="-285750"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Feature Leaders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: </a:t>
            </a:r>
            <a:r>
              <a:rPr lang="en-US" sz="1500" dirty="0" err="1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Chefman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and </a:t>
            </a:r>
            <a:r>
              <a:rPr lang="en-US" sz="1500" dirty="0" err="1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GoWise</a:t>
            </a:r>
            <a:r>
              <a:rPr lang="en-US" sz="15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USA are more likely to incorporate "rare" features like rotisserie functions compared to the rest of the market</a:t>
            </a:r>
            <a:endParaRPr lang="en-US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1181" name="TextBox 1180">
            <a:extLst>
              <a:ext uri="{FF2B5EF4-FFF2-40B4-BE49-F238E27FC236}">
                <a16:creationId xmlns:a16="http://schemas.microsoft.com/office/drawing/2014/main" id="{8C0C7F95-836D-A4E1-8909-2433AED9DBF8}"/>
              </a:ext>
            </a:extLst>
          </p:cNvPr>
          <p:cNvSpPr txBox="1"/>
          <p:nvPr/>
        </p:nvSpPr>
        <p:spPr>
          <a:xfrm>
            <a:off x="6489654" y="5263226"/>
            <a:ext cx="5794335" cy="10926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Most expensive brands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: Cuisinart and Oster (consistently high)</a:t>
            </a:r>
            <a:endParaRPr lang="en-US" dirty="0">
              <a:latin typeface="Avenir Next LT Pro" panose="020B0504020202020204" pitchFamily="34" charset="77"/>
              <a:ea typeface="+mn-lt"/>
              <a:cs typeface="+mn-lt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Mid‑priced brands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: Ninja, Instant Pot, </a:t>
            </a:r>
            <a:r>
              <a:rPr lang="en-US" sz="1300" dirty="0" err="1">
                <a:latin typeface="Avenir Next LT Pro" panose="020B0504020202020204" pitchFamily="34" charset="77"/>
                <a:ea typeface="+mn-lt"/>
                <a:cs typeface="+mn-lt"/>
              </a:rPr>
              <a:t>NuWave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 </a:t>
            </a:r>
            <a:endParaRPr lang="en-US" dirty="0">
              <a:latin typeface="Avenir Next LT Pro" panose="020B0504020202020204" pitchFamily="34" charset="77"/>
              <a:ea typeface="+mn-lt"/>
              <a:cs typeface="+mn-lt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Budget brands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: Dash, </a:t>
            </a:r>
            <a:r>
              <a:rPr lang="en-US" sz="1300" dirty="0" err="1">
                <a:latin typeface="Avenir Next LT Pro" panose="020B0504020202020204" pitchFamily="34" charset="77"/>
                <a:ea typeface="+mn-lt"/>
                <a:cs typeface="+mn-lt"/>
              </a:rPr>
              <a:t>Chefman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, </a:t>
            </a:r>
            <a:r>
              <a:rPr lang="en-US" sz="1300" dirty="0" err="1">
                <a:latin typeface="Avenir Next LT Pro" panose="020B0504020202020204" pitchFamily="34" charset="77"/>
                <a:ea typeface="+mn-lt"/>
                <a:cs typeface="+mn-lt"/>
              </a:rPr>
              <a:t>Ultrean</a:t>
            </a:r>
            <a:endParaRPr lang="en-US" dirty="0">
              <a:latin typeface="Avenir Next LT Pro" panose="020B0504020202020204" pitchFamily="34" charset="77"/>
              <a:ea typeface="+mn-lt"/>
              <a:cs typeface="+mn-lt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Prices are fairly stable over time with no major shocks; brands compete in distinct price tiers, </a:t>
            </a: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not targeting same consumers</a:t>
            </a:r>
            <a:endParaRPr lang="en-US" sz="1300" b="1" dirty="0">
              <a:latin typeface="Avenir Next LT Pro" panose="020B0504020202020204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465849-E3EF-A5E4-9D47-269F65066DF7}"/>
              </a:ext>
            </a:extLst>
          </p:cNvPr>
          <p:cNvSpPr/>
          <p:nvPr/>
        </p:nvSpPr>
        <p:spPr>
          <a:xfrm>
            <a:off x="6489654" y="4822018"/>
            <a:ext cx="5651179" cy="398038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 Next LT Pro"/>
              </a:rPr>
              <a:t>Industry Price Positioning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DA77D-9397-0DFD-07C2-4D4428CA1C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04549" y="915411"/>
            <a:ext cx="5180178" cy="3816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92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22323-AA4C-3722-778A-4CF344470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2663253-1A26-75F8-A185-E6A235FF4C0D}"/>
              </a:ext>
            </a:extLst>
          </p:cNvPr>
          <p:cNvSpPr/>
          <p:nvPr/>
        </p:nvSpPr>
        <p:spPr>
          <a:xfrm>
            <a:off x="0" y="-15054"/>
            <a:ext cx="12192000" cy="841764"/>
          </a:xfrm>
          <a:prstGeom prst="rect">
            <a:avLst/>
          </a:prstGeom>
          <a:solidFill>
            <a:schemeClr val="tx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990904-D590-F4BD-22A5-A7230ABBD199}"/>
              </a:ext>
            </a:extLst>
          </p:cNvPr>
          <p:cNvSpPr/>
          <p:nvPr/>
        </p:nvSpPr>
        <p:spPr>
          <a:xfrm flipV="1">
            <a:off x="0" y="723672"/>
            <a:ext cx="12192000" cy="103037"/>
          </a:xfrm>
          <a:prstGeom prst="rect">
            <a:avLst/>
          </a:prstGeom>
          <a:solidFill>
            <a:srgbClr val="A9C86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ED9AC0-0673-06AD-0A0C-14A285AAB71A}"/>
              </a:ext>
            </a:extLst>
          </p:cNvPr>
          <p:cNvSpPr txBox="1"/>
          <p:nvPr/>
        </p:nvSpPr>
        <p:spPr>
          <a:xfrm>
            <a:off x="255618" y="114629"/>
            <a:ext cx="11729109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Avenir Next LT Pro"/>
              </a:rPr>
              <a:t>Air Fryer Market Overview </a:t>
            </a:r>
            <a:r>
              <a:rPr lang="en-US" sz="3200" b="1" i="1" dirty="0">
                <a:solidFill>
                  <a:schemeClr val="bg1"/>
                </a:solidFill>
                <a:latin typeface="Avenir Next LT Pro"/>
              </a:rPr>
              <a:t>(cont.)</a:t>
            </a:r>
            <a:endParaRPr lang="en-US" i="1" dirty="0">
              <a:solidFill>
                <a:schemeClr val="bg1"/>
              </a:solidFill>
            </a:endParaRPr>
          </a:p>
        </p:txBody>
      </p:sp>
      <p:pic>
        <p:nvPicPr>
          <p:cNvPr id="12" name="Picture 2" descr="What's the Ninja logo supposed to be? Seems intentional : r/logodesign">
            <a:extLst>
              <a:ext uri="{FF2B5EF4-FFF2-40B4-BE49-F238E27FC236}">
                <a16:creationId xmlns:a16="http://schemas.microsoft.com/office/drawing/2014/main" id="{6332A96C-B081-A264-2D30-2CB802CAA8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5" b="27727"/>
          <a:stretch/>
        </p:blipFill>
        <p:spPr bwMode="auto">
          <a:xfrm>
            <a:off x="10871200" y="114629"/>
            <a:ext cx="1217163" cy="40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2" name="TextBox 1041">
            <a:extLst>
              <a:ext uri="{FF2B5EF4-FFF2-40B4-BE49-F238E27FC236}">
                <a16:creationId xmlns:a16="http://schemas.microsoft.com/office/drawing/2014/main" id="{3AAE9482-4B34-008F-B898-B6152B33E321}"/>
              </a:ext>
            </a:extLst>
          </p:cNvPr>
          <p:cNvSpPr txBox="1"/>
          <p:nvPr/>
        </p:nvSpPr>
        <p:spPr>
          <a:xfrm>
            <a:off x="6383926" y="4678098"/>
            <a:ext cx="5908520" cy="16927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Market leaders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: </a:t>
            </a:r>
            <a:r>
              <a:rPr lang="en-US" sz="1300" dirty="0" err="1">
                <a:latin typeface="Avenir Next LT Pro" panose="020B0504020202020204" pitchFamily="34" charset="77"/>
                <a:ea typeface="+mn-lt"/>
                <a:cs typeface="+mn-lt"/>
              </a:rPr>
              <a:t>GoWise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 USA (2019-2020), Ninja and Instant Pot (2020-2023)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Market structure is competitive but not stable; share leaders have shifted significantly</a:t>
            </a:r>
            <a:endParaRPr lang="en-US" sz="1300" dirty="0">
              <a:latin typeface="Avenir Next LT Pro" panose="020B050402020202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Instant Pot shows strong growth over time and is currently Ninja’s primary competitor</a:t>
            </a:r>
            <a:endParaRPr lang="en-US" sz="1300" dirty="0">
              <a:latin typeface="Avenir Next LT Pro" panose="020B050402020202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Laggers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: Some brands (Dash, </a:t>
            </a:r>
            <a:r>
              <a:rPr lang="en-US" sz="1300" dirty="0" err="1">
                <a:latin typeface="Avenir Next LT Pro" panose="020B0504020202020204" pitchFamily="34" charset="77"/>
                <a:ea typeface="+mn-lt"/>
                <a:cs typeface="+mn-lt"/>
              </a:rPr>
              <a:t>GoWise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 USA) lose share over time</a:t>
            </a:r>
            <a:endParaRPr lang="en-US" sz="1300" dirty="0">
              <a:latin typeface="Avenir Next LT Pro" panose="020B050402020202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Smaller brands remain niche 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but persistent (</a:t>
            </a:r>
            <a:r>
              <a:rPr lang="en-US" sz="1300" dirty="0" err="1">
                <a:latin typeface="Avenir Next LT Pro" panose="020B0504020202020204" pitchFamily="34" charset="77"/>
                <a:ea typeface="+mn-lt"/>
                <a:cs typeface="+mn-lt"/>
              </a:rPr>
              <a:t>NuWave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, Oster, Cuisinart)</a:t>
            </a:r>
            <a:endParaRPr lang="en-US" sz="1300" dirty="0">
              <a:latin typeface="Avenir Next LT Pro" panose="020B0504020202020204" pitchFamily="34" charset="77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B60F711-80F7-7866-173E-2D77157DF7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56327361"/>
              </p:ext>
            </p:extLst>
          </p:nvPr>
        </p:nvGraphicFramePr>
        <p:xfrm>
          <a:off x="630809" y="6463836"/>
          <a:ext cx="11030279" cy="298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225" name="TextBox 1224">
            <a:extLst>
              <a:ext uri="{FF2B5EF4-FFF2-40B4-BE49-F238E27FC236}">
                <a16:creationId xmlns:a16="http://schemas.microsoft.com/office/drawing/2014/main" id="{66B1639E-DD1F-29F6-BDA1-AA25F2BD236B}"/>
              </a:ext>
            </a:extLst>
          </p:cNvPr>
          <p:cNvSpPr txBox="1"/>
          <p:nvPr/>
        </p:nvSpPr>
        <p:spPr>
          <a:xfrm>
            <a:off x="126653" y="4589524"/>
            <a:ext cx="5853013" cy="16927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Ratings are high across all brands, regardless if they are premium or budget (at roughly 4.3–4.8)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Ninja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 leads with the </a:t>
            </a: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highest average rating across five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Little variation over time, suggesting </a:t>
            </a: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stable product quality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 except for </a:t>
            </a: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Instant Pot</a:t>
            </a: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, which has seen a </a:t>
            </a: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large increase in ratings</a:t>
            </a:r>
            <a:endParaRPr lang="en-US" sz="1300" b="1" dirty="0">
              <a:latin typeface="Avenir Next LT Pro" panose="020B050402020202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No brand experiences a major decline in ratings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venir Next LT Pro" panose="020B0504020202020204" pitchFamily="34" charset="77"/>
                <a:ea typeface="+mn-lt"/>
                <a:cs typeface="+mn-lt"/>
              </a:rPr>
              <a:t>Suggests </a:t>
            </a:r>
            <a:r>
              <a:rPr lang="en-US" sz="1300" b="1" dirty="0">
                <a:latin typeface="Avenir Next LT Pro" panose="020B0504020202020204" pitchFamily="34" charset="77"/>
                <a:ea typeface="+mn-lt"/>
                <a:cs typeface="+mn-lt"/>
              </a:rPr>
              <a:t>competition not driven by quality differences, but by price and features</a:t>
            </a:r>
            <a:endParaRPr lang="en-US" sz="1300" dirty="0">
              <a:latin typeface="Avenir Next LT Pro" panose="020B0504020202020204" pitchFamily="34" charset="77"/>
              <a:cs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86AB28-36A3-5746-3A3B-06A9C355386B}"/>
              </a:ext>
            </a:extLst>
          </p:cNvPr>
          <p:cNvSpPr/>
          <p:nvPr/>
        </p:nvSpPr>
        <p:spPr>
          <a:xfrm>
            <a:off x="255619" y="4144501"/>
            <a:ext cx="5454322" cy="398038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 Next LT Pro"/>
              </a:rPr>
              <a:t>Consumer Satisfaction Trends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05AA40-59AC-96A4-8633-12552A95998D}"/>
              </a:ext>
            </a:extLst>
          </p:cNvPr>
          <p:cNvSpPr/>
          <p:nvPr/>
        </p:nvSpPr>
        <p:spPr>
          <a:xfrm>
            <a:off x="6611025" y="4144501"/>
            <a:ext cx="5454322" cy="398038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 Next LT Pro"/>
              </a:rPr>
              <a:t>Market Share Trends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EEBC7-A963-5B92-33CC-8929B2FF1EE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430" y="883481"/>
            <a:ext cx="4304828" cy="32440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7D8284-9D27-63D5-FEDB-7CEB54BFA2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2742" y="864032"/>
            <a:ext cx="4304828" cy="327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135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9F46-2811-09BC-7761-B6FF4ED3A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7258B2E-135E-64B0-5903-DDDB774C8A66}"/>
              </a:ext>
            </a:extLst>
          </p:cNvPr>
          <p:cNvSpPr/>
          <p:nvPr/>
        </p:nvSpPr>
        <p:spPr>
          <a:xfrm>
            <a:off x="0" y="-15054"/>
            <a:ext cx="12192000" cy="841764"/>
          </a:xfrm>
          <a:prstGeom prst="rect">
            <a:avLst/>
          </a:prstGeom>
          <a:solidFill>
            <a:schemeClr val="tx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92866-22F9-9287-4807-7DE59242987B}"/>
              </a:ext>
            </a:extLst>
          </p:cNvPr>
          <p:cNvSpPr/>
          <p:nvPr/>
        </p:nvSpPr>
        <p:spPr>
          <a:xfrm flipV="1">
            <a:off x="0" y="723672"/>
            <a:ext cx="12192000" cy="103037"/>
          </a:xfrm>
          <a:prstGeom prst="rect">
            <a:avLst/>
          </a:prstGeom>
          <a:solidFill>
            <a:srgbClr val="A9C86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53B5B2-C410-B430-36A4-E4B07BF57831}"/>
              </a:ext>
            </a:extLst>
          </p:cNvPr>
          <p:cNvSpPr txBox="1"/>
          <p:nvPr/>
        </p:nvSpPr>
        <p:spPr>
          <a:xfrm>
            <a:off x="255618" y="114629"/>
            <a:ext cx="11729109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Avenir Next LT Pro"/>
              </a:rPr>
              <a:t>Demand Model &amp; Price Coefficient Deep Dive</a:t>
            </a:r>
            <a:endParaRPr lang="en-US" sz="3200" b="1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9" name="Picture 2" descr="What's the Ninja logo supposed to be? Seems intentional : r/logodesign">
            <a:extLst>
              <a:ext uri="{FF2B5EF4-FFF2-40B4-BE49-F238E27FC236}">
                <a16:creationId xmlns:a16="http://schemas.microsoft.com/office/drawing/2014/main" id="{140A59DB-FF1D-DD7B-62AC-BC49F64848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5" b="27727"/>
          <a:stretch/>
        </p:blipFill>
        <p:spPr bwMode="auto">
          <a:xfrm>
            <a:off x="10871200" y="114629"/>
            <a:ext cx="1217163" cy="40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1777D73-C0A9-A032-A625-1BB37E894FC5}"/>
              </a:ext>
            </a:extLst>
          </p:cNvPr>
          <p:cNvGraphicFramePr/>
          <p:nvPr/>
        </p:nvGraphicFramePr>
        <p:xfrm>
          <a:off x="630809" y="6370052"/>
          <a:ext cx="11030279" cy="298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32A0FDAC-A100-1803-262B-E40DD014A16E}"/>
              </a:ext>
            </a:extLst>
          </p:cNvPr>
          <p:cNvSpPr/>
          <p:nvPr/>
        </p:nvSpPr>
        <p:spPr>
          <a:xfrm>
            <a:off x="418865" y="4037643"/>
            <a:ext cx="8282752" cy="486286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Avenir Next LT Pro"/>
              </a:rPr>
              <a:t>Negative State of Price Coefficient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E729E0-59FC-0BC9-AA10-39B8169F17BA}"/>
              </a:ext>
            </a:extLst>
          </p:cNvPr>
          <p:cNvSpPr/>
          <p:nvPr/>
        </p:nvSpPr>
        <p:spPr>
          <a:xfrm>
            <a:off x="424321" y="4521026"/>
            <a:ext cx="8276743" cy="1588133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,Sans-Serif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Economic Dynamics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: Demand decreases as price increases</a:t>
            </a:r>
          </a:p>
          <a:p>
            <a:pPr marL="285750" indent="-285750">
              <a:buFont typeface="Arial,Sans-Serif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The higher a firm’s price is, the lower the market share that firm will have</a:t>
            </a:r>
          </a:p>
          <a:p>
            <a:pPr marL="285750" indent="-285750">
              <a:buFont typeface="Arial,Sans-Serif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The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price coefficient being negative 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indicates that the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demand curve is downward sloping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 and confirms the law of demand that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for every dollar increase in price, log market share falls by 0.0377 log points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, holding everything else constant</a:t>
            </a:r>
          </a:p>
          <a:p>
            <a:pPr marL="285750" indent="-285750">
              <a:buFont typeface="Arial,Sans-Serif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Thus,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brands that charge more capture less of the market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C1AF30F-DC6E-ECBA-5456-89755DDF189E}"/>
              </a:ext>
            </a:extLst>
          </p:cNvPr>
          <p:cNvSpPr/>
          <p:nvPr/>
        </p:nvSpPr>
        <p:spPr>
          <a:xfrm>
            <a:off x="421381" y="1452948"/>
            <a:ext cx="8274943" cy="2324296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endParaRPr lang="en-US" sz="1500" dirty="0">
              <a:solidFill>
                <a:schemeClr val="tx1"/>
              </a:solidFill>
              <a:latin typeface="Avenir Next LT Pro"/>
            </a:endParaRPr>
          </a:p>
          <a:p>
            <a:pPr marL="285750" indent="-285750">
              <a:buFont typeface="Arial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Estimated consumer demand using a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multinomial logit demand model </a:t>
            </a:r>
          </a:p>
          <a:p>
            <a:pPr marL="285750" indent="-285750">
              <a:buFont typeface="Arial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The log of brand share was modeled as a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function of price, rating, product features, brand effects, and year effects</a:t>
            </a:r>
          </a:p>
          <a:p>
            <a:pPr marL="285750" indent="-285750">
              <a:buFont typeface="Arial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Model was estimated using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 linear regression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 on log market share</a:t>
            </a:r>
          </a:p>
          <a:p>
            <a:pPr marL="285750" indent="-285750">
              <a:buFont typeface="Arial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Allows for interpretation of how changes in price and product characteristics affect demand</a:t>
            </a:r>
          </a:p>
          <a:p>
            <a:pPr marL="285750" indent="-285750">
              <a:buFont typeface="Arial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Brand and year dummy variables included to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capture differences across brands and time periods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,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isolating the effect of price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 while controlling for product quality and brand strength</a:t>
            </a:r>
          </a:p>
          <a:p>
            <a:endParaRPr lang="en-US" sz="1500" dirty="0">
              <a:solidFill>
                <a:schemeClr val="tx1"/>
              </a:solidFill>
              <a:latin typeface="Avenir Next LT Pro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2F2C1C8-1B74-6DDC-BFE6-9F0B74E0B782}"/>
              </a:ext>
            </a:extLst>
          </p:cNvPr>
          <p:cNvSpPr/>
          <p:nvPr/>
        </p:nvSpPr>
        <p:spPr>
          <a:xfrm>
            <a:off x="409675" y="1013629"/>
            <a:ext cx="8276542" cy="432770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Avenir Next LT Pro"/>
              </a:rPr>
              <a:t>Demand Model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19487F-D0B5-6FFE-6760-7783A1AECF06}"/>
              </a:ext>
            </a:extLst>
          </p:cNvPr>
          <p:cNvSpPr/>
          <p:nvPr/>
        </p:nvSpPr>
        <p:spPr>
          <a:xfrm>
            <a:off x="8949032" y="4038379"/>
            <a:ext cx="2540905" cy="486287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Avenir Next LT Pro"/>
              </a:rPr>
              <a:t>Price Coefficient: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F6895E-994E-F472-433F-EEA64730DA07}"/>
              </a:ext>
            </a:extLst>
          </p:cNvPr>
          <p:cNvSpPr/>
          <p:nvPr/>
        </p:nvSpPr>
        <p:spPr>
          <a:xfrm>
            <a:off x="8947909" y="1013629"/>
            <a:ext cx="2542028" cy="428722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Avenir Next LT Pro"/>
              </a:rPr>
              <a:t>Model R</a:t>
            </a:r>
            <a:r>
              <a:rPr lang="en-US" b="1" baseline="30000">
                <a:solidFill>
                  <a:schemeClr val="tx1"/>
                </a:solidFill>
                <a:latin typeface="Avenir Next LT Pro"/>
              </a:rPr>
              <a:t>2</a:t>
            </a:r>
            <a:endParaRPr lang="en-US" baseline="30000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467300F-14BD-3054-5007-7F2E9799B11E}"/>
              </a:ext>
            </a:extLst>
          </p:cNvPr>
          <p:cNvSpPr/>
          <p:nvPr/>
        </p:nvSpPr>
        <p:spPr>
          <a:xfrm>
            <a:off x="8950758" y="1447056"/>
            <a:ext cx="2538777" cy="2324297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endParaRPr lang="en-US" sz="2000" dirty="0">
              <a:solidFill>
                <a:schemeClr val="tx1"/>
              </a:solidFill>
              <a:highlight>
                <a:srgbClr val="E1DFDD"/>
              </a:highlight>
              <a:latin typeface="Consolas"/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  <a:latin typeface="Consolas"/>
              </a:rPr>
              <a:t>~0.7635</a:t>
            </a:r>
            <a:endParaRPr lang="en-US" dirty="0">
              <a:solidFill>
                <a:schemeClr val="tx1"/>
              </a:solidFill>
            </a:endParaRPr>
          </a:p>
          <a:p>
            <a:endParaRPr lang="en-US" sz="1600" dirty="0">
              <a:solidFill>
                <a:schemeClr val="tx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The solid R</a:t>
            </a:r>
            <a:r>
              <a:rPr lang="en-US" sz="1400" baseline="300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2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suggests that the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model does a decent job capturing the main factors that influence brand demand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. However, external macroeconomic factors may also play a part in estimating brand demand.</a:t>
            </a:r>
            <a:endParaRPr lang="en-US" sz="140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  <a:p>
            <a:pPr marL="285750" indent="-285750">
              <a:buFont typeface="Arial"/>
              <a:buChar char="•"/>
            </a:pPr>
            <a:endParaRPr lang="en-US" sz="2800" dirty="0">
              <a:solidFill>
                <a:schemeClr val="tx1"/>
              </a:solidFill>
              <a:highlight>
                <a:srgbClr val="C0C0C0"/>
              </a:highlight>
              <a:latin typeface="Avenir Next LT Pro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11DE9D4-A11E-77BD-5368-E4AE56AF4968}"/>
              </a:ext>
            </a:extLst>
          </p:cNvPr>
          <p:cNvSpPr/>
          <p:nvPr/>
        </p:nvSpPr>
        <p:spPr>
          <a:xfrm>
            <a:off x="8951245" y="4523929"/>
            <a:ext cx="2538777" cy="1594045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onsolas"/>
                <a:ea typeface="+mn-lt"/>
                <a:cs typeface="+mn-lt"/>
              </a:rPr>
              <a:t>-0.0377 </a:t>
            </a:r>
            <a:endParaRPr lang="en-US" sz="2000" dirty="0">
              <a:solidFill>
                <a:schemeClr val="tx1"/>
              </a:solidFill>
              <a:highlight>
                <a:srgbClr val="E1DFDD"/>
              </a:highlight>
              <a:latin typeface="Consolas"/>
              <a:ea typeface="+mn-lt"/>
              <a:cs typeface="+mn-lt"/>
            </a:endParaRPr>
          </a:p>
          <a:p>
            <a:endParaRPr lang="en-US" sz="1600" dirty="0">
              <a:solidFill>
                <a:schemeClr val="tx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</a:rPr>
              <a:t>One constant price coefficient shared by all brands and years</a:t>
            </a:r>
          </a:p>
        </p:txBody>
      </p:sp>
    </p:spTree>
    <p:extLst>
      <p:ext uri="{BB962C8B-B14F-4D97-AF65-F5344CB8AC3E}">
        <p14:creationId xmlns:p14="http://schemas.microsoft.com/office/powerpoint/2010/main" val="2928451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D1DE2-4926-3B55-518C-CE9FB9C9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21C01300-FA93-075F-2E07-34797894CE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4189214"/>
              </p:ext>
            </p:extLst>
          </p:nvPr>
        </p:nvGraphicFramePr>
        <p:xfrm>
          <a:off x="630809" y="6370052"/>
          <a:ext cx="11030279" cy="298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3A95844-B99D-9B3A-7184-6D43D4BEB36B}"/>
              </a:ext>
            </a:extLst>
          </p:cNvPr>
          <p:cNvSpPr/>
          <p:nvPr/>
        </p:nvSpPr>
        <p:spPr>
          <a:xfrm>
            <a:off x="0" y="-15054"/>
            <a:ext cx="12192000" cy="841764"/>
          </a:xfrm>
          <a:prstGeom prst="rect">
            <a:avLst/>
          </a:prstGeom>
          <a:solidFill>
            <a:schemeClr val="tx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67E8AE-3072-665D-4B26-52E3FC3D7F37}"/>
              </a:ext>
            </a:extLst>
          </p:cNvPr>
          <p:cNvSpPr/>
          <p:nvPr/>
        </p:nvSpPr>
        <p:spPr>
          <a:xfrm flipV="1">
            <a:off x="0" y="723672"/>
            <a:ext cx="12192000" cy="103037"/>
          </a:xfrm>
          <a:prstGeom prst="rect">
            <a:avLst/>
          </a:prstGeom>
          <a:solidFill>
            <a:srgbClr val="A9C86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93488-C4AC-5459-093E-BB5D165088E7}"/>
              </a:ext>
            </a:extLst>
          </p:cNvPr>
          <p:cNvSpPr txBox="1"/>
          <p:nvPr/>
        </p:nvSpPr>
        <p:spPr>
          <a:xfrm>
            <a:off x="255618" y="114629"/>
            <a:ext cx="11729109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Avenir Next LT Pro"/>
              </a:rPr>
              <a:t>Air Fryer Product Feature Analysis</a:t>
            </a:r>
            <a:endParaRPr lang="en-US" sz="3200" b="1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9" name="Picture 2" descr="What's the Ninja logo supposed to be? Seems intentional : r/logodesign">
            <a:extLst>
              <a:ext uri="{FF2B5EF4-FFF2-40B4-BE49-F238E27FC236}">
                <a16:creationId xmlns:a16="http://schemas.microsoft.com/office/drawing/2014/main" id="{2119F8C5-25A6-0B4F-BE8B-4C6FBC76A2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5" b="27727"/>
          <a:stretch/>
        </p:blipFill>
        <p:spPr bwMode="auto">
          <a:xfrm>
            <a:off x="10871200" y="114629"/>
            <a:ext cx="1217163" cy="40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F35F10EF-6A30-724F-8886-D8B0D4F83E9E}"/>
              </a:ext>
            </a:extLst>
          </p:cNvPr>
          <p:cNvSpPr/>
          <p:nvPr/>
        </p:nvSpPr>
        <p:spPr>
          <a:xfrm>
            <a:off x="470645" y="1935358"/>
            <a:ext cx="3305968" cy="3623274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Air fryer windows 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are the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most impactful feature 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in the market.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Consumers value being able to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monitor food without interrupting the cooking process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, increasing convenience.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For Ninja, this implies that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enhancing or emphasizing transparent cooking chambers 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should be a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core product and marketing priority 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moving forward.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  <a:latin typeface="Avenir Next LT Pro" panose="020B0504020202020204" pitchFamily="34" charset="77"/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  <a:latin typeface="Avenir Next LT Pro" panose="020B0504020202020204" pitchFamily="34" charset="77"/>
              <a:ea typeface="+mn-lt"/>
              <a:cs typeface="+mn-l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E32D274-3C35-FEA2-ECFD-8C1EC1F58854}"/>
              </a:ext>
            </a:extLst>
          </p:cNvPr>
          <p:cNvSpPr/>
          <p:nvPr/>
        </p:nvSpPr>
        <p:spPr>
          <a:xfrm>
            <a:off x="470645" y="1560096"/>
            <a:ext cx="3307567" cy="375261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Window Presence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032D4C9-527D-8D6F-7547-5CD105D55A4A}"/>
              </a:ext>
            </a:extLst>
          </p:cNvPr>
          <p:cNvSpPr/>
          <p:nvPr/>
        </p:nvSpPr>
        <p:spPr>
          <a:xfrm>
            <a:off x="4332778" y="1950027"/>
            <a:ext cx="3305968" cy="3617078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Compactness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is the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second strongest driver of demand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, indicating that consumers likely prioritize saving counter space.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This reflects air fryers' status as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secondary kitchen appliances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, often used in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smaller living spaces 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such as apartments or shared households.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Ninja should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prioritize footprint reduction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without sacrificing functionality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. Marketing should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position compact design as a key reason for adoption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.</a:t>
            </a:r>
            <a:endParaRPr lang="en-US" sz="1600" dirty="0">
              <a:solidFill>
                <a:schemeClr val="tx1"/>
              </a:solidFill>
              <a:latin typeface="Avenir Next LT Pro" panose="020B0504020202020204" pitchFamily="34" charset="77"/>
              <a:ea typeface="+mn-lt"/>
              <a:cs typeface="+mn-lt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87FF49-F811-24C7-61EB-E2CE6673D63A}"/>
              </a:ext>
            </a:extLst>
          </p:cNvPr>
          <p:cNvSpPr/>
          <p:nvPr/>
        </p:nvSpPr>
        <p:spPr>
          <a:xfrm>
            <a:off x="4332001" y="1560096"/>
            <a:ext cx="3307567" cy="375261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Compact Size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72A0307-A858-3DC3-2A5E-E3BDA040ACAE}"/>
              </a:ext>
            </a:extLst>
          </p:cNvPr>
          <p:cNvSpPr/>
          <p:nvPr/>
        </p:nvSpPr>
        <p:spPr>
          <a:xfrm>
            <a:off x="8193357" y="1935359"/>
            <a:ext cx="3293578" cy="3637940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Rotisserie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and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dual basket features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 are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associated with lower market shares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Investment in these features is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unlikely to drive demand 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and may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detract from Ninja’s core positioning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Ninja should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prioritize allocating R&amp;D for future models on features besides these two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. Marketing should also </a:t>
            </a:r>
            <a:r>
              <a:rPr lang="en-US" sz="1400" b="1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avoid highlighting these as competitive differentiating factors for current models</a:t>
            </a:r>
            <a:r>
              <a:rPr lang="en-US" sz="1400" dirty="0">
                <a:solidFill>
                  <a:schemeClr val="tx1"/>
                </a:solidFill>
                <a:latin typeface="Avenir Next LT Pro" panose="020B0504020202020204" pitchFamily="34" charset="77"/>
                <a:ea typeface="+mn-lt"/>
                <a:cs typeface="+mn-lt"/>
              </a:rPr>
              <a:t>.</a:t>
            </a:r>
            <a:endParaRPr lang="en-US" sz="160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DAD66AF-E697-4415-CB0A-C47538F92B30}"/>
              </a:ext>
            </a:extLst>
          </p:cNvPr>
          <p:cNvSpPr/>
          <p:nvPr/>
        </p:nvSpPr>
        <p:spPr>
          <a:xfrm>
            <a:off x="8193357" y="1560096"/>
            <a:ext cx="3307567" cy="375261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Avoid Rotisserie and Dual Basket</a:t>
            </a:r>
          </a:p>
        </p:txBody>
      </p:sp>
    </p:spTree>
    <p:extLst>
      <p:ext uri="{BB962C8B-B14F-4D97-AF65-F5344CB8AC3E}">
        <p14:creationId xmlns:p14="http://schemas.microsoft.com/office/powerpoint/2010/main" val="1324467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05568-36CC-8744-D728-E416AA618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1F97196-AA2A-D413-9DBB-FF48D81D7721}"/>
              </a:ext>
            </a:extLst>
          </p:cNvPr>
          <p:cNvSpPr/>
          <p:nvPr/>
        </p:nvSpPr>
        <p:spPr>
          <a:xfrm>
            <a:off x="0" y="-15054"/>
            <a:ext cx="12192000" cy="841764"/>
          </a:xfrm>
          <a:prstGeom prst="rect">
            <a:avLst/>
          </a:prstGeom>
          <a:solidFill>
            <a:schemeClr val="tx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A9B83D-9D1F-9FE8-B2A8-15D4389F2237}"/>
              </a:ext>
            </a:extLst>
          </p:cNvPr>
          <p:cNvSpPr txBox="1"/>
          <p:nvPr/>
        </p:nvSpPr>
        <p:spPr>
          <a:xfrm>
            <a:off x="-68021" y="114629"/>
            <a:ext cx="11729109" cy="5078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700" b="1" dirty="0">
                <a:solidFill>
                  <a:schemeClr val="bg1"/>
                </a:solidFill>
                <a:latin typeface="Avenir Next LT Pro"/>
              </a:rPr>
              <a:t>Pricing Analysis of Unit Costs, Markups, &amp; Share-Weighted Profits</a:t>
            </a:r>
            <a:endParaRPr lang="en-US" sz="2700" b="1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9" name="Picture 2" descr="What's the Ninja logo supposed to be? Seems intentional : r/logodesign">
            <a:extLst>
              <a:ext uri="{FF2B5EF4-FFF2-40B4-BE49-F238E27FC236}">
                <a16:creationId xmlns:a16="http://schemas.microsoft.com/office/drawing/2014/main" id="{EB614D9B-B90F-EE29-D5A0-B270AEC99A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5" b="27727"/>
          <a:stretch/>
        </p:blipFill>
        <p:spPr bwMode="auto">
          <a:xfrm>
            <a:off x="10871200" y="114629"/>
            <a:ext cx="1217163" cy="40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BB6412D-3D70-21BC-389D-80DF91E3E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54" y="774462"/>
            <a:ext cx="3061649" cy="29910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777320A-1FE9-5B65-6C82-17335C4942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5176" y="802973"/>
            <a:ext cx="3034590" cy="305281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E404346-D1B5-EBD4-9BC3-747A32642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6498" y="769614"/>
            <a:ext cx="3034590" cy="2990611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7957B61-2D97-FB6E-6F07-D1243ADB7503}"/>
              </a:ext>
            </a:extLst>
          </p:cNvPr>
          <p:cNvSpPr/>
          <p:nvPr/>
        </p:nvSpPr>
        <p:spPr>
          <a:xfrm>
            <a:off x="112076" y="3839526"/>
            <a:ext cx="11976287" cy="380453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Avenir Next LT Pro"/>
              </a:rPr>
              <a:t>Takeaways from Pricing Analysis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7B8CE23-69B6-5917-F0C6-690E7E4172EB}"/>
              </a:ext>
            </a:extLst>
          </p:cNvPr>
          <p:cNvSpPr/>
          <p:nvPr/>
        </p:nvSpPr>
        <p:spPr>
          <a:xfrm>
            <a:off x="103637" y="4217076"/>
            <a:ext cx="11976287" cy="2113691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,Sans-Serif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Unit costs vary dramatically across brands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, ranging from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$27.94 for Dash to $194.90 for Cuisinart 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with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Ninja at a mid-level cost of $112.49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. Our analysis found that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spending more in unit costs does not result in higher consumer satisfaction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. So, Ninja should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focus on product design and marketing 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rather than increasing production quality or production cost.</a:t>
            </a:r>
          </a:p>
          <a:p>
            <a:pPr marL="285750" indent="-285750">
              <a:buFont typeface="Arial,Sans-Serif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Markups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 are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relatively uniform across brands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, ranging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from $27 to $33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. This means premium brands charge more because of higher production costs, not because of greater pricing power. Given its strong positioning,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Ninja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 has room to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increase its $33 markup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.</a:t>
            </a:r>
          </a:p>
          <a:p>
            <a:pPr marL="285750" indent="-285750">
              <a:buFont typeface="Arial,Sans-Serif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Ninja has the highest share-weighted profit of 6.31 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with its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main competitor Instant Pot trailing behind at 6.01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 and all other brands meaningfully below this. Thus,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Ninja has dominant profitability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 led by its dominant market share.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 </a:t>
            </a:r>
          </a:p>
          <a:p>
            <a:pPr marL="285750" indent="-285750">
              <a:buFont typeface="Arial,Sans-Serif"/>
              <a:buChar char="•"/>
            </a:pPr>
            <a:r>
              <a:rPr lang="en-US" sz="1500" dirty="0">
                <a:solidFill>
                  <a:schemeClr val="tx1"/>
                </a:solidFill>
                <a:latin typeface="Avenir Next LT Pro"/>
              </a:rPr>
              <a:t>Ninja should focus on 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protecting and growing market share and increasing its markup </a:t>
            </a:r>
            <a:r>
              <a:rPr lang="en-US" sz="1500" dirty="0">
                <a:solidFill>
                  <a:schemeClr val="tx1"/>
                </a:solidFill>
                <a:latin typeface="Avenir Next LT Pro"/>
              </a:rPr>
              <a:t>going forward</a:t>
            </a:r>
            <a:r>
              <a:rPr lang="en-US" sz="1500" b="1" dirty="0">
                <a:solidFill>
                  <a:schemeClr val="tx1"/>
                </a:solidFill>
                <a:latin typeface="Avenir Next LT Pro"/>
              </a:rPr>
              <a:t> to maintain its position.</a:t>
            </a:r>
            <a:endParaRPr lang="en-US" sz="1500" dirty="0">
              <a:solidFill>
                <a:schemeClr val="tx1"/>
              </a:solidFill>
              <a:latin typeface="Avenir Next LT Pro"/>
            </a:endParaRPr>
          </a:p>
        </p:txBody>
      </p:sp>
      <p:graphicFrame>
        <p:nvGraphicFramePr>
          <p:cNvPr id="23" name="Diagram 22">
            <a:extLst>
              <a:ext uri="{FF2B5EF4-FFF2-40B4-BE49-F238E27FC236}">
                <a16:creationId xmlns:a16="http://schemas.microsoft.com/office/drawing/2014/main" id="{BC797E95-75EF-1E41-BA07-011E10EB43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2162862"/>
              </p:ext>
            </p:extLst>
          </p:nvPr>
        </p:nvGraphicFramePr>
        <p:xfrm>
          <a:off x="630809" y="6370052"/>
          <a:ext cx="11030279" cy="298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DBA4C60E-8DF3-F180-0E2C-4A7F93D9327F}"/>
              </a:ext>
            </a:extLst>
          </p:cNvPr>
          <p:cNvSpPr/>
          <p:nvPr/>
        </p:nvSpPr>
        <p:spPr>
          <a:xfrm flipV="1">
            <a:off x="0" y="723672"/>
            <a:ext cx="12192000" cy="103037"/>
          </a:xfrm>
          <a:prstGeom prst="rect">
            <a:avLst/>
          </a:prstGeom>
          <a:solidFill>
            <a:srgbClr val="A9C86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0360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54CA9-EED4-3450-23CA-83FB4C9A0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6CA5EF4-2FF8-4799-DEF0-40A2F4F63C37}"/>
              </a:ext>
            </a:extLst>
          </p:cNvPr>
          <p:cNvSpPr/>
          <p:nvPr/>
        </p:nvSpPr>
        <p:spPr>
          <a:xfrm>
            <a:off x="0" y="-15054"/>
            <a:ext cx="12192000" cy="841764"/>
          </a:xfrm>
          <a:prstGeom prst="rect">
            <a:avLst/>
          </a:prstGeom>
          <a:solidFill>
            <a:schemeClr val="tx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5991EE-7E04-8852-5E47-0F0105C698E8}"/>
              </a:ext>
            </a:extLst>
          </p:cNvPr>
          <p:cNvSpPr/>
          <p:nvPr/>
        </p:nvSpPr>
        <p:spPr>
          <a:xfrm flipV="1">
            <a:off x="0" y="723672"/>
            <a:ext cx="12192000" cy="103037"/>
          </a:xfrm>
          <a:prstGeom prst="rect">
            <a:avLst/>
          </a:prstGeom>
          <a:solidFill>
            <a:srgbClr val="A9C86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0F51BA-EE78-6221-D5A7-B13310096476}"/>
              </a:ext>
            </a:extLst>
          </p:cNvPr>
          <p:cNvSpPr txBox="1"/>
          <p:nvPr/>
        </p:nvSpPr>
        <p:spPr>
          <a:xfrm>
            <a:off x="255618" y="114629"/>
            <a:ext cx="1172910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Avenir Next LT Pro"/>
              </a:rPr>
              <a:t>Market Positioning Key Takeaways</a:t>
            </a:r>
            <a:endParaRPr lang="en-US" sz="2800" b="1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9" name="Picture 2" descr="What's the Ninja logo supposed to be? Seems intentional : r/logodesign">
            <a:extLst>
              <a:ext uri="{FF2B5EF4-FFF2-40B4-BE49-F238E27FC236}">
                <a16:creationId xmlns:a16="http://schemas.microsoft.com/office/drawing/2014/main" id="{CD789831-E656-3A3D-220D-3883C20E29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5" b="27727"/>
          <a:stretch/>
        </p:blipFill>
        <p:spPr bwMode="auto">
          <a:xfrm>
            <a:off x="10871200" y="114629"/>
            <a:ext cx="1217163" cy="40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3B50A55-7C96-8DC6-F6E3-D51AB4486357}"/>
              </a:ext>
            </a:extLst>
          </p:cNvPr>
          <p:cNvSpPr/>
          <p:nvPr/>
        </p:nvSpPr>
        <p:spPr>
          <a:xfrm>
            <a:off x="4364554" y="928254"/>
            <a:ext cx="7544381" cy="380453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 Next LT Pro"/>
              </a:rPr>
              <a:t>Competitive Landscape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F45645-7733-ABDA-A8B6-149798345AD5}"/>
              </a:ext>
            </a:extLst>
          </p:cNvPr>
          <p:cNvSpPr/>
          <p:nvPr/>
        </p:nvSpPr>
        <p:spPr>
          <a:xfrm>
            <a:off x="4366096" y="1305805"/>
            <a:ext cx="7542287" cy="1967824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,Sans-Serif"/>
              <a:buChar char="•"/>
            </a:pPr>
            <a:r>
              <a:rPr lang="en-US" sz="1300" dirty="0">
                <a:solidFill>
                  <a:schemeClr val="tx1"/>
                </a:solidFill>
                <a:latin typeface="Avenir Next LT Pro"/>
              </a:rPr>
              <a:t>The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average rating 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across brands is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consistent and stable 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(ranging between 4.3-4.8), but brand shares fluctuate drastically with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Instant Pot and Ninja leading 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and </a:t>
            </a:r>
            <a:r>
              <a:rPr lang="en-US" sz="1300" dirty="0" err="1">
                <a:solidFill>
                  <a:schemeClr val="tx1"/>
                </a:solidFill>
                <a:latin typeface="Avenir Next LT Pro"/>
              </a:rPr>
              <a:t>Chefman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 and </a:t>
            </a:r>
            <a:r>
              <a:rPr lang="en-US" sz="1300" dirty="0" err="1">
                <a:solidFill>
                  <a:schemeClr val="tx1"/>
                </a:solidFill>
                <a:latin typeface="Avenir Next LT Pro"/>
              </a:rPr>
              <a:t>Cosori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 also trending upwards</a:t>
            </a:r>
          </a:p>
          <a:p>
            <a:pPr marL="285750" indent="-285750">
              <a:buFont typeface="Arial,Sans-Serif"/>
              <a:buChar char="•"/>
            </a:pPr>
            <a:r>
              <a:rPr lang="en-US" sz="1300" dirty="0">
                <a:solidFill>
                  <a:schemeClr val="tx1"/>
                </a:solidFill>
                <a:latin typeface="Avenir Next LT Pro"/>
              </a:rPr>
              <a:t>Most brands have average profits ranging from ~0 to ~5, except for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Ninja, Instant Pot, and </a:t>
            </a:r>
            <a:r>
              <a:rPr lang="en-US" sz="1300" b="1" dirty="0" err="1">
                <a:solidFill>
                  <a:schemeClr val="tx1"/>
                </a:solidFill>
                <a:latin typeface="Avenir Next LT Pro"/>
              </a:rPr>
              <a:t>GoWise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 USA leading with average profits between ~5 and ~10</a:t>
            </a:r>
          </a:p>
          <a:p>
            <a:pPr marL="285750" indent="-285750">
              <a:buFont typeface="Arial,Sans-Serif"/>
              <a:buChar char="•"/>
            </a:pPr>
            <a:r>
              <a:rPr lang="en-US" sz="1300" dirty="0">
                <a:solidFill>
                  <a:schemeClr val="tx1"/>
                </a:solidFill>
                <a:latin typeface="Avenir Next LT Pro"/>
              </a:rPr>
              <a:t>Ninja and Instant Pot have significantly higher share-weighted average profits at 6.31 and 6.01, respectively</a:t>
            </a:r>
          </a:p>
          <a:p>
            <a:pPr marL="285750" indent="-285750">
              <a:buFont typeface="Arial,Sans-Serif"/>
              <a:buChar char="•"/>
            </a:pPr>
            <a:r>
              <a:rPr lang="en-US" sz="1300" dirty="0">
                <a:solidFill>
                  <a:schemeClr val="tx1"/>
                </a:solidFill>
                <a:latin typeface="Avenir Next LT Pro"/>
              </a:rPr>
              <a:t>Overall,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Ninja and Instant Pot are the market leaders 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for their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mid-priced air fryers and large market shares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A8FDCED-7B09-2830-0CC0-B554AD2D0AC8}"/>
              </a:ext>
            </a:extLst>
          </p:cNvPr>
          <p:cNvSpPr/>
          <p:nvPr/>
        </p:nvSpPr>
        <p:spPr>
          <a:xfrm>
            <a:off x="4369449" y="3375333"/>
            <a:ext cx="7823444" cy="380453"/>
          </a:xfrm>
          <a:prstGeom prst="rect">
            <a:avLst/>
          </a:prstGeom>
          <a:solidFill>
            <a:srgbClr val="A9C86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Avenir Next LT Pro"/>
              </a:rPr>
              <a:t>Ninja’s Current Positioning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39BE9D-65C6-8EAF-DA12-288D9062799D}"/>
              </a:ext>
            </a:extLst>
          </p:cNvPr>
          <p:cNvSpPr/>
          <p:nvPr/>
        </p:nvSpPr>
        <p:spPr>
          <a:xfrm>
            <a:off x="4379374" y="3752885"/>
            <a:ext cx="7812626" cy="2489861"/>
          </a:xfrm>
          <a:prstGeom prst="rect">
            <a:avLst/>
          </a:prstGeom>
          <a:solidFill>
            <a:schemeClr val="bg1"/>
          </a:solidFill>
          <a:ln>
            <a:solidFill>
              <a:srgbClr val="A9C8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,Sans-Serif"/>
              <a:buChar char="•"/>
            </a:pP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Ninja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 has the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highest average market share (19%)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,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best average consumer ratings (4.74), 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and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highest share-weighted profit (6.31)</a:t>
            </a:r>
          </a:p>
          <a:p>
            <a:pPr marL="285750" indent="-285750">
              <a:buFont typeface="Arial,Sans-Serif"/>
              <a:buChar char="•"/>
            </a:pPr>
            <a:r>
              <a:rPr lang="en-US" sz="1300" dirty="0">
                <a:solidFill>
                  <a:schemeClr val="tx1"/>
                </a:solidFill>
                <a:latin typeface="Avenir Next LT Pro"/>
              </a:rPr>
              <a:t>On these dimensions, Ninja clearly beats out competition and positions itself as the market leader</a:t>
            </a:r>
          </a:p>
          <a:p>
            <a:pPr marL="285750" indent="-285750">
              <a:buFont typeface="Arial,Sans-Serif"/>
              <a:buChar char="•"/>
            </a:pPr>
            <a:r>
              <a:rPr lang="en-US" sz="1300" dirty="0">
                <a:solidFill>
                  <a:schemeClr val="tx1"/>
                </a:solidFill>
                <a:latin typeface="Avenir Next LT Pro"/>
              </a:rPr>
              <a:t>Ninja also holds the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best brand equity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 where its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fixed effects are 5.84 points 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above the baseline, indicating consumers choose Ninja even when controlling for price, ratings, and features</a:t>
            </a:r>
          </a:p>
          <a:p>
            <a:pPr marL="285750" indent="-285750">
              <a:buFont typeface="Arial,Sans-Serif"/>
              <a:buChar char="•"/>
            </a:pPr>
            <a:r>
              <a:rPr lang="en-US" sz="1300" b="1" u="sng" dirty="0">
                <a:solidFill>
                  <a:schemeClr val="tx1"/>
                </a:solidFill>
                <a:latin typeface="Avenir Next LT Pro"/>
              </a:rPr>
              <a:t>Next Steps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: Ninja has room to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raise prices as the industry premium leader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. Its current markup of $33 is barely higher than Dash’s markup of $30 despite Ninja’s brand strength and superior ratings. Ninja should also focus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on growing its market share in order to maximize profitability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.</a:t>
            </a:r>
          </a:p>
          <a:p>
            <a:pPr marL="285750" indent="-285750">
              <a:buFont typeface="Arial,Sans-Serif"/>
              <a:buChar char="•"/>
            </a:pPr>
            <a:r>
              <a:rPr lang="en-US" sz="1300" b="1" u="sng" dirty="0">
                <a:solidFill>
                  <a:schemeClr val="tx1"/>
                </a:solidFill>
                <a:latin typeface="Avenir Next LT Pro"/>
              </a:rPr>
              <a:t>Competition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: Ninja should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be wary of Instant Pot 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since it is the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only brand with a share-weighted profit close to Ninja’s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 of 6.01 and has </a:t>
            </a:r>
            <a:r>
              <a:rPr lang="en-US" sz="1300" b="1" dirty="0">
                <a:solidFill>
                  <a:schemeClr val="tx1"/>
                </a:solidFill>
                <a:latin typeface="Avenir Next LT Pro"/>
              </a:rPr>
              <a:t>strong brand recognition </a:t>
            </a:r>
            <a:r>
              <a:rPr lang="en-US" sz="1300" dirty="0">
                <a:solidFill>
                  <a:schemeClr val="tx1"/>
                </a:solidFill>
                <a:latin typeface="Avenir Next LT Pro"/>
              </a:rPr>
              <a:t>from their pressure cooker halo. If the brand invests more aggressively in their air fryer segment, it could threaten Ninja’s dominance.</a:t>
            </a:r>
          </a:p>
        </p:txBody>
      </p:sp>
      <p:graphicFrame>
        <p:nvGraphicFramePr>
          <p:cNvPr id="23" name="Diagram 22">
            <a:extLst>
              <a:ext uri="{FF2B5EF4-FFF2-40B4-BE49-F238E27FC236}">
                <a16:creationId xmlns:a16="http://schemas.microsoft.com/office/drawing/2014/main" id="{2A70921B-740C-4A48-6AA3-A6D63BC2ACA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7546108"/>
              </p:ext>
            </p:extLst>
          </p:nvPr>
        </p:nvGraphicFramePr>
        <p:xfrm>
          <a:off x="630809" y="6370052"/>
          <a:ext cx="11030279" cy="298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Shape 0">
            <a:extLst>
              <a:ext uri="{FF2B5EF4-FFF2-40B4-BE49-F238E27FC236}">
                <a16:creationId xmlns:a16="http://schemas.microsoft.com/office/drawing/2014/main" id="{1B39EBC1-ED30-4DB3-0AB1-00EFF565763C}"/>
              </a:ext>
            </a:extLst>
          </p:cNvPr>
          <p:cNvSpPr/>
          <p:nvPr/>
        </p:nvSpPr>
        <p:spPr>
          <a:xfrm>
            <a:off x="482311" y="1691669"/>
            <a:ext cx="3794760" cy="4069080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E209795-E7D7-32E3-CA74-35AEE3CC0A56}"/>
              </a:ext>
            </a:extLst>
          </p:cNvPr>
          <p:cNvSpPr/>
          <p:nvPr/>
        </p:nvSpPr>
        <p:spPr>
          <a:xfrm>
            <a:off x="774216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5BEB6-49A9-F1FF-85B1-033F465E26FB}"/>
              </a:ext>
            </a:extLst>
          </p:cNvPr>
          <p:cNvSpPr/>
          <p:nvPr/>
        </p:nvSpPr>
        <p:spPr>
          <a:xfrm>
            <a:off x="609624" y="5807397"/>
            <a:ext cx="3291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</a:t>
            </a:r>
            <a:endParaRPr lang="en-US" sz="700" dirty="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C584A77B-F886-F827-4880-33495A833CD4}"/>
              </a:ext>
            </a:extLst>
          </p:cNvPr>
          <p:cNvSpPr/>
          <p:nvPr/>
        </p:nvSpPr>
        <p:spPr>
          <a:xfrm>
            <a:off x="1163422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263019AD-BF36-C32E-D540-696E30FE8353}"/>
              </a:ext>
            </a:extLst>
          </p:cNvPr>
          <p:cNvSpPr/>
          <p:nvPr/>
        </p:nvSpPr>
        <p:spPr>
          <a:xfrm>
            <a:off x="998830" y="5807397"/>
            <a:ext cx="3291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</a:t>
            </a:r>
            <a:endParaRPr lang="en-US" sz="7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46449EEB-777E-DEC6-5B84-06536F5425DE}"/>
              </a:ext>
            </a:extLst>
          </p:cNvPr>
          <p:cNvSpPr/>
          <p:nvPr/>
        </p:nvSpPr>
        <p:spPr>
          <a:xfrm>
            <a:off x="1552628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A57F2FA-1F7A-0CB2-92DE-3B7978FBD9E0}"/>
              </a:ext>
            </a:extLst>
          </p:cNvPr>
          <p:cNvSpPr/>
          <p:nvPr/>
        </p:nvSpPr>
        <p:spPr>
          <a:xfrm>
            <a:off x="1941834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E4B7B419-2A4E-295B-DEA3-5FC2CE410139}"/>
              </a:ext>
            </a:extLst>
          </p:cNvPr>
          <p:cNvSpPr/>
          <p:nvPr/>
        </p:nvSpPr>
        <p:spPr>
          <a:xfrm>
            <a:off x="1711497" y="5810941"/>
            <a:ext cx="451495" cy="157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</a:t>
            </a:r>
            <a:endParaRPr lang="en-US" sz="70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7DC7BB44-EBF7-2B64-D2D8-94803B8005D8}"/>
              </a:ext>
            </a:extLst>
          </p:cNvPr>
          <p:cNvSpPr/>
          <p:nvPr/>
        </p:nvSpPr>
        <p:spPr>
          <a:xfrm>
            <a:off x="2331040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7F7078B5-BD6A-D900-04AA-EC43C254E538}"/>
              </a:ext>
            </a:extLst>
          </p:cNvPr>
          <p:cNvSpPr/>
          <p:nvPr/>
        </p:nvSpPr>
        <p:spPr>
          <a:xfrm>
            <a:off x="2140639" y="5810943"/>
            <a:ext cx="421485" cy="15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</a:t>
            </a:r>
            <a:endParaRPr lang="en-US" sz="700" dirty="0"/>
          </a:p>
        </p:txBody>
      </p:sp>
      <p:sp>
        <p:nvSpPr>
          <p:cNvPr id="22" name="Shape 11">
            <a:extLst>
              <a:ext uri="{FF2B5EF4-FFF2-40B4-BE49-F238E27FC236}">
                <a16:creationId xmlns:a16="http://schemas.microsoft.com/office/drawing/2014/main" id="{02DE2DEB-4137-F08C-65B5-86E5EBFE066A}"/>
              </a:ext>
            </a:extLst>
          </p:cNvPr>
          <p:cNvSpPr/>
          <p:nvPr/>
        </p:nvSpPr>
        <p:spPr>
          <a:xfrm>
            <a:off x="2720246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4A087C53-C7FF-379D-3030-334AEEEA13C2}"/>
              </a:ext>
            </a:extLst>
          </p:cNvPr>
          <p:cNvSpPr/>
          <p:nvPr/>
        </p:nvSpPr>
        <p:spPr>
          <a:xfrm>
            <a:off x="2493363" y="5820742"/>
            <a:ext cx="391475" cy="137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$160</a:t>
            </a:r>
            <a:endParaRPr lang="en-US" sz="700" dirty="0"/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EED7E2D3-3A29-13AD-1E1C-714F9A6BF2FA}"/>
              </a:ext>
            </a:extLst>
          </p:cNvPr>
          <p:cNvSpPr/>
          <p:nvPr/>
        </p:nvSpPr>
        <p:spPr>
          <a:xfrm>
            <a:off x="3109453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B396685F-445D-4B46-680C-610E81967213}"/>
              </a:ext>
            </a:extLst>
          </p:cNvPr>
          <p:cNvSpPr/>
          <p:nvPr/>
        </p:nvSpPr>
        <p:spPr>
          <a:xfrm>
            <a:off x="2882570" y="5810944"/>
            <a:ext cx="391475" cy="1574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</a:t>
            </a:r>
            <a:endParaRPr lang="en-US" sz="7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BE19EC94-132F-CF1B-086F-9C5855771262}"/>
              </a:ext>
            </a:extLst>
          </p:cNvPr>
          <p:cNvSpPr/>
          <p:nvPr/>
        </p:nvSpPr>
        <p:spPr>
          <a:xfrm>
            <a:off x="3498659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1120B80A-F154-AABA-EDAD-9D6B5B7D3B8B}"/>
              </a:ext>
            </a:extLst>
          </p:cNvPr>
          <p:cNvSpPr/>
          <p:nvPr/>
        </p:nvSpPr>
        <p:spPr>
          <a:xfrm>
            <a:off x="3283970" y="5797323"/>
            <a:ext cx="379281" cy="1847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</a:t>
            </a:r>
            <a:endParaRPr lang="en-US" sz="700" dirty="0"/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0961F885-8348-18F1-785F-F92665BB6273}"/>
              </a:ext>
            </a:extLst>
          </p:cNvPr>
          <p:cNvSpPr/>
          <p:nvPr/>
        </p:nvSpPr>
        <p:spPr>
          <a:xfrm>
            <a:off x="3887865" y="1691669"/>
            <a:ext cx="0" cy="406908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EC230159-32AD-543C-8D56-843598DF505C}"/>
              </a:ext>
            </a:extLst>
          </p:cNvPr>
          <p:cNvSpPr/>
          <p:nvPr/>
        </p:nvSpPr>
        <p:spPr>
          <a:xfrm>
            <a:off x="3673176" y="5810945"/>
            <a:ext cx="379281" cy="157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$220</a:t>
            </a:r>
            <a:endParaRPr lang="en-US" sz="700" dirty="0"/>
          </a:p>
        </p:txBody>
      </p:sp>
      <p:sp>
        <p:nvSpPr>
          <p:cNvPr id="31" name="Shape 19">
            <a:extLst>
              <a:ext uri="{FF2B5EF4-FFF2-40B4-BE49-F238E27FC236}">
                <a16:creationId xmlns:a16="http://schemas.microsoft.com/office/drawing/2014/main" id="{6CC01FF6-C0CB-5CD0-DA3F-D5AF724B2840}"/>
              </a:ext>
            </a:extLst>
          </p:cNvPr>
          <p:cNvSpPr/>
          <p:nvPr/>
        </p:nvSpPr>
        <p:spPr>
          <a:xfrm>
            <a:off x="482311" y="5594664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0">
            <a:extLst>
              <a:ext uri="{FF2B5EF4-FFF2-40B4-BE49-F238E27FC236}">
                <a16:creationId xmlns:a16="http://schemas.microsoft.com/office/drawing/2014/main" id="{151D1C38-1CC9-4F7A-FF8D-CDF3F4CB9920}"/>
              </a:ext>
            </a:extLst>
          </p:cNvPr>
          <p:cNvSpPr/>
          <p:nvPr/>
        </p:nvSpPr>
        <p:spPr>
          <a:xfrm>
            <a:off x="98263" y="5512368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4.35</a:t>
            </a:r>
            <a:endParaRPr lang="en-US" sz="700" dirty="0"/>
          </a:p>
        </p:txBody>
      </p:sp>
      <p:sp>
        <p:nvSpPr>
          <p:cNvPr id="33" name="Shape 21">
            <a:extLst>
              <a:ext uri="{FF2B5EF4-FFF2-40B4-BE49-F238E27FC236}">
                <a16:creationId xmlns:a16="http://schemas.microsoft.com/office/drawing/2014/main" id="{E7B926E5-437E-3A19-C8B1-B897A8A51F06}"/>
              </a:ext>
            </a:extLst>
          </p:cNvPr>
          <p:cNvSpPr/>
          <p:nvPr/>
        </p:nvSpPr>
        <p:spPr>
          <a:xfrm>
            <a:off x="482311" y="5179452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A534C350-CF4C-AC10-447D-ED0A98BED130}"/>
              </a:ext>
            </a:extLst>
          </p:cNvPr>
          <p:cNvSpPr/>
          <p:nvPr/>
        </p:nvSpPr>
        <p:spPr>
          <a:xfrm>
            <a:off x="98263" y="5097156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4.40</a:t>
            </a:r>
            <a:endParaRPr lang="en-US" sz="700" dirty="0"/>
          </a:p>
        </p:txBody>
      </p:sp>
      <p:sp>
        <p:nvSpPr>
          <p:cNvPr id="35" name="Shape 23">
            <a:extLst>
              <a:ext uri="{FF2B5EF4-FFF2-40B4-BE49-F238E27FC236}">
                <a16:creationId xmlns:a16="http://schemas.microsoft.com/office/drawing/2014/main" id="{55D685CD-BB86-FC38-59D4-B05EDEBE7DA9}"/>
              </a:ext>
            </a:extLst>
          </p:cNvPr>
          <p:cNvSpPr/>
          <p:nvPr/>
        </p:nvSpPr>
        <p:spPr>
          <a:xfrm>
            <a:off x="482311" y="4764240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4">
            <a:extLst>
              <a:ext uri="{FF2B5EF4-FFF2-40B4-BE49-F238E27FC236}">
                <a16:creationId xmlns:a16="http://schemas.microsoft.com/office/drawing/2014/main" id="{BA8B4B99-406C-6131-D56D-6AE9152D4FF8}"/>
              </a:ext>
            </a:extLst>
          </p:cNvPr>
          <p:cNvSpPr/>
          <p:nvPr/>
        </p:nvSpPr>
        <p:spPr>
          <a:xfrm>
            <a:off x="98263" y="4681944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4.45</a:t>
            </a:r>
            <a:endParaRPr lang="en-US" sz="700" dirty="0"/>
          </a:p>
        </p:txBody>
      </p:sp>
      <p:sp>
        <p:nvSpPr>
          <p:cNvPr id="37" name="Shape 25">
            <a:extLst>
              <a:ext uri="{FF2B5EF4-FFF2-40B4-BE49-F238E27FC236}">
                <a16:creationId xmlns:a16="http://schemas.microsoft.com/office/drawing/2014/main" id="{68A8FD24-E3BF-DB05-27C4-581FCE523426}"/>
              </a:ext>
            </a:extLst>
          </p:cNvPr>
          <p:cNvSpPr/>
          <p:nvPr/>
        </p:nvSpPr>
        <p:spPr>
          <a:xfrm>
            <a:off x="482311" y="4349027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4B1E65CE-929C-A4ED-9322-909D34B1A1BD}"/>
              </a:ext>
            </a:extLst>
          </p:cNvPr>
          <p:cNvSpPr/>
          <p:nvPr/>
        </p:nvSpPr>
        <p:spPr>
          <a:xfrm>
            <a:off x="98263" y="4266731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4.50</a:t>
            </a:r>
            <a:endParaRPr lang="en-US" sz="700" dirty="0"/>
          </a:p>
        </p:txBody>
      </p:sp>
      <p:sp>
        <p:nvSpPr>
          <p:cNvPr id="39" name="Shape 27">
            <a:extLst>
              <a:ext uri="{FF2B5EF4-FFF2-40B4-BE49-F238E27FC236}">
                <a16:creationId xmlns:a16="http://schemas.microsoft.com/office/drawing/2014/main" id="{DB64EFBA-FCE1-AA56-D6C5-A28B8E393BED}"/>
              </a:ext>
            </a:extLst>
          </p:cNvPr>
          <p:cNvSpPr/>
          <p:nvPr/>
        </p:nvSpPr>
        <p:spPr>
          <a:xfrm>
            <a:off x="482311" y="3933815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28">
            <a:extLst>
              <a:ext uri="{FF2B5EF4-FFF2-40B4-BE49-F238E27FC236}">
                <a16:creationId xmlns:a16="http://schemas.microsoft.com/office/drawing/2014/main" id="{5813813D-9F77-30A4-B95B-80CBCD93A749}"/>
              </a:ext>
            </a:extLst>
          </p:cNvPr>
          <p:cNvSpPr/>
          <p:nvPr/>
        </p:nvSpPr>
        <p:spPr>
          <a:xfrm>
            <a:off x="98263" y="3851519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4.55</a:t>
            </a:r>
            <a:endParaRPr lang="en-US" sz="700" dirty="0"/>
          </a:p>
        </p:txBody>
      </p:sp>
      <p:sp>
        <p:nvSpPr>
          <p:cNvPr id="41" name="Shape 29">
            <a:extLst>
              <a:ext uri="{FF2B5EF4-FFF2-40B4-BE49-F238E27FC236}">
                <a16:creationId xmlns:a16="http://schemas.microsoft.com/office/drawing/2014/main" id="{CB79D589-EF95-90EC-1CFB-C9273B5749E0}"/>
              </a:ext>
            </a:extLst>
          </p:cNvPr>
          <p:cNvSpPr/>
          <p:nvPr/>
        </p:nvSpPr>
        <p:spPr>
          <a:xfrm>
            <a:off x="482311" y="3518603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0">
            <a:extLst>
              <a:ext uri="{FF2B5EF4-FFF2-40B4-BE49-F238E27FC236}">
                <a16:creationId xmlns:a16="http://schemas.microsoft.com/office/drawing/2014/main" id="{9BA9C08F-E3C5-1162-61A1-0F5BCF019D35}"/>
              </a:ext>
            </a:extLst>
          </p:cNvPr>
          <p:cNvSpPr/>
          <p:nvPr/>
        </p:nvSpPr>
        <p:spPr>
          <a:xfrm>
            <a:off x="98263" y="3436307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4.60</a:t>
            </a:r>
            <a:endParaRPr lang="en-US" sz="700" dirty="0"/>
          </a:p>
        </p:txBody>
      </p:sp>
      <p:sp>
        <p:nvSpPr>
          <p:cNvPr id="43" name="Shape 31">
            <a:extLst>
              <a:ext uri="{FF2B5EF4-FFF2-40B4-BE49-F238E27FC236}">
                <a16:creationId xmlns:a16="http://schemas.microsoft.com/office/drawing/2014/main" id="{800E34BF-5195-F539-540C-5DE7B1E4AA7C}"/>
              </a:ext>
            </a:extLst>
          </p:cNvPr>
          <p:cNvSpPr/>
          <p:nvPr/>
        </p:nvSpPr>
        <p:spPr>
          <a:xfrm>
            <a:off x="482311" y="3103391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618F65FC-2FDE-651B-3E9E-643996D54609}"/>
              </a:ext>
            </a:extLst>
          </p:cNvPr>
          <p:cNvSpPr/>
          <p:nvPr/>
        </p:nvSpPr>
        <p:spPr>
          <a:xfrm>
            <a:off x="98263" y="3021095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4.65</a:t>
            </a:r>
            <a:endParaRPr lang="en-US" sz="700" dirty="0"/>
          </a:p>
        </p:txBody>
      </p:sp>
      <p:sp>
        <p:nvSpPr>
          <p:cNvPr id="45" name="Shape 33">
            <a:extLst>
              <a:ext uri="{FF2B5EF4-FFF2-40B4-BE49-F238E27FC236}">
                <a16:creationId xmlns:a16="http://schemas.microsoft.com/office/drawing/2014/main" id="{2234C086-833C-CA3F-4927-1A8D48627DA5}"/>
              </a:ext>
            </a:extLst>
          </p:cNvPr>
          <p:cNvSpPr/>
          <p:nvPr/>
        </p:nvSpPr>
        <p:spPr>
          <a:xfrm>
            <a:off x="482311" y="2688178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4">
            <a:extLst>
              <a:ext uri="{FF2B5EF4-FFF2-40B4-BE49-F238E27FC236}">
                <a16:creationId xmlns:a16="http://schemas.microsoft.com/office/drawing/2014/main" id="{7F55374E-42B0-A40C-DE30-BB723331658A}"/>
              </a:ext>
            </a:extLst>
          </p:cNvPr>
          <p:cNvSpPr/>
          <p:nvPr/>
        </p:nvSpPr>
        <p:spPr>
          <a:xfrm>
            <a:off x="98263" y="2605882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4.70</a:t>
            </a:r>
            <a:endParaRPr lang="en-US" sz="700" dirty="0"/>
          </a:p>
        </p:txBody>
      </p:sp>
      <p:sp>
        <p:nvSpPr>
          <p:cNvPr id="47" name="Shape 35">
            <a:extLst>
              <a:ext uri="{FF2B5EF4-FFF2-40B4-BE49-F238E27FC236}">
                <a16:creationId xmlns:a16="http://schemas.microsoft.com/office/drawing/2014/main" id="{09C563B4-4EAE-39D1-3F1B-01682B464646}"/>
              </a:ext>
            </a:extLst>
          </p:cNvPr>
          <p:cNvSpPr/>
          <p:nvPr/>
        </p:nvSpPr>
        <p:spPr>
          <a:xfrm>
            <a:off x="482311" y="2272966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36">
            <a:extLst>
              <a:ext uri="{FF2B5EF4-FFF2-40B4-BE49-F238E27FC236}">
                <a16:creationId xmlns:a16="http://schemas.microsoft.com/office/drawing/2014/main" id="{CEB0894B-2421-D3CF-4DE8-6DB1C2DE9E0C}"/>
              </a:ext>
            </a:extLst>
          </p:cNvPr>
          <p:cNvSpPr/>
          <p:nvPr/>
        </p:nvSpPr>
        <p:spPr>
          <a:xfrm>
            <a:off x="98263" y="2190670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4.75</a:t>
            </a:r>
            <a:endParaRPr lang="en-US" sz="700" dirty="0"/>
          </a:p>
        </p:txBody>
      </p:sp>
      <p:sp>
        <p:nvSpPr>
          <p:cNvPr id="49" name="Shape 37">
            <a:extLst>
              <a:ext uri="{FF2B5EF4-FFF2-40B4-BE49-F238E27FC236}">
                <a16:creationId xmlns:a16="http://schemas.microsoft.com/office/drawing/2014/main" id="{0D2B2A19-1AD2-C588-75C1-C6F825C78AC6}"/>
              </a:ext>
            </a:extLst>
          </p:cNvPr>
          <p:cNvSpPr/>
          <p:nvPr/>
        </p:nvSpPr>
        <p:spPr>
          <a:xfrm>
            <a:off x="482311" y="1857754"/>
            <a:ext cx="3794760" cy="0"/>
          </a:xfrm>
          <a:prstGeom prst="line">
            <a:avLst/>
          </a:prstGeom>
          <a:noFill/>
          <a:ln w="508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38">
            <a:extLst>
              <a:ext uri="{FF2B5EF4-FFF2-40B4-BE49-F238E27FC236}">
                <a16:creationId xmlns:a16="http://schemas.microsoft.com/office/drawing/2014/main" id="{824D587C-DC92-DA74-CBDF-23FCF3174010}"/>
              </a:ext>
            </a:extLst>
          </p:cNvPr>
          <p:cNvSpPr/>
          <p:nvPr/>
        </p:nvSpPr>
        <p:spPr>
          <a:xfrm>
            <a:off x="98263" y="1775458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4.80</a:t>
            </a:r>
            <a:endParaRPr lang="en-US" sz="700" dirty="0"/>
          </a:p>
        </p:txBody>
      </p:sp>
      <p:sp>
        <p:nvSpPr>
          <p:cNvPr id="51" name="Shape 39">
            <a:extLst>
              <a:ext uri="{FF2B5EF4-FFF2-40B4-BE49-F238E27FC236}">
                <a16:creationId xmlns:a16="http://schemas.microsoft.com/office/drawing/2014/main" id="{713F3A54-F5A9-D9EA-BA43-41362BE74892}"/>
              </a:ext>
            </a:extLst>
          </p:cNvPr>
          <p:cNvSpPr/>
          <p:nvPr/>
        </p:nvSpPr>
        <p:spPr>
          <a:xfrm>
            <a:off x="482311" y="5760749"/>
            <a:ext cx="3794760" cy="0"/>
          </a:xfrm>
          <a:prstGeom prst="line">
            <a:avLst/>
          </a:prstGeom>
          <a:noFill/>
          <a:ln w="1016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40">
            <a:extLst>
              <a:ext uri="{FF2B5EF4-FFF2-40B4-BE49-F238E27FC236}">
                <a16:creationId xmlns:a16="http://schemas.microsoft.com/office/drawing/2014/main" id="{1715294C-88BB-C62A-F1B4-518D157813EF}"/>
              </a:ext>
            </a:extLst>
          </p:cNvPr>
          <p:cNvSpPr/>
          <p:nvPr/>
        </p:nvSpPr>
        <p:spPr>
          <a:xfrm>
            <a:off x="482311" y="1691669"/>
            <a:ext cx="0" cy="4069080"/>
          </a:xfrm>
          <a:prstGeom prst="line">
            <a:avLst/>
          </a:prstGeom>
          <a:noFill/>
          <a:ln w="1016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43">
            <a:extLst>
              <a:ext uri="{FF2B5EF4-FFF2-40B4-BE49-F238E27FC236}">
                <a16:creationId xmlns:a16="http://schemas.microsoft.com/office/drawing/2014/main" id="{3B5C8AA0-E2C0-161D-1CC7-1E3912163583}"/>
              </a:ext>
            </a:extLst>
          </p:cNvPr>
          <p:cNvSpPr/>
          <p:nvPr/>
        </p:nvSpPr>
        <p:spPr>
          <a:xfrm>
            <a:off x="2369961" y="1691669"/>
            <a:ext cx="0" cy="406908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44">
            <a:extLst>
              <a:ext uri="{FF2B5EF4-FFF2-40B4-BE49-F238E27FC236}">
                <a16:creationId xmlns:a16="http://schemas.microsoft.com/office/drawing/2014/main" id="{F5296F0A-6FD7-4940-2236-F98F2874EDB0}"/>
              </a:ext>
            </a:extLst>
          </p:cNvPr>
          <p:cNvSpPr/>
          <p:nvPr/>
        </p:nvSpPr>
        <p:spPr>
          <a:xfrm>
            <a:off x="482311" y="3726209"/>
            <a:ext cx="379476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45">
            <a:extLst>
              <a:ext uri="{FF2B5EF4-FFF2-40B4-BE49-F238E27FC236}">
                <a16:creationId xmlns:a16="http://schemas.microsoft.com/office/drawing/2014/main" id="{D3D49E0E-9353-41F4-5420-F57AED027EE5}"/>
              </a:ext>
            </a:extLst>
          </p:cNvPr>
          <p:cNvSpPr/>
          <p:nvPr/>
        </p:nvSpPr>
        <p:spPr>
          <a:xfrm>
            <a:off x="2141572" y="2063401"/>
            <a:ext cx="585216" cy="585216"/>
          </a:xfrm>
          <a:prstGeom prst="ellipse">
            <a:avLst/>
          </a:prstGeom>
          <a:solidFill>
            <a:srgbClr val="2D6A4F">
              <a:alpha val="90000"/>
            </a:srgbClr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6">
            <a:extLst>
              <a:ext uri="{FF2B5EF4-FFF2-40B4-BE49-F238E27FC236}">
                <a16:creationId xmlns:a16="http://schemas.microsoft.com/office/drawing/2014/main" id="{E7D4F4E4-771E-B9E3-FF57-FDA37E17F398}"/>
              </a:ext>
            </a:extLst>
          </p:cNvPr>
          <p:cNvSpPr/>
          <p:nvPr/>
        </p:nvSpPr>
        <p:spPr>
          <a:xfrm>
            <a:off x="2095044" y="1919287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58" name="Shape 47">
            <a:extLst>
              <a:ext uri="{FF2B5EF4-FFF2-40B4-BE49-F238E27FC236}">
                <a16:creationId xmlns:a16="http://schemas.microsoft.com/office/drawing/2014/main" id="{663F90A3-2E89-A5AF-08B7-5FB398A82BD2}"/>
              </a:ext>
            </a:extLst>
          </p:cNvPr>
          <p:cNvSpPr/>
          <p:nvPr/>
        </p:nvSpPr>
        <p:spPr>
          <a:xfrm>
            <a:off x="1368069" y="3578643"/>
            <a:ext cx="544260" cy="544260"/>
          </a:xfrm>
          <a:prstGeom prst="ellipse">
            <a:avLst/>
          </a:prstGeom>
          <a:solidFill>
            <a:srgbClr val="1B4332">
              <a:alpha val="90000"/>
            </a:srgbClr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48">
            <a:extLst>
              <a:ext uri="{FF2B5EF4-FFF2-40B4-BE49-F238E27FC236}">
                <a16:creationId xmlns:a16="http://schemas.microsoft.com/office/drawing/2014/main" id="{9342A284-87B8-DB50-5745-A9E28E913AA0}"/>
              </a:ext>
            </a:extLst>
          </p:cNvPr>
          <p:cNvSpPr/>
          <p:nvPr/>
        </p:nvSpPr>
        <p:spPr>
          <a:xfrm>
            <a:off x="1313320" y="4159271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Pot</a:t>
            </a:r>
            <a:endParaRPr lang="en-US" sz="800" dirty="0"/>
          </a:p>
        </p:txBody>
      </p:sp>
      <p:sp>
        <p:nvSpPr>
          <p:cNvPr id="60" name="Shape 49">
            <a:extLst>
              <a:ext uri="{FF2B5EF4-FFF2-40B4-BE49-F238E27FC236}">
                <a16:creationId xmlns:a16="http://schemas.microsoft.com/office/drawing/2014/main" id="{479541E3-93B4-830A-6BD6-720E0C09A119}"/>
              </a:ext>
            </a:extLst>
          </p:cNvPr>
          <p:cNvSpPr/>
          <p:nvPr/>
        </p:nvSpPr>
        <p:spPr>
          <a:xfrm>
            <a:off x="1081814" y="3457128"/>
            <a:ext cx="455119" cy="455119"/>
          </a:xfrm>
          <a:prstGeom prst="ellipse">
            <a:avLst/>
          </a:prstGeom>
          <a:solidFill>
            <a:srgbClr val="40916C">
              <a:alpha val="90000"/>
            </a:srgbClr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0">
            <a:extLst>
              <a:ext uri="{FF2B5EF4-FFF2-40B4-BE49-F238E27FC236}">
                <a16:creationId xmlns:a16="http://schemas.microsoft.com/office/drawing/2014/main" id="{F1CBC060-8504-198A-717F-28B07BC6797E}"/>
              </a:ext>
            </a:extLst>
          </p:cNvPr>
          <p:cNvSpPr/>
          <p:nvPr/>
        </p:nvSpPr>
        <p:spPr>
          <a:xfrm>
            <a:off x="436914" y="3463566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GoWise USA</a:t>
            </a:r>
            <a:endParaRPr lang="en-US" sz="800" dirty="0"/>
          </a:p>
        </p:txBody>
      </p:sp>
      <p:sp>
        <p:nvSpPr>
          <p:cNvPr id="62" name="Shape 51">
            <a:extLst>
              <a:ext uri="{FF2B5EF4-FFF2-40B4-BE49-F238E27FC236}">
                <a16:creationId xmlns:a16="http://schemas.microsoft.com/office/drawing/2014/main" id="{6C5ED3A8-AC24-15C2-C108-58C9C2BCC8B5}"/>
              </a:ext>
            </a:extLst>
          </p:cNvPr>
          <p:cNvSpPr/>
          <p:nvPr/>
        </p:nvSpPr>
        <p:spPr>
          <a:xfrm>
            <a:off x="546189" y="4335737"/>
            <a:ext cx="358751" cy="358751"/>
          </a:xfrm>
          <a:prstGeom prst="ellipse">
            <a:avLst/>
          </a:prstGeom>
          <a:solidFill>
            <a:srgbClr val="74C69D">
              <a:alpha val="90000"/>
            </a:srgbClr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52">
            <a:extLst>
              <a:ext uri="{FF2B5EF4-FFF2-40B4-BE49-F238E27FC236}">
                <a16:creationId xmlns:a16="http://schemas.microsoft.com/office/drawing/2014/main" id="{648E9FF4-02E9-9699-1C24-4B9CC8F1F335}"/>
              </a:ext>
            </a:extLst>
          </p:cNvPr>
          <p:cNvSpPr/>
          <p:nvPr/>
        </p:nvSpPr>
        <p:spPr>
          <a:xfrm>
            <a:off x="341517" y="4643128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</a:t>
            </a:r>
            <a:endParaRPr lang="en-US" sz="800" dirty="0"/>
          </a:p>
        </p:txBody>
      </p:sp>
      <p:sp>
        <p:nvSpPr>
          <p:cNvPr id="64" name="Shape 53">
            <a:extLst>
              <a:ext uri="{FF2B5EF4-FFF2-40B4-BE49-F238E27FC236}">
                <a16:creationId xmlns:a16="http://schemas.microsoft.com/office/drawing/2014/main" id="{3E5F4883-CC64-0126-7399-F41A10C7C9D8}"/>
              </a:ext>
            </a:extLst>
          </p:cNvPr>
          <p:cNvSpPr/>
          <p:nvPr/>
        </p:nvSpPr>
        <p:spPr>
          <a:xfrm>
            <a:off x="1199777" y="4754563"/>
            <a:ext cx="351524" cy="351524"/>
          </a:xfrm>
          <a:prstGeom prst="ellipse">
            <a:avLst/>
          </a:prstGeom>
          <a:solidFill>
            <a:srgbClr val="95D5B2">
              <a:alpha val="90000"/>
            </a:srgbClr>
          </a:solidFill>
          <a:ln w="12700">
            <a:solidFill>
              <a:srgbClr val="95D5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54">
            <a:extLst>
              <a:ext uri="{FF2B5EF4-FFF2-40B4-BE49-F238E27FC236}">
                <a16:creationId xmlns:a16="http://schemas.microsoft.com/office/drawing/2014/main" id="{D5B5A566-0E68-4694-5765-1A2B3647D32D}"/>
              </a:ext>
            </a:extLst>
          </p:cNvPr>
          <p:cNvSpPr/>
          <p:nvPr/>
        </p:nvSpPr>
        <p:spPr>
          <a:xfrm>
            <a:off x="991491" y="5058341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Chefman</a:t>
            </a:r>
            <a:endParaRPr lang="en-US" sz="800" dirty="0"/>
          </a:p>
        </p:txBody>
      </p:sp>
      <p:sp>
        <p:nvSpPr>
          <p:cNvPr id="66" name="Shape 55">
            <a:extLst>
              <a:ext uri="{FF2B5EF4-FFF2-40B4-BE49-F238E27FC236}">
                <a16:creationId xmlns:a16="http://schemas.microsoft.com/office/drawing/2014/main" id="{8682DB0E-A481-1F94-5C3F-0F015DA21E7A}"/>
              </a:ext>
            </a:extLst>
          </p:cNvPr>
          <p:cNvSpPr/>
          <p:nvPr/>
        </p:nvSpPr>
        <p:spPr>
          <a:xfrm>
            <a:off x="954299" y="2765158"/>
            <a:ext cx="344296" cy="344296"/>
          </a:xfrm>
          <a:prstGeom prst="ellipse">
            <a:avLst/>
          </a:prstGeom>
          <a:solidFill>
            <a:srgbClr val="52B788">
              <a:alpha val="90000"/>
            </a:srgbClr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6">
            <a:extLst>
              <a:ext uri="{FF2B5EF4-FFF2-40B4-BE49-F238E27FC236}">
                <a16:creationId xmlns:a16="http://schemas.microsoft.com/office/drawing/2014/main" id="{5200452B-EB4F-6E68-3856-C3835F41872C}"/>
              </a:ext>
            </a:extLst>
          </p:cNvPr>
          <p:cNvSpPr/>
          <p:nvPr/>
        </p:nvSpPr>
        <p:spPr>
          <a:xfrm>
            <a:off x="341806" y="2715943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Ultrean</a:t>
            </a:r>
            <a:endParaRPr lang="en-US" sz="800" dirty="0"/>
          </a:p>
        </p:txBody>
      </p:sp>
      <p:sp>
        <p:nvSpPr>
          <p:cNvPr id="68" name="Shape 57">
            <a:extLst>
              <a:ext uri="{FF2B5EF4-FFF2-40B4-BE49-F238E27FC236}">
                <a16:creationId xmlns:a16="http://schemas.microsoft.com/office/drawing/2014/main" id="{F085CCA3-C1C4-60C7-C9F1-3A6A822DB70A}"/>
              </a:ext>
            </a:extLst>
          </p:cNvPr>
          <p:cNvSpPr/>
          <p:nvPr/>
        </p:nvSpPr>
        <p:spPr>
          <a:xfrm>
            <a:off x="3798840" y="4682362"/>
            <a:ext cx="329841" cy="329841"/>
          </a:xfrm>
          <a:prstGeom prst="ellipse">
            <a:avLst/>
          </a:prstGeom>
          <a:solidFill>
            <a:srgbClr val="B7E4C7">
              <a:alpha val="90000"/>
            </a:srgbClr>
          </a:solidFill>
          <a:ln w="1270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8">
            <a:extLst>
              <a:ext uri="{FF2B5EF4-FFF2-40B4-BE49-F238E27FC236}">
                <a16:creationId xmlns:a16="http://schemas.microsoft.com/office/drawing/2014/main" id="{D7A77A0C-5F7F-0899-B256-2260CE7DDE5B}"/>
              </a:ext>
            </a:extLst>
          </p:cNvPr>
          <p:cNvSpPr/>
          <p:nvPr/>
        </p:nvSpPr>
        <p:spPr>
          <a:xfrm>
            <a:off x="3423904" y="455150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Cuisinart</a:t>
            </a:r>
            <a:endParaRPr lang="en-US" sz="800" dirty="0"/>
          </a:p>
        </p:txBody>
      </p:sp>
      <p:sp>
        <p:nvSpPr>
          <p:cNvPr id="70" name="Shape 59">
            <a:extLst>
              <a:ext uri="{FF2B5EF4-FFF2-40B4-BE49-F238E27FC236}">
                <a16:creationId xmlns:a16="http://schemas.microsoft.com/office/drawing/2014/main" id="{7E852D83-1768-052C-ED8F-63828648BC63}"/>
              </a:ext>
            </a:extLst>
          </p:cNvPr>
          <p:cNvSpPr/>
          <p:nvPr/>
        </p:nvSpPr>
        <p:spPr>
          <a:xfrm>
            <a:off x="1710560" y="2899998"/>
            <a:ext cx="240701" cy="240701"/>
          </a:xfrm>
          <a:prstGeom prst="ellipse">
            <a:avLst/>
          </a:prstGeom>
          <a:solidFill>
            <a:srgbClr val="D8F3DC">
              <a:alpha val="90000"/>
            </a:srgbClr>
          </a:solidFill>
          <a:ln w="12700">
            <a:solidFill>
              <a:srgbClr val="D8F3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0">
            <a:extLst>
              <a:ext uri="{FF2B5EF4-FFF2-40B4-BE49-F238E27FC236}">
                <a16:creationId xmlns:a16="http://schemas.microsoft.com/office/drawing/2014/main" id="{95DFA675-DCFC-AFF8-1FA9-AECA7788309D}"/>
              </a:ext>
            </a:extLst>
          </p:cNvPr>
          <p:cNvSpPr/>
          <p:nvPr/>
        </p:nvSpPr>
        <p:spPr>
          <a:xfrm>
            <a:off x="1446862" y="2764316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Cosori</a:t>
            </a:r>
            <a:endParaRPr lang="en-US" sz="800" dirty="0"/>
          </a:p>
        </p:txBody>
      </p:sp>
      <p:sp>
        <p:nvSpPr>
          <p:cNvPr id="72" name="Shape 61">
            <a:extLst>
              <a:ext uri="{FF2B5EF4-FFF2-40B4-BE49-F238E27FC236}">
                <a16:creationId xmlns:a16="http://schemas.microsoft.com/office/drawing/2014/main" id="{51599779-283E-A881-31AD-690D215809C0}"/>
              </a:ext>
            </a:extLst>
          </p:cNvPr>
          <p:cNvSpPr/>
          <p:nvPr/>
        </p:nvSpPr>
        <p:spPr>
          <a:xfrm>
            <a:off x="2149900" y="5139735"/>
            <a:ext cx="245519" cy="245519"/>
          </a:xfrm>
          <a:prstGeom prst="ellipse">
            <a:avLst/>
          </a:prstGeom>
          <a:solidFill>
            <a:srgbClr val="A0C4B8">
              <a:alpha val="90000"/>
            </a:srgbClr>
          </a:solidFill>
          <a:ln w="12700">
            <a:solidFill>
              <a:srgbClr val="A0C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62">
            <a:extLst>
              <a:ext uri="{FF2B5EF4-FFF2-40B4-BE49-F238E27FC236}">
                <a16:creationId xmlns:a16="http://schemas.microsoft.com/office/drawing/2014/main" id="{3AFD32A3-C139-6779-5F23-96D1073930DB}"/>
              </a:ext>
            </a:extLst>
          </p:cNvPr>
          <p:cNvSpPr/>
          <p:nvPr/>
        </p:nvSpPr>
        <p:spPr>
          <a:xfrm>
            <a:off x="1888611" y="539051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NuWave</a:t>
            </a:r>
            <a:endParaRPr lang="en-US" sz="800" dirty="0"/>
          </a:p>
        </p:txBody>
      </p:sp>
      <p:sp>
        <p:nvSpPr>
          <p:cNvPr id="74" name="Shape 63">
            <a:extLst>
              <a:ext uri="{FF2B5EF4-FFF2-40B4-BE49-F238E27FC236}">
                <a16:creationId xmlns:a16="http://schemas.microsoft.com/office/drawing/2014/main" id="{FBBA3FFA-85A5-4098-6FD9-C1B2BB358C79}"/>
              </a:ext>
            </a:extLst>
          </p:cNvPr>
          <p:cNvSpPr/>
          <p:nvPr/>
        </p:nvSpPr>
        <p:spPr>
          <a:xfrm>
            <a:off x="3193155" y="5171054"/>
            <a:ext cx="182880" cy="182880"/>
          </a:xfrm>
          <a:prstGeom prst="ellipse">
            <a:avLst/>
          </a:prstGeom>
          <a:solidFill>
            <a:srgbClr val="C8D8D0">
              <a:alpha val="90000"/>
            </a:srgbClr>
          </a:solidFill>
          <a:ln w="12700">
            <a:solidFill>
              <a:srgbClr val="C8D8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64">
            <a:extLst>
              <a:ext uri="{FF2B5EF4-FFF2-40B4-BE49-F238E27FC236}">
                <a16:creationId xmlns:a16="http://schemas.microsoft.com/office/drawing/2014/main" id="{15F7F5E8-518C-EB6F-9926-755223DFEC05}"/>
              </a:ext>
            </a:extLst>
          </p:cNvPr>
          <p:cNvSpPr/>
          <p:nvPr/>
        </p:nvSpPr>
        <p:spPr>
          <a:xfrm>
            <a:off x="2834869" y="5373119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Oster</a:t>
            </a:r>
            <a:endParaRPr lang="en-US" sz="800" dirty="0"/>
          </a:p>
        </p:txBody>
      </p:sp>
      <p:sp>
        <p:nvSpPr>
          <p:cNvPr id="76" name="Text 65">
            <a:extLst>
              <a:ext uri="{FF2B5EF4-FFF2-40B4-BE49-F238E27FC236}">
                <a16:creationId xmlns:a16="http://schemas.microsoft.com/office/drawing/2014/main" id="{91989BCB-462B-9E08-0358-1A2DF601B29B}"/>
              </a:ext>
            </a:extLst>
          </p:cNvPr>
          <p:cNvSpPr/>
          <p:nvPr/>
        </p:nvSpPr>
        <p:spPr>
          <a:xfrm>
            <a:off x="482311" y="1481357"/>
            <a:ext cx="3794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44444"/>
                </a:solidFill>
                <a:latin typeface="Avenir Next LT Pro" panose="020B0504020202020204" pitchFamily="34" charset="77"/>
                <a:ea typeface="Calibri" pitchFamily="34" charset="-122"/>
                <a:cs typeface="Calibri" pitchFamily="34" charset="-120"/>
              </a:rPr>
              <a:t>Price vs. Rating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444444"/>
                </a:solidFill>
                <a:latin typeface="Avenir Next LT Pro" panose="020B0504020202020204" pitchFamily="34" charset="77"/>
                <a:ea typeface="Calibri" pitchFamily="34" charset="-122"/>
                <a:cs typeface="Calibri" pitchFamily="34" charset="-120"/>
              </a:rPr>
              <a:t>Bubble size = market share</a:t>
            </a:r>
            <a:endParaRPr lang="en-US" sz="850" dirty="0">
              <a:latin typeface="Avenir Next LT Pro" panose="020B0504020202020204" pitchFamily="34" charset="77"/>
            </a:endParaRPr>
          </a:p>
        </p:txBody>
      </p:sp>
      <p:sp>
        <p:nvSpPr>
          <p:cNvPr id="77" name="Text 41">
            <a:extLst>
              <a:ext uri="{FF2B5EF4-FFF2-40B4-BE49-F238E27FC236}">
                <a16:creationId xmlns:a16="http://schemas.microsoft.com/office/drawing/2014/main" id="{C8E41A53-9F60-3ABC-722B-FFD4FC6F51DD}"/>
              </a:ext>
            </a:extLst>
          </p:cNvPr>
          <p:cNvSpPr/>
          <p:nvPr/>
        </p:nvSpPr>
        <p:spPr>
          <a:xfrm rot="16200000">
            <a:off x="-1805940" y="3605844"/>
            <a:ext cx="3794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Rating</a:t>
            </a:r>
            <a:endParaRPr lang="en-US" sz="900" dirty="0"/>
          </a:p>
        </p:txBody>
      </p:sp>
      <p:sp>
        <p:nvSpPr>
          <p:cNvPr id="78" name="Text 41">
            <a:extLst>
              <a:ext uri="{FF2B5EF4-FFF2-40B4-BE49-F238E27FC236}">
                <a16:creationId xmlns:a16="http://schemas.microsoft.com/office/drawing/2014/main" id="{52B66684-7667-B192-57B1-092ECD175101}"/>
              </a:ext>
            </a:extLst>
          </p:cNvPr>
          <p:cNvSpPr/>
          <p:nvPr/>
        </p:nvSpPr>
        <p:spPr>
          <a:xfrm>
            <a:off x="399663" y="6021633"/>
            <a:ext cx="3794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</a:t>
            </a:r>
            <a:endParaRPr lang="en-US" sz="900" dirty="0"/>
          </a:p>
        </p:txBody>
      </p:sp>
      <p:sp>
        <p:nvSpPr>
          <p:cNvPr id="79" name="Text 8">
            <a:extLst>
              <a:ext uri="{FF2B5EF4-FFF2-40B4-BE49-F238E27FC236}">
                <a16:creationId xmlns:a16="http://schemas.microsoft.com/office/drawing/2014/main" id="{D088BD5B-C018-7C56-1EBB-EC132FB8AF6E}"/>
              </a:ext>
            </a:extLst>
          </p:cNvPr>
          <p:cNvSpPr/>
          <p:nvPr/>
        </p:nvSpPr>
        <p:spPr>
          <a:xfrm>
            <a:off x="1325745" y="5810941"/>
            <a:ext cx="451495" cy="157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$110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214600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CA1C84-FBF6-0640-B97C-41D5FA6322A4}">
  <we:reference id="c22bf5f7-55ef-4467-ac55-88a268666587" version="1.0.0.5" store="EXCatalog" storeType="EXCatalog"/>
  <we:alternateReferences>
    <we:reference id="WA200006038" version="1.0.0.5" store="en-US" storeType="OMEX"/>
  </we:alternateReferences>
  <we:properties>
    <we:property name="pptx_export_from_biorender" value="false"/>
  </we:properties>
  <we:bindings/>
  <we:snapshot xmlns:r="http://schemas.openxmlformats.org/officeDocument/2006/relationships"/>
  <we:extLst>
    <a:ext xmlns:a="http://schemas.openxmlformats.org/drawingml/2006/main" uri="{0858819E-0033-43BF-8937-05EC82904868}">
      <we:backgroundApp state="1" runtimeId="Taskpane.Url"/>
    </a:ext>
  </we:extLst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10438</TotalTime>
  <Words>1384</Words>
  <Application>Microsoft Macintosh PowerPoint</Application>
  <PresentationFormat>Widescreen</PresentationFormat>
  <Paragraphs>192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Aptos Display</vt:lpstr>
      <vt:lpstr>Arial</vt:lpstr>
      <vt:lpstr>Arial,Sans-Serif</vt:lpstr>
      <vt:lpstr>Avenir Next LT Pro</vt:lpstr>
      <vt:lpstr>Calibri</vt:lpstr>
      <vt:lpstr>Consolas</vt:lpstr>
      <vt:lpstr>Optima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Jagasia, Neha N (ftm9fy)</dc:creator>
  <cp:lastModifiedBy>Jagasia, Neha N (ftm9fy)</cp:lastModifiedBy>
  <cp:revision>11</cp:revision>
  <dcterms:created xsi:type="dcterms:W3CDTF">2026-04-23T17:25:14Z</dcterms:created>
  <dcterms:modified xsi:type="dcterms:W3CDTF">2026-05-03T20:15:15Z</dcterms:modified>
</cp:coreProperties>
</file>